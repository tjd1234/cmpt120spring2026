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71" r:id="rId4"/>
    <p:sldId id="258" r:id="rId5"/>
    <p:sldId id="259" r:id="rId6"/>
    <p:sldId id="269" r:id="rId7"/>
    <p:sldId id="260" r:id="rId8"/>
    <p:sldId id="261" r:id="rId9"/>
    <p:sldId id="262" r:id="rId10"/>
    <p:sldId id="263" r:id="rId11"/>
    <p:sldId id="264" r:id="rId12"/>
    <p:sldId id="265" r:id="rId13"/>
    <p:sldId id="266" r:id="rId14"/>
    <p:sldId id="267" r:id="rId15"/>
    <p:sldId id="268"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9AC8B6-497D-884B-B7E7-DEFDABF4F9C3}" v="10" dt="2026-01-09T19:31:03.69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26"/>
  </p:normalViewPr>
  <p:slideViewPr>
    <p:cSldViewPr snapToGrid="0">
      <p:cViewPr varScale="1">
        <p:scale>
          <a:sx n="121" d="100"/>
          <a:sy n="121" d="100"/>
        </p:scale>
        <p:origin x="744"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by Donaldson" userId="2e6e5431-bb17-4c41-9985-d39c50d83c73" providerId="ADAL" clId="{F31BC264-820E-54C4-A6D1-F92AF9CC222E}"/>
    <pc:docChg chg="custSel delSld modSld">
      <pc:chgData name="Toby Donaldson" userId="2e6e5431-bb17-4c41-9985-d39c50d83c73" providerId="ADAL" clId="{F31BC264-820E-54C4-A6D1-F92AF9CC222E}" dt="2026-01-09T19:34:58.891" v="250" actId="2696"/>
      <pc:docMkLst>
        <pc:docMk/>
      </pc:docMkLst>
      <pc:sldChg chg="addSp delSp modSp mod">
        <pc:chgData name="Toby Donaldson" userId="2e6e5431-bb17-4c41-9985-d39c50d83c73" providerId="ADAL" clId="{F31BC264-820E-54C4-A6D1-F92AF9CC222E}" dt="2026-01-09T19:31:33.173" v="242" actId="1076"/>
        <pc:sldMkLst>
          <pc:docMk/>
          <pc:sldMk cId="2692445676" sldId="258"/>
        </pc:sldMkLst>
        <pc:spChg chg="add mod">
          <ac:chgData name="Toby Donaldson" userId="2e6e5431-bb17-4c41-9985-d39c50d83c73" providerId="ADAL" clId="{F31BC264-820E-54C4-A6D1-F92AF9CC222E}" dt="2026-01-09T19:31:33.173" v="242" actId="1076"/>
          <ac:spMkLst>
            <pc:docMk/>
            <pc:sldMk cId="2692445676" sldId="258"/>
            <ac:spMk id="4" creationId="{5DFBE68E-B66D-DF70-BE0C-0D344C69B577}"/>
          </ac:spMkLst>
        </pc:spChg>
        <pc:spChg chg="add">
          <ac:chgData name="Toby Donaldson" userId="2e6e5431-bb17-4c41-9985-d39c50d83c73" providerId="ADAL" clId="{F31BC264-820E-54C4-A6D1-F92AF9CC222E}" dt="2026-01-09T19:29:56.022" v="220"/>
          <ac:spMkLst>
            <pc:docMk/>
            <pc:sldMk cId="2692445676" sldId="258"/>
            <ac:spMk id="5" creationId="{7F3C8405-E919-D699-2FA1-CE3D508AE1DE}"/>
          </ac:spMkLst>
        </pc:spChg>
        <pc:spChg chg="add del mod">
          <ac:chgData name="Toby Donaldson" userId="2e6e5431-bb17-4c41-9985-d39c50d83c73" providerId="ADAL" clId="{F31BC264-820E-54C4-A6D1-F92AF9CC222E}" dt="2026-01-09T19:30:56.375" v="228" actId="21"/>
          <ac:spMkLst>
            <pc:docMk/>
            <pc:sldMk cId="2692445676" sldId="258"/>
            <ac:spMk id="6" creationId="{643AD437-D466-5312-C0B4-2791644CD5C7}"/>
          </ac:spMkLst>
        </pc:spChg>
        <pc:spChg chg="add del mod">
          <ac:chgData name="Toby Donaldson" userId="2e6e5431-bb17-4c41-9985-d39c50d83c73" providerId="ADAL" clId="{F31BC264-820E-54C4-A6D1-F92AF9CC222E}" dt="2026-01-09T19:31:03.695" v="229" actId="21"/>
          <ac:spMkLst>
            <pc:docMk/>
            <pc:sldMk cId="2692445676" sldId="258"/>
            <ac:spMk id="7" creationId="{D86B9884-F0F5-55D8-17CD-FAB6105F3CCA}"/>
          </ac:spMkLst>
        </pc:spChg>
        <pc:spChg chg="add mod">
          <ac:chgData name="Toby Donaldson" userId="2e6e5431-bb17-4c41-9985-d39c50d83c73" providerId="ADAL" clId="{F31BC264-820E-54C4-A6D1-F92AF9CC222E}" dt="2026-01-09T19:30:36.012" v="224" actId="21"/>
          <ac:spMkLst>
            <pc:docMk/>
            <pc:sldMk cId="2692445676" sldId="258"/>
            <ac:spMk id="8" creationId="{7C515269-F96E-7B14-5510-BB6368747DFA}"/>
          </ac:spMkLst>
        </pc:spChg>
      </pc:sldChg>
      <pc:sldChg chg="modSp mod">
        <pc:chgData name="Toby Donaldson" userId="2e6e5431-bb17-4c41-9985-d39c50d83c73" providerId="ADAL" clId="{F31BC264-820E-54C4-A6D1-F92AF9CC222E}" dt="2026-01-09T19:33:09.852" v="244" actId="20577"/>
        <pc:sldMkLst>
          <pc:docMk/>
          <pc:sldMk cId="1617268802" sldId="263"/>
        </pc:sldMkLst>
        <pc:spChg chg="mod">
          <ac:chgData name="Toby Donaldson" userId="2e6e5431-bb17-4c41-9985-d39c50d83c73" providerId="ADAL" clId="{F31BC264-820E-54C4-A6D1-F92AF9CC222E}" dt="2026-01-09T19:33:09.852" v="244" actId="20577"/>
          <ac:spMkLst>
            <pc:docMk/>
            <pc:sldMk cId="1617268802" sldId="263"/>
            <ac:spMk id="4" creationId="{B0FB5CCC-97E9-CCC8-53AA-6EBA19E865D1}"/>
          </ac:spMkLst>
        </pc:spChg>
      </pc:sldChg>
      <pc:sldChg chg="modSp mod">
        <pc:chgData name="Toby Donaldson" userId="2e6e5431-bb17-4c41-9985-d39c50d83c73" providerId="ADAL" clId="{F31BC264-820E-54C4-A6D1-F92AF9CC222E}" dt="2026-01-09T19:34:07.418" v="246" actId="20577"/>
        <pc:sldMkLst>
          <pc:docMk/>
          <pc:sldMk cId="2910585830" sldId="266"/>
        </pc:sldMkLst>
        <pc:spChg chg="mod">
          <ac:chgData name="Toby Donaldson" userId="2e6e5431-bb17-4c41-9985-d39c50d83c73" providerId="ADAL" clId="{F31BC264-820E-54C4-A6D1-F92AF9CC222E}" dt="2026-01-09T19:34:07.418" v="246" actId="20577"/>
          <ac:spMkLst>
            <pc:docMk/>
            <pc:sldMk cId="2910585830" sldId="266"/>
            <ac:spMk id="4" creationId="{B0FB5CCC-97E9-CCC8-53AA-6EBA19E865D1}"/>
          </ac:spMkLst>
        </pc:spChg>
      </pc:sldChg>
      <pc:sldChg chg="modSp mod">
        <pc:chgData name="Toby Donaldson" userId="2e6e5431-bb17-4c41-9985-d39c50d83c73" providerId="ADAL" clId="{F31BC264-820E-54C4-A6D1-F92AF9CC222E}" dt="2026-01-09T19:34:32.778" v="248" actId="20577"/>
        <pc:sldMkLst>
          <pc:docMk/>
          <pc:sldMk cId="598370551" sldId="267"/>
        </pc:sldMkLst>
        <pc:spChg chg="mod">
          <ac:chgData name="Toby Donaldson" userId="2e6e5431-bb17-4c41-9985-d39c50d83c73" providerId="ADAL" clId="{F31BC264-820E-54C4-A6D1-F92AF9CC222E}" dt="2026-01-09T19:34:32.778" v="248" actId="20577"/>
          <ac:spMkLst>
            <pc:docMk/>
            <pc:sldMk cId="598370551" sldId="267"/>
            <ac:spMk id="4" creationId="{B0FB5CCC-97E9-CCC8-53AA-6EBA19E865D1}"/>
          </ac:spMkLst>
        </pc:spChg>
      </pc:sldChg>
      <pc:sldChg chg="modSp mod">
        <pc:chgData name="Toby Donaldson" userId="2e6e5431-bb17-4c41-9985-d39c50d83c73" providerId="ADAL" clId="{F31BC264-820E-54C4-A6D1-F92AF9CC222E}" dt="2026-01-09T19:34:39.395" v="249" actId="20577"/>
        <pc:sldMkLst>
          <pc:docMk/>
          <pc:sldMk cId="299047572" sldId="268"/>
        </pc:sldMkLst>
        <pc:spChg chg="mod">
          <ac:chgData name="Toby Donaldson" userId="2e6e5431-bb17-4c41-9985-d39c50d83c73" providerId="ADAL" clId="{F31BC264-820E-54C4-A6D1-F92AF9CC222E}" dt="2026-01-09T19:34:39.395" v="249" actId="20577"/>
          <ac:spMkLst>
            <pc:docMk/>
            <pc:sldMk cId="299047572" sldId="268"/>
            <ac:spMk id="4" creationId="{B0FB5CCC-97E9-CCC8-53AA-6EBA19E865D1}"/>
          </ac:spMkLst>
        </pc:spChg>
      </pc:sldChg>
      <pc:sldChg chg="del">
        <pc:chgData name="Toby Donaldson" userId="2e6e5431-bb17-4c41-9985-d39c50d83c73" providerId="ADAL" clId="{F31BC264-820E-54C4-A6D1-F92AF9CC222E}" dt="2026-01-09T19:34:58.891" v="250" actId="2696"/>
        <pc:sldMkLst>
          <pc:docMk/>
          <pc:sldMk cId="2283882614" sldId="270"/>
        </pc:sldMkLst>
      </pc:sldChg>
    </pc:docChg>
  </pc:docChgLst>
  <pc:docChgLst>
    <pc:chgData name="Toby Donaldson" userId="2e6e5431-bb17-4c41-9985-d39c50d83c73" providerId="ADAL" clId="{7F9681A8-EEE2-56F4-9B39-ECCBEE0471AC}"/>
    <pc:docChg chg="undo custSel addSld modSld">
      <pc:chgData name="Toby Donaldson" userId="2e6e5431-bb17-4c41-9985-d39c50d83c73" providerId="ADAL" clId="{7F9681A8-EEE2-56F4-9B39-ECCBEE0471AC}" dt="2026-01-09T04:44:02.738" v="1313" actId="20577"/>
      <pc:docMkLst>
        <pc:docMk/>
      </pc:docMkLst>
      <pc:sldChg chg="modSp mod">
        <pc:chgData name="Toby Donaldson" userId="2e6e5431-bb17-4c41-9985-d39c50d83c73" providerId="ADAL" clId="{7F9681A8-EEE2-56F4-9B39-ECCBEE0471AC}" dt="2026-01-09T04:44:02.738" v="1313" actId="20577"/>
        <pc:sldMkLst>
          <pc:docMk/>
          <pc:sldMk cId="2692445676" sldId="258"/>
        </pc:sldMkLst>
        <pc:spChg chg="mod">
          <ac:chgData name="Toby Donaldson" userId="2e6e5431-bb17-4c41-9985-d39c50d83c73" providerId="ADAL" clId="{7F9681A8-EEE2-56F4-9B39-ECCBEE0471AC}" dt="2026-01-09T04:44:02.738" v="1313" actId="20577"/>
          <ac:spMkLst>
            <pc:docMk/>
            <pc:sldMk cId="2692445676" sldId="258"/>
            <ac:spMk id="3" creationId="{98A8E8F5-CA50-08D5-90EF-A6B808F7483C}"/>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066539-D176-AA8F-62EA-6BF520981FD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ADDD2B30-B4DF-1CC1-B36C-1FD7425E864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EFFBC570-FF23-9BBA-4C85-B60EB2DBA107}"/>
              </a:ext>
            </a:extLst>
          </p:cNvPr>
          <p:cNvSpPr>
            <a:spLocks noGrp="1"/>
          </p:cNvSpPr>
          <p:nvPr>
            <p:ph type="dt" sz="half" idx="10"/>
          </p:nvPr>
        </p:nvSpPr>
        <p:spPr/>
        <p:txBody>
          <a:bodyPr/>
          <a:lstStyle/>
          <a:p>
            <a:fld id="{E2CDF564-AA16-4F8A-8361-C9076F43B828}" type="datetimeFigureOut">
              <a:rPr lang="en-CA" smtClean="0"/>
              <a:t>2026-01-09</a:t>
            </a:fld>
            <a:endParaRPr lang="en-CA"/>
          </a:p>
        </p:txBody>
      </p:sp>
      <p:sp>
        <p:nvSpPr>
          <p:cNvPr id="5" name="Footer Placeholder 4">
            <a:extLst>
              <a:ext uri="{FF2B5EF4-FFF2-40B4-BE49-F238E27FC236}">
                <a16:creationId xmlns:a16="http://schemas.microsoft.com/office/drawing/2014/main" id="{63E47D85-E246-E16B-5B0E-E29AF9F30EBD}"/>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30638D09-E406-F1DD-A1E1-595007F9AF70}"/>
              </a:ext>
            </a:extLst>
          </p:cNvPr>
          <p:cNvSpPr>
            <a:spLocks noGrp="1"/>
          </p:cNvSpPr>
          <p:nvPr>
            <p:ph type="sldNum" sz="quarter" idx="12"/>
          </p:nvPr>
        </p:nvSpPr>
        <p:spPr/>
        <p:txBody>
          <a:bodyPr/>
          <a:lstStyle/>
          <a:p>
            <a:fld id="{BAEE815A-C749-4C79-B2CB-E40AFC1DF112}" type="slidenum">
              <a:rPr lang="en-CA" smtClean="0"/>
              <a:t>‹#›</a:t>
            </a:fld>
            <a:endParaRPr lang="en-CA"/>
          </a:p>
        </p:txBody>
      </p:sp>
    </p:spTree>
    <p:extLst>
      <p:ext uri="{BB962C8B-B14F-4D97-AF65-F5344CB8AC3E}">
        <p14:creationId xmlns:p14="http://schemas.microsoft.com/office/powerpoint/2010/main" val="9931333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3CD82-E189-B5BA-345F-D6C954B18887}"/>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F23C942D-4F47-891A-C24C-7C3A578565E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0107D658-51B7-6112-43AC-3AFBB59D2AE7}"/>
              </a:ext>
            </a:extLst>
          </p:cNvPr>
          <p:cNvSpPr>
            <a:spLocks noGrp="1"/>
          </p:cNvSpPr>
          <p:nvPr>
            <p:ph type="dt" sz="half" idx="10"/>
          </p:nvPr>
        </p:nvSpPr>
        <p:spPr/>
        <p:txBody>
          <a:bodyPr/>
          <a:lstStyle/>
          <a:p>
            <a:fld id="{E2CDF564-AA16-4F8A-8361-C9076F43B828}" type="datetimeFigureOut">
              <a:rPr lang="en-CA" smtClean="0"/>
              <a:t>2026-01-09</a:t>
            </a:fld>
            <a:endParaRPr lang="en-CA"/>
          </a:p>
        </p:txBody>
      </p:sp>
      <p:sp>
        <p:nvSpPr>
          <p:cNvPr id="5" name="Footer Placeholder 4">
            <a:extLst>
              <a:ext uri="{FF2B5EF4-FFF2-40B4-BE49-F238E27FC236}">
                <a16:creationId xmlns:a16="http://schemas.microsoft.com/office/drawing/2014/main" id="{9A9A2B32-C84F-F27A-6AA6-D42274DD7C54}"/>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E8619B94-1BCF-FDDD-53AE-753FA3B55669}"/>
              </a:ext>
            </a:extLst>
          </p:cNvPr>
          <p:cNvSpPr>
            <a:spLocks noGrp="1"/>
          </p:cNvSpPr>
          <p:nvPr>
            <p:ph type="sldNum" sz="quarter" idx="12"/>
          </p:nvPr>
        </p:nvSpPr>
        <p:spPr/>
        <p:txBody>
          <a:bodyPr/>
          <a:lstStyle/>
          <a:p>
            <a:fld id="{BAEE815A-C749-4C79-B2CB-E40AFC1DF112}" type="slidenum">
              <a:rPr lang="en-CA" smtClean="0"/>
              <a:t>‹#›</a:t>
            </a:fld>
            <a:endParaRPr lang="en-CA"/>
          </a:p>
        </p:txBody>
      </p:sp>
    </p:spTree>
    <p:extLst>
      <p:ext uri="{BB962C8B-B14F-4D97-AF65-F5344CB8AC3E}">
        <p14:creationId xmlns:p14="http://schemas.microsoft.com/office/powerpoint/2010/main" val="22858305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B73D4-4560-2E9B-B579-81BE1393DEC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E34D2915-951F-E27B-053B-E64AFCB6456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C567CA0-BD03-D4F8-36B4-BC1180B9DBE8}"/>
              </a:ext>
            </a:extLst>
          </p:cNvPr>
          <p:cNvSpPr>
            <a:spLocks noGrp="1"/>
          </p:cNvSpPr>
          <p:nvPr>
            <p:ph type="dt" sz="half" idx="10"/>
          </p:nvPr>
        </p:nvSpPr>
        <p:spPr/>
        <p:txBody>
          <a:bodyPr/>
          <a:lstStyle/>
          <a:p>
            <a:fld id="{E2CDF564-AA16-4F8A-8361-C9076F43B828}" type="datetimeFigureOut">
              <a:rPr lang="en-CA" smtClean="0"/>
              <a:t>2026-01-09</a:t>
            </a:fld>
            <a:endParaRPr lang="en-CA"/>
          </a:p>
        </p:txBody>
      </p:sp>
      <p:sp>
        <p:nvSpPr>
          <p:cNvPr id="5" name="Footer Placeholder 4">
            <a:extLst>
              <a:ext uri="{FF2B5EF4-FFF2-40B4-BE49-F238E27FC236}">
                <a16:creationId xmlns:a16="http://schemas.microsoft.com/office/drawing/2014/main" id="{83ADE013-4F1D-3C4A-89B8-64A72B8DC042}"/>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4F978DE5-AFD8-FDED-E901-02A49A2510CE}"/>
              </a:ext>
            </a:extLst>
          </p:cNvPr>
          <p:cNvSpPr>
            <a:spLocks noGrp="1"/>
          </p:cNvSpPr>
          <p:nvPr>
            <p:ph type="sldNum" sz="quarter" idx="12"/>
          </p:nvPr>
        </p:nvSpPr>
        <p:spPr/>
        <p:txBody>
          <a:bodyPr/>
          <a:lstStyle/>
          <a:p>
            <a:fld id="{BAEE815A-C749-4C79-B2CB-E40AFC1DF112}" type="slidenum">
              <a:rPr lang="en-CA" smtClean="0"/>
              <a:t>‹#›</a:t>
            </a:fld>
            <a:endParaRPr lang="en-CA"/>
          </a:p>
        </p:txBody>
      </p:sp>
    </p:spTree>
    <p:extLst>
      <p:ext uri="{BB962C8B-B14F-4D97-AF65-F5344CB8AC3E}">
        <p14:creationId xmlns:p14="http://schemas.microsoft.com/office/powerpoint/2010/main" val="33971910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79225-8A5B-63F2-603F-1EFD44F679A7}"/>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D1ADD784-61C5-EDDC-FA36-E5285E0A42B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9AC485B4-1DB6-9864-1128-239A030FEC5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3D62815E-648E-DB7C-E74C-65CC61F622E3}"/>
              </a:ext>
            </a:extLst>
          </p:cNvPr>
          <p:cNvSpPr>
            <a:spLocks noGrp="1"/>
          </p:cNvSpPr>
          <p:nvPr>
            <p:ph type="dt" sz="half" idx="10"/>
          </p:nvPr>
        </p:nvSpPr>
        <p:spPr/>
        <p:txBody>
          <a:bodyPr/>
          <a:lstStyle/>
          <a:p>
            <a:fld id="{E2CDF564-AA16-4F8A-8361-C9076F43B828}" type="datetimeFigureOut">
              <a:rPr lang="en-CA" smtClean="0"/>
              <a:t>2026-01-09</a:t>
            </a:fld>
            <a:endParaRPr lang="en-CA"/>
          </a:p>
        </p:txBody>
      </p:sp>
      <p:sp>
        <p:nvSpPr>
          <p:cNvPr id="6" name="Footer Placeholder 5">
            <a:extLst>
              <a:ext uri="{FF2B5EF4-FFF2-40B4-BE49-F238E27FC236}">
                <a16:creationId xmlns:a16="http://schemas.microsoft.com/office/drawing/2014/main" id="{1883868E-DD3F-24B1-0A1D-334A92FDDC98}"/>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C5EA6E47-323B-AE8A-8528-DFFEF0EC2E77}"/>
              </a:ext>
            </a:extLst>
          </p:cNvPr>
          <p:cNvSpPr>
            <a:spLocks noGrp="1"/>
          </p:cNvSpPr>
          <p:nvPr>
            <p:ph type="sldNum" sz="quarter" idx="12"/>
          </p:nvPr>
        </p:nvSpPr>
        <p:spPr/>
        <p:txBody>
          <a:bodyPr/>
          <a:lstStyle/>
          <a:p>
            <a:fld id="{BAEE815A-C749-4C79-B2CB-E40AFC1DF112}" type="slidenum">
              <a:rPr lang="en-CA" smtClean="0"/>
              <a:t>‹#›</a:t>
            </a:fld>
            <a:endParaRPr lang="en-CA"/>
          </a:p>
        </p:txBody>
      </p:sp>
    </p:spTree>
    <p:extLst>
      <p:ext uri="{BB962C8B-B14F-4D97-AF65-F5344CB8AC3E}">
        <p14:creationId xmlns:p14="http://schemas.microsoft.com/office/powerpoint/2010/main" val="3989173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4D1DC9-DA8E-8FD5-C985-18EC378894A4}"/>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6F1D3026-F805-2C06-B1D9-7F3F8D1EDF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F878ED6-AD89-D961-03F7-D789B76F1E6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C3D9FA6B-4B24-C914-F92D-1DA323E8A8E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F8862A4-ECE0-9EA4-FF1B-6BD5FCC30C2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48E354E7-700D-F72D-50D6-1160C4F56B30}"/>
              </a:ext>
            </a:extLst>
          </p:cNvPr>
          <p:cNvSpPr>
            <a:spLocks noGrp="1"/>
          </p:cNvSpPr>
          <p:nvPr>
            <p:ph type="dt" sz="half" idx="10"/>
          </p:nvPr>
        </p:nvSpPr>
        <p:spPr/>
        <p:txBody>
          <a:bodyPr/>
          <a:lstStyle/>
          <a:p>
            <a:fld id="{E2CDF564-AA16-4F8A-8361-C9076F43B828}" type="datetimeFigureOut">
              <a:rPr lang="en-CA" smtClean="0"/>
              <a:t>2026-01-09</a:t>
            </a:fld>
            <a:endParaRPr lang="en-CA"/>
          </a:p>
        </p:txBody>
      </p:sp>
      <p:sp>
        <p:nvSpPr>
          <p:cNvPr id="8" name="Footer Placeholder 7">
            <a:extLst>
              <a:ext uri="{FF2B5EF4-FFF2-40B4-BE49-F238E27FC236}">
                <a16:creationId xmlns:a16="http://schemas.microsoft.com/office/drawing/2014/main" id="{90A2D21A-510C-DB76-69DC-5862D979A3FC}"/>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55764EC7-769F-647D-2DFA-4C58BB5EDBB3}"/>
              </a:ext>
            </a:extLst>
          </p:cNvPr>
          <p:cNvSpPr>
            <a:spLocks noGrp="1"/>
          </p:cNvSpPr>
          <p:nvPr>
            <p:ph type="sldNum" sz="quarter" idx="12"/>
          </p:nvPr>
        </p:nvSpPr>
        <p:spPr/>
        <p:txBody>
          <a:bodyPr/>
          <a:lstStyle/>
          <a:p>
            <a:fld id="{BAEE815A-C749-4C79-B2CB-E40AFC1DF112}" type="slidenum">
              <a:rPr lang="en-CA" smtClean="0"/>
              <a:t>‹#›</a:t>
            </a:fld>
            <a:endParaRPr lang="en-CA"/>
          </a:p>
        </p:txBody>
      </p:sp>
    </p:spTree>
    <p:extLst>
      <p:ext uri="{BB962C8B-B14F-4D97-AF65-F5344CB8AC3E}">
        <p14:creationId xmlns:p14="http://schemas.microsoft.com/office/powerpoint/2010/main" val="37135424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EEE0C-2E73-6313-4417-61F6F5CA72F9}"/>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FB552AF6-7577-A977-3596-F20B00202453}"/>
              </a:ext>
            </a:extLst>
          </p:cNvPr>
          <p:cNvSpPr>
            <a:spLocks noGrp="1"/>
          </p:cNvSpPr>
          <p:nvPr>
            <p:ph type="dt" sz="half" idx="10"/>
          </p:nvPr>
        </p:nvSpPr>
        <p:spPr/>
        <p:txBody>
          <a:bodyPr/>
          <a:lstStyle/>
          <a:p>
            <a:fld id="{E2CDF564-AA16-4F8A-8361-C9076F43B828}" type="datetimeFigureOut">
              <a:rPr lang="en-CA" smtClean="0"/>
              <a:t>2026-01-09</a:t>
            </a:fld>
            <a:endParaRPr lang="en-CA"/>
          </a:p>
        </p:txBody>
      </p:sp>
      <p:sp>
        <p:nvSpPr>
          <p:cNvPr id="4" name="Footer Placeholder 3">
            <a:extLst>
              <a:ext uri="{FF2B5EF4-FFF2-40B4-BE49-F238E27FC236}">
                <a16:creationId xmlns:a16="http://schemas.microsoft.com/office/drawing/2014/main" id="{ED5C8889-09F3-06D0-BBD1-A14080FEE053}"/>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1041CEE1-40D7-9935-AC07-2E8DAC153CB4}"/>
              </a:ext>
            </a:extLst>
          </p:cNvPr>
          <p:cNvSpPr>
            <a:spLocks noGrp="1"/>
          </p:cNvSpPr>
          <p:nvPr>
            <p:ph type="sldNum" sz="quarter" idx="12"/>
          </p:nvPr>
        </p:nvSpPr>
        <p:spPr/>
        <p:txBody>
          <a:bodyPr/>
          <a:lstStyle/>
          <a:p>
            <a:fld id="{BAEE815A-C749-4C79-B2CB-E40AFC1DF112}" type="slidenum">
              <a:rPr lang="en-CA" smtClean="0"/>
              <a:t>‹#›</a:t>
            </a:fld>
            <a:endParaRPr lang="en-CA"/>
          </a:p>
        </p:txBody>
      </p:sp>
    </p:spTree>
    <p:extLst>
      <p:ext uri="{BB962C8B-B14F-4D97-AF65-F5344CB8AC3E}">
        <p14:creationId xmlns:p14="http://schemas.microsoft.com/office/powerpoint/2010/main" val="8378016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DE3D978-1626-7D10-8D3F-BB0C61E5FC4C}"/>
              </a:ext>
            </a:extLst>
          </p:cNvPr>
          <p:cNvSpPr>
            <a:spLocks noGrp="1"/>
          </p:cNvSpPr>
          <p:nvPr>
            <p:ph type="dt" sz="half" idx="10"/>
          </p:nvPr>
        </p:nvSpPr>
        <p:spPr/>
        <p:txBody>
          <a:bodyPr/>
          <a:lstStyle/>
          <a:p>
            <a:fld id="{E2CDF564-AA16-4F8A-8361-C9076F43B828}" type="datetimeFigureOut">
              <a:rPr lang="en-CA" smtClean="0"/>
              <a:t>2026-01-09</a:t>
            </a:fld>
            <a:endParaRPr lang="en-CA"/>
          </a:p>
        </p:txBody>
      </p:sp>
      <p:sp>
        <p:nvSpPr>
          <p:cNvPr id="3" name="Footer Placeholder 2">
            <a:extLst>
              <a:ext uri="{FF2B5EF4-FFF2-40B4-BE49-F238E27FC236}">
                <a16:creationId xmlns:a16="http://schemas.microsoft.com/office/drawing/2014/main" id="{63E7F703-F342-D08D-CD5C-423FF8806D43}"/>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F16F70C8-1A40-98AC-34CD-3098806CF2AF}"/>
              </a:ext>
            </a:extLst>
          </p:cNvPr>
          <p:cNvSpPr>
            <a:spLocks noGrp="1"/>
          </p:cNvSpPr>
          <p:nvPr>
            <p:ph type="sldNum" sz="quarter" idx="12"/>
          </p:nvPr>
        </p:nvSpPr>
        <p:spPr/>
        <p:txBody>
          <a:bodyPr/>
          <a:lstStyle/>
          <a:p>
            <a:fld id="{BAEE815A-C749-4C79-B2CB-E40AFC1DF112}" type="slidenum">
              <a:rPr lang="en-CA" smtClean="0"/>
              <a:t>‹#›</a:t>
            </a:fld>
            <a:endParaRPr lang="en-CA"/>
          </a:p>
        </p:txBody>
      </p:sp>
    </p:spTree>
    <p:extLst>
      <p:ext uri="{BB962C8B-B14F-4D97-AF65-F5344CB8AC3E}">
        <p14:creationId xmlns:p14="http://schemas.microsoft.com/office/powerpoint/2010/main" val="25276920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EAA60-84E5-50DB-10CB-F27167A7F0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28A1F8CE-1900-8A2F-4A7B-932DA1F6835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886A2B54-A64C-F542-65D8-BD0B68CFF9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2B5D35C-4771-B73E-A90F-90119DE1CADB}"/>
              </a:ext>
            </a:extLst>
          </p:cNvPr>
          <p:cNvSpPr>
            <a:spLocks noGrp="1"/>
          </p:cNvSpPr>
          <p:nvPr>
            <p:ph type="dt" sz="half" idx="10"/>
          </p:nvPr>
        </p:nvSpPr>
        <p:spPr/>
        <p:txBody>
          <a:bodyPr/>
          <a:lstStyle/>
          <a:p>
            <a:fld id="{E2CDF564-AA16-4F8A-8361-C9076F43B828}" type="datetimeFigureOut">
              <a:rPr lang="en-CA" smtClean="0"/>
              <a:t>2026-01-09</a:t>
            </a:fld>
            <a:endParaRPr lang="en-CA"/>
          </a:p>
        </p:txBody>
      </p:sp>
      <p:sp>
        <p:nvSpPr>
          <p:cNvPr id="6" name="Footer Placeholder 5">
            <a:extLst>
              <a:ext uri="{FF2B5EF4-FFF2-40B4-BE49-F238E27FC236}">
                <a16:creationId xmlns:a16="http://schemas.microsoft.com/office/drawing/2014/main" id="{2E89C314-7DE8-3EFC-B8BB-C926C2BAA386}"/>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9A51E3A8-6147-CCF2-0F5D-B872EF0537DD}"/>
              </a:ext>
            </a:extLst>
          </p:cNvPr>
          <p:cNvSpPr>
            <a:spLocks noGrp="1"/>
          </p:cNvSpPr>
          <p:nvPr>
            <p:ph type="sldNum" sz="quarter" idx="12"/>
          </p:nvPr>
        </p:nvSpPr>
        <p:spPr/>
        <p:txBody>
          <a:bodyPr/>
          <a:lstStyle/>
          <a:p>
            <a:fld id="{BAEE815A-C749-4C79-B2CB-E40AFC1DF112}" type="slidenum">
              <a:rPr lang="en-CA" smtClean="0"/>
              <a:t>‹#›</a:t>
            </a:fld>
            <a:endParaRPr lang="en-CA"/>
          </a:p>
        </p:txBody>
      </p:sp>
    </p:spTree>
    <p:extLst>
      <p:ext uri="{BB962C8B-B14F-4D97-AF65-F5344CB8AC3E}">
        <p14:creationId xmlns:p14="http://schemas.microsoft.com/office/powerpoint/2010/main" val="1640211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05373-CEE0-4E02-C6CF-95C7412EBE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A3593CA3-5BB0-E3DC-4978-A52D72959BC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74E87CBB-3574-11E2-D836-B5F8AFC0CC1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BF96F99-97DF-391A-063E-50A01F67787A}"/>
              </a:ext>
            </a:extLst>
          </p:cNvPr>
          <p:cNvSpPr>
            <a:spLocks noGrp="1"/>
          </p:cNvSpPr>
          <p:nvPr>
            <p:ph type="dt" sz="half" idx="10"/>
          </p:nvPr>
        </p:nvSpPr>
        <p:spPr/>
        <p:txBody>
          <a:bodyPr/>
          <a:lstStyle/>
          <a:p>
            <a:fld id="{E2CDF564-AA16-4F8A-8361-C9076F43B828}" type="datetimeFigureOut">
              <a:rPr lang="en-CA" smtClean="0"/>
              <a:t>2026-01-09</a:t>
            </a:fld>
            <a:endParaRPr lang="en-CA"/>
          </a:p>
        </p:txBody>
      </p:sp>
      <p:sp>
        <p:nvSpPr>
          <p:cNvPr id="6" name="Footer Placeholder 5">
            <a:extLst>
              <a:ext uri="{FF2B5EF4-FFF2-40B4-BE49-F238E27FC236}">
                <a16:creationId xmlns:a16="http://schemas.microsoft.com/office/drawing/2014/main" id="{7127BEDE-066F-3022-3BDB-D70D97F15396}"/>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39FF8585-610E-D29C-37FF-4B73B5B9E36E}"/>
              </a:ext>
            </a:extLst>
          </p:cNvPr>
          <p:cNvSpPr>
            <a:spLocks noGrp="1"/>
          </p:cNvSpPr>
          <p:nvPr>
            <p:ph type="sldNum" sz="quarter" idx="12"/>
          </p:nvPr>
        </p:nvSpPr>
        <p:spPr/>
        <p:txBody>
          <a:bodyPr/>
          <a:lstStyle/>
          <a:p>
            <a:fld id="{BAEE815A-C749-4C79-B2CB-E40AFC1DF112}" type="slidenum">
              <a:rPr lang="en-CA" smtClean="0"/>
              <a:t>‹#›</a:t>
            </a:fld>
            <a:endParaRPr lang="en-CA"/>
          </a:p>
        </p:txBody>
      </p:sp>
    </p:spTree>
    <p:extLst>
      <p:ext uri="{BB962C8B-B14F-4D97-AF65-F5344CB8AC3E}">
        <p14:creationId xmlns:p14="http://schemas.microsoft.com/office/powerpoint/2010/main" val="17824621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E8D0C0-9471-3CC2-BE6B-D32B4F5F134D}"/>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D85BA08D-42DF-5180-9C98-2C9E399DFA4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489C9379-7F78-09AC-6A64-7B89A87FBFA5}"/>
              </a:ext>
            </a:extLst>
          </p:cNvPr>
          <p:cNvSpPr>
            <a:spLocks noGrp="1"/>
          </p:cNvSpPr>
          <p:nvPr>
            <p:ph type="dt" sz="half" idx="10"/>
          </p:nvPr>
        </p:nvSpPr>
        <p:spPr/>
        <p:txBody>
          <a:bodyPr/>
          <a:lstStyle/>
          <a:p>
            <a:fld id="{E2CDF564-AA16-4F8A-8361-C9076F43B828}" type="datetimeFigureOut">
              <a:rPr lang="en-CA" smtClean="0"/>
              <a:t>2026-01-09</a:t>
            </a:fld>
            <a:endParaRPr lang="en-CA"/>
          </a:p>
        </p:txBody>
      </p:sp>
      <p:sp>
        <p:nvSpPr>
          <p:cNvPr id="5" name="Footer Placeholder 4">
            <a:extLst>
              <a:ext uri="{FF2B5EF4-FFF2-40B4-BE49-F238E27FC236}">
                <a16:creationId xmlns:a16="http://schemas.microsoft.com/office/drawing/2014/main" id="{37B4FE0E-56DC-1C33-FE7B-C6E20F25D798}"/>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43D9D40A-1654-E630-3D67-0A3FE80D870B}"/>
              </a:ext>
            </a:extLst>
          </p:cNvPr>
          <p:cNvSpPr>
            <a:spLocks noGrp="1"/>
          </p:cNvSpPr>
          <p:nvPr>
            <p:ph type="sldNum" sz="quarter" idx="12"/>
          </p:nvPr>
        </p:nvSpPr>
        <p:spPr/>
        <p:txBody>
          <a:bodyPr/>
          <a:lstStyle/>
          <a:p>
            <a:fld id="{BAEE815A-C749-4C79-B2CB-E40AFC1DF112}" type="slidenum">
              <a:rPr lang="en-CA" smtClean="0"/>
              <a:t>‹#›</a:t>
            </a:fld>
            <a:endParaRPr lang="en-CA"/>
          </a:p>
        </p:txBody>
      </p:sp>
    </p:spTree>
    <p:extLst>
      <p:ext uri="{BB962C8B-B14F-4D97-AF65-F5344CB8AC3E}">
        <p14:creationId xmlns:p14="http://schemas.microsoft.com/office/powerpoint/2010/main" val="32229284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F8FE204-D15A-B524-9925-0455CE78384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5D7DF384-AC5E-ED9C-EE59-3D4C9CDC65E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0B530571-9DF2-D120-866F-886BCEFBC1B9}"/>
              </a:ext>
            </a:extLst>
          </p:cNvPr>
          <p:cNvSpPr>
            <a:spLocks noGrp="1"/>
          </p:cNvSpPr>
          <p:nvPr>
            <p:ph type="dt" sz="half" idx="10"/>
          </p:nvPr>
        </p:nvSpPr>
        <p:spPr/>
        <p:txBody>
          <a:bodyPr/>
          <a:lstStyle/>
          <a:p>
            <a:fld id="{E2CDF564-AA16-4F8A-8361-C9076F43B828}" type="datetimeFigureOut">
              <a:rPr lang="en-CA" smtClean="0"/>
              <a:t>2026-01-09</a:t>
            </a:fld>
            <a:endParaRPr lang="en-CA"/>
          </a:p>
        </p:txBody>
      </p:sp>
      <p:sp>
        <p:nvSpPr>
          <p:cNvPr id="5" name="Footer Placeholder 4">
            <a:extLst>
              <a:ext uri="{FF2B5EF4-FFF2-40B4-BE49-F238E27FC236}">
                <a16:creationId xmlns:a16="http://schemas.microsoft.com/office/drawing/2014/main" id="{31DE2FC2-0114-72BD-49C5-0109D365C141}"/>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10B8C2E4-8E03-AE1A-B61B-17357A8B631A}"/>
              </a:ext>
            </a:extLst>
          </p:cNvPr>
          <p:cNvSpPr>
            <a:spLocks noGrp="1"/>
          </p:cNvSpPr>
          <p:nvPr>
            <p:ph type="sldNum" sz="quarter" idx="12"/>
          </p:nvPr>
        </p:nvSpPr>
        <p:spPr/>
        <p:txBody>
          <a:bodyPr/>
          <a:lstStyle/>
          <a:p>
            <a:fld id="{BAEE815A-C749-4C79-B2CB-E40AFC1DF112}" type="slidenum">
              <a:rPr lang="en-CA" smtClean="0"/>
              <a:t>‹#›</a:t>
            </a:fld>
            <a:endParaRPr lang="en-CA"/>
          </a:p>
        </p:txBody>
      </p:sp>
    </p:spTree>
    <p:extLst>
      <p:ext uri="{BB962C8B-B14F-4D97-AF65-F5344CB8AC3E}">
        <p14:creationId xmlns:p14="http://schemas.microsoft.com/office/powerpoint/2010/main" val="19311785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783045C-B318-126B-9F7B-C17D750177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309E8CB7-9089-2E35-5EFD-9B36A8903A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3C16DFFF-5CC1-1A91-7D9D-D707A9F8B62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CDF564-AA16-4F8A-8361-C9076F43B828}" type="datetimeFigureOut">
              <a:rPr lang="en-CA" smtClean="0"/>
              <a:t>2026-01-09</a:t>
            </a:fld>
            <a:endParaRPr lang="en-CA"/>
          </a:p>
        </p:txBody>
      </p:sp>
      <p:sp>
        <p:nvSpPr>
          <p:cNvPr id="5" name="Footer Placeholder 4">
            <a:extLst>
              <a:ext uri="{FF2B5EF4-FFF2-40B4-BE49-F238E27FC236}">
                <a16:creationId xmlns:a16="http://schemas.microsoft.com/office/drawing/2014/main" id="{F590F41A-80C0-9638-E906-F33362FDBFE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A"/>
          </a:p>
        </p:txBody>
      </p:sp>
      <p:sp>
        <p:nvSpPr>
          <p:cNvPr id="6" name="Slide Number Placeholder 5">
            <a:extLst>
              <a:ext uri="{FF2B5EF4-FFF2-40B4-BE49-F238E27FC236}">
                <a16:creationId xmlns:a16="http://schemas.microsoft.com/office/drawing/2014/main" id="{4AF5192F-49ED-988D-4226-AEC965C1FA5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AEE815A-C749-4C79-B2CB-E40AFC1DF112}" type="slidenum">
              <a:rPr lang="en-CA" smtClean="0"/>
              <a:t>‹#›</a:t>
            </a:fld>
            <a:endParaRPr lang="en-CA"/>
          </a:p>
        </p:txBody>
      </p:sp>
    </p:spTree>
    <p:extLst>
      <p:ext uri="{BB962C8B-B14F-4D97-AF65-F5344CB8AC3E}">
        <p14:creationId xmlns:p14="http://schemas.microsoft.com/office/powerpoint/2010/main" val="7007545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07928-6A96-F294-818A-806E5BE3212D}"/>
              </a:ext>
            </a:extLst>
          </p:cNvPr>
          <p:cNvSpPr>
            <a:spLocks noGrp="1"/>
          </p:cNvSpPr>
          <p:nvPr>
            <p:ph type="ctrTitle"/>
          </p:nvPr>
        </p:nvSpPr>
        <p:spPr/>
        <p:txBody>
          <a:bodyPr/>
          <a:lstStyle/>
          <a:p>
            <a:r>
              <a:rPr lang="en-CA" dirty="0"/>
              <a:t>Natural Languages and Formal Languages</a:t>
            </a:r>
          </a:p>
        </p:txBody>
      </p:sp>
      <p:sp>
        <p:nvSpPr>
          <p:cNvPr id="3" name="Subtitle 2">
            <a:extLst>
              <a:ext uri="{FF2B5EF4-FFF2-40B4-BE49-F238E27FC236}">
                <a16:creationId xmlns:a16="http://schemas.microsoft.com/office/drawing/2014/main" id="{C98F3F09-2A22-777B-0073-D655AAA28CE6}"/>
              </a:ext>
            </a:extLst>
          </p:cNvPr>
          <p:cNvSpPr>
            <a:spLocks noGrp="1"/>
          </p:cNvSpPr>
          <p:nvPr>
            <p:ph type="subTitle" idx="1"/>
          </p:nvPr>
        </p:nvSpPr>
        <p:spPr/>
        <p:txBody>
          <a:bodyPr/>
          <a:lstStyle/>
          <a:p>
            <a:r>
              <a:rPr lang="en-CA" dirty="0"/>
              <a:t>CMPT 120</a:t>
            </a:r>
          </a:p>
          <a:p>
            <a:r>
              <a:rPr lang="en-CA" dirty="0"/>
              <a:t>From Chapter 1 of textbook</a:t>
            </a:r>
          </a:p>
          <a:p>
            <a:r>
              <a:rPr lang="en-CA" dirty="0"/>
              <a:t>Spring 2026</a:t>
            </a:r>
          </a:p>
        </p:txBody>
      </p:sp>
    </p:spTree>
    <p:extLst>
      <p:ext uri="{BB962C8B-B14F-4D97-AF65-F5344CB8AC3E}">
        <p14:creationId xmlns:p14="http://schemas.microsoft.com/office/powerpoint/2010/main" val="39305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AC2BC-4DDA-612C-A7F4-54E6E42A164E}"/>
              </a:ext>
            </a:extLst>
          </p:cNvPr>
          <p:cNvSpPr>
            <a:spLocks noGrp="1"/>
          </p:cNvSpPr>
          <p:nvPr>
            <p:ph type="title"/>
          </p:nvPr>
        </p:nvSpPr>
        <p:spPr/>
        <p:txBody>
          <a:bodyPr/>
          <a:lstStyle/>
          <a:p>
            <a:r>
              <a:rPr lang="en-CA" dirty="0"/>
              <a:t>Natural Languages</a:t>
            </a:r>
          </a:p>
        </p:txBody>
      </p:sp>
      <p:sp>
        <p:nvSpPr>
          <p:cNvPr id="3" name="Content Placeholder 2">
            <a:extLst>
              <a:ext uri="{FF2B5EF4-FFF2-40B4-BE49-F238E27FC236}">
                <a16:creationId xmlns:a16="http://schemas.microsoft.com/office/drawing/2014/main" id="{1CE88E03-CAFE-9264-933A-0CD67C9C6CA6}"/>
              </a:ext>
            </a:extLst>
          </p:cNvPr>
          <p:cNvSpPr>
            <a:spLocks noGrp="1"/>
          </p:cNvSpPr>
          <p:nvPr>
            <p:ph idx="1"/>
          </p:nvPr>
        </p:nvSpPr>
        <p:spPr>
          <a:xfrm>
            <a:off x="838200" y="1825625"/>
            <a:ext cx="5822092" cy="4351338"/>
          </a:xfrm>
        </p:spPr>
        <p:txBody>
          <a:bodyPr>
            <a:normAutofit fontScale="92500" lnSpcReduction="20000"/>
          </a:bodyPr>
          <a:lstStyle/>
          <a:p>
            <a:r>
              <a:rPr lang="en-CA" b="1" dirty="0"/>
              <a:t>Natural languages </a:t>
            </a:r>
            <a:r>
              <a:rPr lang="en-CA" dirty="0"/>
              <a:t>are the languages spoken by people, e.g. English, German, Chinese, etc.</a:t>
            </a:r>
          </a:p>
          <a:p>
            <a:r>
              <a:rPr lang="en-CA" dirty="0"/>
              <a:t>They have grammar and rules, but they are often implicit and informal</a:t>
            </a:r>
          </a:p>
          <a:p>
            <a:pPr lvl="1"/>
            <a:r>
              <a:rPr lang="en-CA" dirty="0"/>
              <a:t>Linguists study these rules</a:t>
            </a:r>
          </a:p>
          <a:p>
            <a:pPr lvl="1"/>
            <a:r>
              <a:rPr lang="en-CA" dirty="0"/>
              <a:t>Speakers of the language often unaware of them</a:t>
            </a:r>
          </a:p>
          <a:p>
            <a:r>
              <a:rPr lang="en-CA" dirty="0"/>
              <a:t>Can break rules if the meaning is still clear</a:t>
            </a:r>
          </a:p>
          <a:p>
            <a:pPr lvl="1"/>
            <a:r>
              <a:rPr lang="en-CA" i="1" dirty="0"/>
              <a:t>I am at the restaurant.</a:t>
            </a:r>
          </a:p>
          <a:p>
            <a:pPr lvl="1"/>
            <a:r>
              <a:rPr lang="en-CA" i="1" dirty="0"/>
              <a:t>Me restaurant at.</a:t>
            </a:r>
            <a:br>
              <a:rPr lang="en-CA" dirty="0"/>
            </a:br>
            <a:r>
              <a:rPr lang="en-CA" dirty="0"/>
              <a:t>(ungrammatical, but understandable)</a:t>
            </a:r>
          </a:p>
        </p:txBody>
      </p:sp>
    </p:spTree>
    <p:extLst>
      <p:ext uri="{BB962C8B-B14F-4D97-AF65-F5344CB8AC3E}">
        <p14:creationId xmlns:p14="http://schemas.microsoft.com/office/powerpoint/2010/main" val="14331693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C02E65-2D5A-CC76-BA90-1F5B661447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D63970-BD2C-5053-F8C4-DBA44BDEA3F2}"/>
              </a:ext>
            </a:extLst>
          </p:cNvPr>
          <p:cNvSpPr>
            <a:spLocks noGrp="1"/>
          </p:cNvSpPr>
          <p:nvPr>
            <p:ph type="title"/>
          </p:nvPr>
        </p:nvSpPr>
        <p:spPr/>
        <p:txBody>
          <a:bodyPr/>
          <a:lstStyle/>
          <a:p>
            <a:r>
              <a:rPr lang="en-CA" dirty="0"/>
              <a:t>Natural Languages</a:t>
            </a:r>
          </a:p>
        </p:txBody>
      </p:sp>
      <p:sp>
        <p:nvSpPr>
          <p:cNvPr id="3" name="Content Placeholder 2">
            <a:extLst>
              <a:ext uri="{FF2B5EF4-FFF2-40B4-BE49-F238E27FC236}">
                <a16:creationId xmlns:a16="http://schemas.microsoft.com/office/drawing/2014/main" id="{4E4BB0CF-233F-86C4-3F23-CFED9C9AA152}"/>
              </a:ext>
            </a:extLst>
          </p:cNvPr>
          <p:cNvSpPr>
            <a:spLocks noGrp="1"/>
          </p:cNvSpPr>
          <p:nvPr>
            <p:ph idx="1"/>
          </p:nvPr>
        </p:nvSpPr>
        <p:spPr>
          <a:xfrm>
            <a:off x="838200" y="1825625"/>
            <a:ext cx="5822092" cy="4351338"/>
          </a:xfrm>
        </p:spPr>
        <p:txBody>
          <a:bodyPr>
            <a:normAutofit fontScale="92500" lnSpcReduction="20000"/>
          </a:bodyPr>
          <a:lstStyle/>
          <a:p>
            <a:r>
              <a:rPr lang="en-CA" b="1" dirty="0"/>
              <a:t>Natural languages </a:t>
            </a:r>
            <a:r>
              <a:rPr lang="en-CA" dirty="0"/>
              <a:t>are the languages spoken by people, e.g. English, German, Chinese, etc.</a:t>
            </a:r>
          </a:p>
          <a:p>
            <a:r>
              <a:rPr lang="en-CA" dirty="0"/>
              <a:t>They have grammar and rules, but they are often implicit and informal</a:t>
            </a:r>
          </a:p>
          <a:p>
            <a:pPr lvl="1"/>
            <a:r>
              <a:rPr lang="en-CA" dirty="0"/>
              <a:t>Linguists study these rules</a:t>
            </a:r>
          </a:p>
          <a:p>
            <a:pPr lvl="1"/>
            <a:r>
              <a:rPr lang="en-CA" dirty="0"/>
              <a:t>But speakers of the language often unaware of them</a:t>
            </a:r>
          </a:p>
          <a:p>
            <a:r>
              <a:rPr lang="en-CA" dirty="0"/>
              <a:t>Can break rules if the meaning is still clear</a:t>
            </a:r>
          </a:p>
          <a:p>
            <a:pPr lvl="1"/>
            <a:r>
              <a:rPr lang="en-CA" dirty="0"/>
              <a:t>“I am at the restaurant.”</a:t>
            </a:r>
          </a:p>
          <a:p>
            <a:pPr lvl="1"/>
            <a:r>
              <a:rPr lang="en-CA" dirty="0"/>
              <a:t>“Me at restaurant.”  (ungrammatical, but understandable)</a:t>
            </a:r>
          </a:p>
        </p:txBody>
      </p:sp>
      <p:sp>
        <p:nvSpPr>
          <p:cNvPr id="4" name="TextBox 3">
            <a:extLst>
              <a:ext uri="{FF2B5EF4-FFF2-40B4-BE49-F238E27FC236}">
                <a16:creationId xmlns:a16="http://schemas.microsoft.com/office/drawing/2014/main" id="{ED0B9EDC-F6B3-EAF2-75AF-CEACDB15C3C2}"/>
              </a:ext>
            </a:extLst>
          </p:cNvPr>
          <p:cNvSpPr txBox="1"/>
          <p:nvPr/>
        </p:nvSpPr>
        <p:spPr>
          <a:xfrm>
            <a:off x="6660292" y="2551837"/>
            <a:ext cx="5261330" cy="1754326"/>
          </a:xfrm>
          <a:prstGeom prst="rect">
            <a:avLst/>
          </a:prstGeom>
          <a:solidFill>
            <a:srgbClr val="FFFF00"/>
          </a:solidFill>
        </p:spPr>
        <p:txBody>
          <a:bodyPr wrap="square" rtlCol="0">
            <a:spAutoFit/>
          </a:bodyPr>
          <a:lstStyle/>
          <a:p>
            <a:pPr algn="ctr"/>
            <a:r>
              <a:rPr lang="en-CA" b="1" dirty="0"/>
              <a:t>Update</a:t>
            </a:r>
            <a:br>
              <a:rPr lang="en-CA" dirty="0"/>
            </a:br>
            <a:r>
              <a:rPr lang="en-CA" dirty="0"/>
              <a:t>In the last couple of years, </a:t>
            </a:r>
            <a:r>
              <a:rPr lang="en-CA" b="1" dirty="0"/>
              <a:t>vibe coding </a:t>
            </a:r>
            <a:r>
              <a:rPr lang="en-CA" dirty="0"/>
              <a:t>or </a:t>
            </a:r>
            <a:r>
              <a:rPr lang="en-CA" b="1" dirty="0"/>
              <a:t>agentic coding</a:t>
            </a:r>
            <a:r>
              <a:rPr lang="en-CA" dirty="0"/>
              <a:t> using AI has become a popular way to write programs. You converse with the AI to make a program. For this course we will be learning the old fashioned “by hand” way of programming.</a:t>
            </a:r>
          </a:p>
        </p:txBody>
      </p:sp>
    </p:spTree>
    <p:extLst>
      <p:ext uri="{BB962C8B-B14F-4D97-AF65-F5344CB8AC3E}">
        <p14:creationId xmlns:p14="http://schemas.microsoft.com/office/powerpoint/2010/main" val="633701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74B902-B00F-9A60-C5CB-966C120CAE31}"/>
              </a:ext>
            </a:extLst>
          </p:cNvPr>
          <p:cNvSpPr>
            <a:spLocks noGrp="1"/>
          </p:cNvSpPr>
          <p:nvPr>
            <p:ph type="title"/>
          </p:nvPr>
        </p:nvSpPr>
        <p:spPr/>
        <p:txBody>
          <a:bodyPr/>
          <a:lstStyle/>
          <a:p>
            <a:r>
              <a:rPr lang="en-CA" dirty="0"/>
              <a:t>Formal Languages</a:t>
            </a:r>
          </a:p>
        </p:txBody>
      </p:sp>
      <p:sp>
        <p:nvSpPr>
          <p:cNvPr id="3" name="Content Placeholder 2">
            <a:extLst>
              <a:ext uri="{FF2B5EF4-FFF2-40B4-BE49-F238E27FC236}">
                <a16:creationId xmlns:a16="http://schemas.microsoft.com/office/drawing/2014/main" id="{98A8E8F5-CA50-08D5-90EF-A6B808F7483C}"/>
              </a:ext>
            </a:extLst>
          </p:cNvPr>
          <p:cNvSpPr>
            <a:spLocks noGrp="1"/>
          </p:cNvSpPr>
          <p:nvPr>
            <p:ph idx="1"/>
          </p:nvPr>
        </p:nvSpPr>
        <p:spPr/>
        <p:txBody>
          <a:bodyPr/>
          <a:lstStyle/>
          <a:p>
            <a:r>
              <a:rPr lang="en-CA" dirty="0"/>
              <a:t>Programming languages like Python are </a:t>
            </a:r>
            <a:r>
              <a:rPr lang="en-CA" b="1" dirty="0"/>
              <a:t>formal languages</a:t>
            </a:r>
          </a:p>
          <a:p>
            <a:r>
              <a:rPr lang="en-CA" dirty="0"/>
              <a:t>Formal languages follow strict rule</a:t>
            </a:r>
          </a:p>
          <a:p>
            <a:r>
              <a:rPr lang="en-CA" dirty="0"/>
              <a:t>Even if the meaning of a program is clear, it will be rejected if it is not also perfectly grammatical …</a:t>
            </a:r>
          </a:p>
          <a:p>
            <a:pPr marL="0" indent="0">
              <a:buNone/>
            </a:pPr>
            <a:endParaRPr lang="en-CA" dirty="0"/>
          </a:p>
        </p:txBody>
      </p:sp>
      <p:sp>
        <p:nvSpPr>
          <p:cNvPr id="4" name="TextBox 3">
            <a:extLst>
              <a:ext uri="{FF2B5EF4-FFF2-40B4-BE49-F238E27FC236}">
                <a16:creationId xmlns:a16="http://schemas.microsoft.com/office/drawing/2014/main" id="{5DFBE68E-B66D-DF70-BE0C-0D344C69B577}"/>
              </a:ext>
            </a:extLst>
          </p:cNvPr>
          <p:cNvSpPr txBox="1"/>
          <p:nvPr/>
        </p:nvSpPr>
        <p:spPr>
          <a:xfrm>
            <a:off x="1502979" y="3907552"/>
            <a:ext cx="8137898" cy="2585323"/>
          </a:xfrm>
          <a:prstGeom prst="rect">
            <a:avLst/>
          </a:prstGeom>
          <a:solidFill>
            <a:srgbClr val="FFFF00"/>
          </a:solidFill>
        </p:spPr>
        <p:txBody>
          <a:bodyPr wrap="square" rtlCol="0">
            <a:spAutoFit/>
          </a:bodyPr>
          <a:lstStyle/>
          <a:p>
            <a:r>
              <a:rPr lang="en-CA" dirty="0"/>
              <a:t>Besides programming languages, other formal languages are:</a:t>
            </a:r>
          </a:p>
          <a:p>
            <a:pPr algn="ctr"/>
            <a:endParaRPr lang="en-CA" dirty="0"/>
          </a:p>
          <a:p>
            <a:pPr marL="285750" indent="-285750">
              <a:buFont typeface="Arial" panose="020B0604020202020204" pitchFamily="34" charset="0"/>
              <a:buChar char="•"/>
            </a:pPr>
            <a:r>
              <a:rPr lang="en-CA" dirty="0"/>
              <a:t>Logic</a:t>
            </a:r>
            <a:br>
              <a:rPr lang="en-CA" dirty="0"/>
            </a:br>
            <a:r>
              <a:rPr lang="en-CA" dirty="0"/>
              <a:t>(P ∧ Q) ⟹ (R ∨ S)</a:t>
            </a:r>
          </a:p>
          <a:p>
            <a:pPr marL="285750" indent="-285750">
              <a:buFont typeface="Arial" panose="020B0604020202020204" pitchFamily="34" charset="0"/>
              <a:buChar char="•"/>
            </a:pPr>
            <a:r>
              <a:rPr lang="en-CA" dirty="0"/>
              <a:t>Chemical formulas</a:t>
            </a:r>
            <a:br>
              <a:rPr lang="en-CA" dirty="0"/>
            </a:br>
            <a:r>
              <a:rPr lang="en-CA" dirty="0"/>
              <a:t>Mg(</a:t>
            </a:r>
            <a:r>
              <a:rPr lang="en-CA" dirty="0" err="1"/>
              <a:t>ClO</a:t>
            </a:r>
            <a:r>
              <a:rPr lang="en-CA" dirty="0"/>
              <a:t>₄)₂</a:t>
            </a:r>
          </a:p>
          <a:p>
            <a:pPr marL="285750" indent="-285750">
              <a:buFont typeface="Arial" panose="020B0604020202020204" pitchFamily="34" charset="0"/>
              <a:buChar char="•"/>
            </a:pPr>
            <a:r>
              <a:rPr lang="en-CA" dirty="0"/>
              <a:t>chess notation</a:t>
            </a:r>
            <a:br>
              <a:rPr lang="en-CA" dirty="0"/>
            </a:br>
            <a:r>
              <a:rPr lang="en-US" altLang="en-US" dirty="0">
                <a:latin typeface="Google Sans"/>
              </a:rPr>
              <a:t>e4 e5 Nf3 Nc6 Bb5 a6 Bxc6+ O-O Qh7#</a:t>
            </a:r>
            <a:endParaRPr lang="en-US" altLang="en-US" sz="1050" dirty="0"/>
          </a:p>
          <a:p>
            <a:pPr marL="285750" indent="-285750">
              <a:buFont typeface="Arial" panose="020B0604020202020204" pitchFamily="34" charset="0"/>
              <a:buChar char="•"/>
            </a:pPr>
            <a:endParaRPr lang="en-CA" dirty="0"/>
          </a:p>
        </p:txBody>
      </p:sp>
      <p:sp>
        <p:nvSpPr>
          <p:cNvPr id="5" name="Rectangle 1">
            <a:extLst>
              <a:ext uri="{FF2B5EF4-FFF2-40B4-BE49-F238E27FC236}">
                <a16:creationId xmlns:a16="http://schemas.microsoft.com/office/drawing/2014/main" id="{7F3C8405-E919-D699-2FA1-CE3D508AE1DE}"/>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74589" rIns="0" bIns="98394"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Google Sans"/>
              </a:rPr>
              <a:t>e4 e5 Nf3 Nc6 Bb5 a6 Bxc6+ O-O Qh7#</a:t>
            </a:r>
            <a:endParaRPr kumimoji="0" lang="en-US" altLang="en-US" sz="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 name="Rectangle 4">
            <a:extLst>
              <a:ext uri="{FF2B5EF4-FFF2-40B4-BE49-F238E27FC236}">
                <a16:creationId xmlns:a16="http://schemas.microsoft.com/office/drawing/2014/main" id="{7C515269-F96E-7B14-5510-BB6368747DFA}"/>
              </a:ext>
            </a:extLst>
          </p:cNvPr>
          <p:cNvSpPr>
            <a:spLocks noChangeArrowheads="1"/>
          </p:cNvSpPr>
          <p:nvPr/>
        </p:nvSpPr>
        <p:spPr bwMode="auto">
          <a:xfrm>
            <a:off x="457200" y="92865"/>
            <a:ext cx="65" cy="7286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74589" rIns="0" bIns="98394"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924456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74B902-B00F-9A60-C5CB-966C120CAE31}"/>
              </a:ext>
            </a:extLst>
          </p:cNvPr>
          <p:cNvSpPr>
            <a:spLocks noGrp="1"/>
          </p:cNvSpPr>
          <p:nvPr>
            <p:ph type="title"/>
          </p:nvPr>
        </p:nvSpPr>
        <p:spPr/>
        <p:txBody>
          <a:bodyPr/>
          <a:lstStyle/>
          <a:p>
            <a:r>
              <a:rPr lang="en-CA" dirty="0"/>
              <a:t>Formal Languages</a:t>
            </a:r>
          </a:p>
        </p:txBody>
      </p:sp>
      <p:sp>
        <p:nvSpPr>
          <p:cNvPr id="3" name="Content Placeholder 2">
            <a:extLst>
              <a:ext uri="{FF2B5EF4-FFF2-40B4-BE49-F238E27FC236}">
                <a16:creationId xmlns:a16="http://schemas.microsoft.com/office/drawing/2014/main" id="{98A8E8F5-CA50-08D5-90EF-A6B808F7483C}"/>
              </a:ext>
            </a:extLst>
          </p:cNvPr>
          <p:cNvSpPr>
            <a:spLocks noGrp="1"/>
          </p:cNvSpPr>
          <p:nvPr>
            <p:ph idx="1"/>
          </p:nvPr>
        </p:nvSpPr>
        <p:spPr/>
        <p:txBody>
          <a:bodyPr/>
          <a:lstStyle/>
          <a:p>
            <a:pPr marL="0" indent="0">
              <a:buNone/>
            </a:pPr>
            <a:r>
              <a:rPr lang="en-CA" dirty="0">
                <a:latin typeface="Consolas" panose="020B0609020204030204" pitchFamily="49" charset="0"/>
                <a:cs typeface="Consolas" panose="020B0609020204030204" pitchFamily="49" charset="0"/>
              </a:rPr>
              <a:t>print('Hi!')   # ok</a:t>
            </a:r>
          </a:p>
          <a:p>
            <a:pPr marL="0" indent="0">
              <a:buNone/>
            </a:pPr>
            <a:r>
              <a:rPr lang="en-CA" dirty="0">
                <a:latin typeface="Consolas" panose="020B0609020204030204" pitchFamily="49" charset="0"/>
                <a:cs typeface="Consolas" panose="020B0609020204030204" pitchFamily="49" charset="0"/>
              </a:rPr>
              <a:t>Print('Hi!')   # error</a:t>
            </a:r>
          </a:p>
          <a:p>
            <a:pPr marL="0" indent="0">
              <a:buNone/>
            </a:pPr>
            <a:r>
              <a:rPr lang="en-CA" dirty="0">
                <a:latin typeface="Consolas" panose="020B0609020204030204" pitchFamily="49" charset="0"/>
                <a:cs typeface="Consolas" panose="020B0609020204030204" pitchFamily="49" charset="0"/>
              </a:rPr>
              <a:t>print('Hi!")   # error</a:t>
            </a:r>
          </a:p>
          <a:p>
            <a:pPr marL="0" indent="0">
              <a:buNone/>
            </a:pPr>
            <a:r>
              <a:rPr lang="en-CA" dirty="0">
                <a:latin typeface="Consolas" panose="020B0609020204030204" pitchFamily="49" charset="0"/>
                <a:cs typeface="Consolas" panose="020B0609020204030204" pitchFamily="49" charset="0"/>
              </a:rPr>
              <a:t> print('Hi!')  # error</a:t>
            </a:r>
          </a:p>
          <a:p>
            <a:endParaRPr lang="en-CA" dirty="0"/>
          </a:p>
        </p:txBody>
      </p:sp>
      <p:sp>
        <p:nvSpPr>
          <p:cNvPr id="4" name="TextBox 3">
            <a:extLst>
              <a:ext uri="{FF2B5EF4-FFF2-40B4-BE49-F238E27FC236}">
                <a16:creationId xmlns:a16="http://schemas.microsoft.com/office/drawing/2014/main" id="{C4A18D26-0A05-1E77-DB1B-5DD5F78809C6}"/>
              </a:ext>
            </a:extLst>
          </p:cNvPr>
          <p:cNvSpPr txBox="1"/>
          <p:nvPr/>
        </p:nvSpPr>
        <p:spPr>
          <a:xfrm>
            <a:off x="6845659" y="2049995"/>
            <a:ext cx="3871444" cy="1200329"/>
          </a:xfrm>
          <a:prstGeom prst="rect">
            <a:avLst/>
          </a:prstGeom>
          <a:solidFill>
            <a:srgbClr val="FFFF00"/>
          </a:solidFill>
        </p:spPr>
        <p:txBody>
          <a:bodyPr wrap="none" rtlCol="0">
            <a:spAutoFit/>
          </a:bodyPr>
          <a:lstStyle/>
          <a:p>
            <a:pPr algn="ctr"/>
            <a:r>
              <a:rPr lang="en-CA" dirty="0"/>
              <a:t>Part of the challenge of learning</a:t>
            </a:r>
          </a:p>
          <a:p>
            <a:pPr algn="ctr"/>
            <a:r>
              <a:rPr lang="en-CA" dirty="0"/>
              <a:t>to program is getting used to the </a:t>
            </a:r>
          </a:p>
          <a:p>
            <a:pPr algn="ctr"/>
            <a:r>
              <a:rPr lang="en-CA" dirty="0"/>
              <a:t>strictness of using a formal language.</a:t>
            </a:r>
          </a:p>
          <a:p>
            <a:pPr algn="ctr"/>
            <a:r>
              <a:rPr lang="en-CA" dirty="0"/>
              <a:t>It can be frustrating at first!</a:t>
            </a:r>
          </a:p>
        </p:txBody>
      </p:sp>
    </p:spTree>
    <p:extLst>
      <p:ext uri="{BB962C8B-B14F-4D97-AF65-F5344CB8AC3E}">
        <p14:creationId xmlns:p14="http://schemas.microsoft.com/office/powerpoint/2010/main" val="27562540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74B902-B00F-9A60-C5CB-966C120CAE31}"/>
              </a:ext>
            </a:extLst>
          </p:cNvPr>
          <p:cNvSpPr>
            <a:spLocks noGrp="1"/>
          </p:cNvSpPr>
          <p:nvPr>
            <p:ph type="title"/>
          </p:nvPr>
        </p:nvSpPr>
        <p:spPr/>
        <p:txBody>
          <a:bodyPr/>
          <a:lstStyle/>
          <a:p>
            <a:r>
              <a:rPr lang="en-CA" dirty="0"/>
              <a:t>Formal Languages</a:t>
            </a:r>
          </a:p>
        </p:txBody>
      </p:sp>
      <p:sp>
        <p:nvSpPr>
          <p:cNvPr id="3" name="Content Placeholder 2">
            <a:extLst>
              <a:ext uri="{FF2B5EF4-FFF2-40B4-BE49-F238E27FC236}">
                <a16:creationId xmlns:a16="http://schemas.microsoft.com/office/drawing/2014/main" id="{98A8E8F5-CA50-08D5-90EF-A6B808F7483C}"/>
              </a:ext>
            </a:extLst>
          </p:cNvPr>
          <p:cNvSpPr>
            <a:spLocks noGrp="1"/>
          </p:cNvSpPr>
          <p:nvPr>
            <p:ph idx="1"/>
          </p:nvPr>
        </p:nvSpPr>
        <p:spPr>
          <a:xfrm>
            <a:off x="838200" y="1825625"/>
            <a:ext cx="11353800" cy="4351338"/>
          </a:xfrm>
        </p:spPr>
        <p:txBody>
          <a:bodyPr/>
          <a:lstStyle/>
          <a:p>
            <a:pPr marL="0" indent="0">
              <a:buNone/>
            </a:pPr>
            <a:r>
              <a:rPr lang="en-CA" dirty="0">
                <a:latin typeface="Consolas" panose="020B0609020204030204" pitchFamily="49" charset="0"/>
                <a:cs typeface="Consolas" panose="020B0609020204030204" pitchFamily="49" charset="0"/>
              </a:rPr>
              <a:t>print('Hi!')   # ok</a:t>
            </a:r>
          </a:p>
          <a:p>
            <a:pPr marL="0" indent="0">
              <a:buNone/>
            </a:pPr>
            <a:r>
              <a:rPr lang="en-CA" dirty="0">
                <a:latin typeface="Consolas" panose="020B0609020204030204" pitchFamily="49" charset="0"/>
                <a:cs typeface="Consolas" panose="020B0609020204030204" pitchFamily="49" charset="0"/>
              </a:rPr>
              <a:t>Print('Hi!')   # error: </a:t>
            </a:r>
            <a:r>
              <a:rPr lang="en-CA" dirty="0">
                <a:solidFill>
                  <a:srgbClr val="FF0000"/>
                </a:solidFill>
                <a:latin typeface="Consolas" panose="020B0609020204030204" pitchFamily="49" charset="0"/>
                <a:cs typeface="Consolas" panose="020B0609020204030204" pitchFamily="49" charset="0"/>
              </a:rPr>
              <a:t>capitalized is incorrect</a:t>
            </a:r>
          </a:p>
          <a:p>
            <a:pPr marL="0" indent="0">
              <a:buNone/>
            </a:pPr>
            <a:r>
              <a:rPr lang="en-CA" dirty="0">
                <a:latin typeface="Consolas" panose="020B0609020204030204" pitchFamily="49" charset="0"/>
                <a:cs typeface="Consolas" panose="020B0609020204030204" pitchFamily="49" charset="0"/>
              </a:rPr>
              <a:t>print('Hi!")   # error: </a:t>
            </a:r>
            <a:r>
              <a:rPr lang="en-CA" dirty="0">
                <a:solidFill>
                  <a:srgbClr val="FF0000"/>
                </a:solidFill>
                <a:latin typeface="Consolas" panose="020B0609020204030204" pitchFamily="49" charset="0"/>
                <a:cs typeface="Consolas" panose="020B0609020204030204" pitchFamily="49" charset="0"/>
              </a:rPr>
              <a:t>mis-matched quotes</a:t>
            </a:r>
          </a:p>
          <a:p>
            <a:pPr marL="0" indent="0">
              <a:buNone/>
            </a:pPr>
            <a:r>
              <a:rPr lang="en-CA" dirty="0">
                <a:latin typeface="Consolas" panose="020B0609020204030204" pitchFamily="49" charset="0"/>
                <a:cs typeface="Consolas" panose="020B0609020204030204" pitchFamily="49" charset="0"/>
              </a:rPr>
              <a:t> print('Hi!')  # error: </a:t>
            </a:r>
            <a:r>
              <a:rPr lang="en-CA" dirty="0">
                <a:solidFill>
                  <a:srgbClr val="FF0000"/>
                </a:solidFill>
                <a:latin typeface="Consolas" panose="020B0609020204030204" pitchFamily="49" charset="0"/>
                <a:cs typeface="Consolas" panose="020B0609020204030204" pitchFamily="49" charset="0"/>
              </a:rPr>
              <a:t>space at beginning</a:t>
            </a:r>
          </a:p>
          <a:p>
            <a:endParaRPr lang="en-CA" dirty="0"/>
          </a:p>
        </p:txBody>
      </p:sp>
      <p:sp>
        <p:nvSpPr>
          <p:cNvPr id="5" name="TextBox 4">
            <a:extLst>
              <a:ext uri="{FF2B5EF4-FFF2-40B4-BE49-F238E27FC236}">
                <a16:creationId xmlns:a16="http://schemas.microsoft.com/office/drawing/2014/main" id="{B646BB83-5AD1-1543-0F3A-BB00160F5DAB}"/>
              </a:ext>
            </a:extLst>
          </p:cNvPr>
          <p:cNvSpPr txBox="1"/>
          <p:nvPr/>
        </p:nvSpPr>
        <p:spPr>
          <a:xfrm>
            <a:off x="7770569" y="681037"/>
            <a:ext cx="3871444" cy="1200329"/>
          </a:xfrm>
          <a:prstGeom prst="rect">
            <a:avLst/>
          </a:prstGeom>
          <a:solidFill>
            <a:srgbClr val="FFFF00"/>
          </a:solidFill>
        </p:spPr>
        <p:txBody>
          <a:bodyPr wrap="none" rtlCol="0">
            <a:spAutoFit/>
          </a:bodyPr>
          <a:lstStyle/>
          <a:p>
            <a:pPr algn="ctr"/>
            <a:r>
              <a:rPr lang="en-CA" dirty="0"/>
              <a:t>Part of the challenge of learning</a:t>
            </a:r>
          </a:p>
          <a:p>
            <a:pPr algn="ctr"/>
            <a:r>
              <a:rPr lang="en-CA" dirty="0"/>
              <a:t>to program is getting used to the </a:t>
            </a:r>
          </a:p>
          <a:p>
            <a:pPr algn="ctr"/>
            <a:r>
              <a:rPr lang="en-CA" dirty="0"/>
              <a:t>strictness of using a formal language.</a:t>
            </a:r>
          </a:p>
          <a:p>
            <a:pPr algn="ctr"/>
            <a:r>
              <a:rPr lang="en-CA" dirty="0"/>
              <a:t>It can be frustrating at first!</a:t>
            </a:r>
          </a:p>
        </p:txBody>
      </p:sp>
    </p:spTree>
    <p:extLst>
      <p:ext uri="{BB962C8B-B14F-4D97-AF65-F5344CB8AC3E}">
        <p14:creationId xmlns:p14="http://schemas.microsoft.com/office/powerpoint/2010/main" val="33484444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447A7A-D215-010A-A458-B2640B4B26D9}"/>
              </a:ext>
            </a:extLst>
          </p:cNvPr>
          <p:cNvSpPr>
            <a:spLocks noGrp="1"/>
          </p:cNvSpPr>
          <p:nvPr>
            <p:ph type="title"/>
          </p:nvPr>
        </p:nvSpPr>
        <p:spPr/>
        <p:txBody>
          <a:bodyPr/>
          <a:lstStyle/>
          <a:p>
            <a:r>
              <a:rPr lang="en-CA" dirty="0"/>
              <a:t>Hello World in Various Languages</a:t>
            </a:r>
          </a:p>
        </p:txBody>
      </p:sp>
      <p:sp>
        <p:nvSpPr>
          <p:cNvPr id="3" name="Content Placeholder 2">
            <a:extLst>
              <a:ext uri="{FF2B5EF4-FFF2-40B4-BE49-F238E27FC236}">
                <a16:creationId xmlns:a16="http://schemas.microsoft.com/office/drawing/2014/main" id="{CDDE56BB-85C7-D749-78C1-283D1AB897C0}"/>
              </a:ext>
            </a:extLst>
          </p:cNvPr>
          <p:cNvSpPr>
            <a:spLocks noGrp="1"/>
          </p:cNvSpPr>
          <p:nvPr>
            <p:ph idx="1"/>
          </p:nvPr>
        </p:nvSpPr>
        <p:spPr/>
        <p:txBody>
          <a:bodyPr/>
          <a:lstStyle/>
          <a:p>
            <a:pPr marL="0" indent="0">
              <a:buNone/>
            </a:pPr>
            <a:r>
              <a:rPr lang="en-CA" dirty="0"/>
              <a:t>Writing a program that prints </a:t>
            </a:r>
            <a:r>
              <a:rPr lang="en-CA" b="1" dirty="0"/>
              <a:t>Hello, world!</a:t>
            </a:r>
            <a:r>
              <a:rPr lang="en-CA" dirty="0"/>
              <a:t> is a classic programming exercise.</a:t>
            </a:r>
          </a:p>
          <a:p>
            <a:pPr marL="0" indent="0">
              <a:buNone/>
            </a:pPr>
            <a:endParaRPr lang="en-CA" dirty="0"/>
          </a:p>
          <a:p>
            <a:pPr marL="0" indent="0">
              <a:buNone/>
            </a:pPr>
            <a:r>
              <a:rPr lang="en-CA" dirty="0"/>
              <a:t>Let’s see how a few popular languages do it …</a:t>
            </a:r>
          </a:p>
        </p:txBody>
      </p:sp>
    </p:spTree>
    <p:extLst>
      <p:ext uri="{BB962C8B-B14F-4D97-AF65-F5344CB8AC3E}">
        <p14:creationId xmlns:p14="http://schemas.microsoft.com/office/powerpoint/2010/main" val="9388494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D60C6D-C3E0-3950-95BE-C1C542D5B175}"/>
              </a:ext>
            </a:extLst>
          </p:cNvPr>
          <p:cNvSpPr>
            <a:spLocks noGrp="1"/>
          </p:cNvSpPr>
          <p:nvPr>
            <p:ph type="title"/>
          </p:nvPr>
        </p:nvSpPr>
        <p:spPr/>
        <p:txBody>
          <a:bodyPr/>
          <a:lstStyle/>
          <a:p>
            <a:r>
              <a:rPr lang="en-CA" dirty="0"/>
              <a:t>Natural Language</a:t>
            </a:r>
          </a:p>
        </p:txBody>
      </p:sp>
      <p:sp>
        <p:nvSpPr>
          <p:cNvPr id="3" name="Content Placeholder 2">
            <a:extLst>
              <a:ext uri="{FF2B5EF4-FFF2-40B4-BE49-F238E27FC236}">
                <a16:creationId xmlns:a16="http://schemas.microsoft.com/office/drawing/2014/main" id="{5B7000D7-3453-5BD4-0A71-EBA2BD423FC9}"/>
              </a:ext>
            </a:extLst>
          </p:cNvPr>
          <p:cNvSpPr>
            <a:spLocks noGrp="1"/>
          </p:cNvSpPr>
          <p:nvPr>
            <p:ph idx="1"/>
          </p:nvPr>
        </p:nvSpPr>
        <p:spPr/>
        <p:txBody>
          <a:bodyPr/>
          <a:lstStyle/>
          <a:p>
            <a:pPr marL="0" indent="0">
              <a:buNone/>
            </a:pPr>
            <a:r>
              <a:rPr lang="en-CA" b="1" dirty="0"/>
              <a:t>English</a:t>
            </a:r>
            <a:r>
              <a:rPr lang="en-CA" dirty="0"/>
              <a:t>: Hello, world!</a:t>
            </a:r>
          </a:p>
          <a:p>
            <a:pPr marL="0" indent="0">
              <a:buNone/>
            </a:pPr>
            <a:endParaRPr lang="en-CA" dirty="0"/>
          </a:p>
          <a:p>
            <a:pPr marL="0" indent="0">
              <a:buNone/>
            </a:pPr>
            <a:r>
              <a:rPr lang="en-CA" b="1" dirty="0"/>
              <a:t>Chinook</a:t>
            </a:r>
            <a:r>
              <a:rPr lang="en-CA" dirty="0"/>
              <a:t>: Wawa Klahowya </a:t>
            </a:r>
            <a:r>
              <a:rPr lang="en-CA" dirty="0" err="1"/>
              <a:t>Hayas</a:t>
            </a:r>
            <a:r>
              <a:rPr lang="en-CA" dirty="0"/>
              <a:t> </a:t>
            </a:r>
            <a:r>
              <a:rPr lang="en-CA" dirty="0" err="1"/>
              <a:t>Klaska</a:t>
            </a:r>
            <a:r>
              <a:rPr lang="en-CA" dirty="0"/>
              <a:t>!</a:t>
            </a:r>
          </a:p>
        </p:txBody>
      </p:sp>
    </p:spTree>
    <p:extLst>
      <p:ext uri="{BB962C8B-B14F-4D97-AF65-F5344CB8AC3E}">
        <p14:creationId xmlns:p14="http://schemas.microsoft.com/office/powerpoint/2010/main" val="38175615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F9A17-767A-E12B-BC3E-F74482A661A8}"/>
              </a:ext>
            </a:extLst>
          </p:cNvPr>
          <p:cNvSpPr>
            <a:spLocks noGrp="1"/>
          </p:cNvSpPr>
          <p:nvPr>
            <p:ph type="title"/>
          </p:nvPr>
        </p:nvSpPr>
        <p:spPr/>
        <p:txBody>
          <a:bodyPr/>
          <a:lstStyle/>
          <a:p>
            <a:r>
              <a:rPr lang="en-CA" dirty="0"/>
              <a:t>Assembly Language</a:t>
            </a:r>
          </a:p>
        </p:txBody>
      </p:sp>
      <p:sp>
        <p:nvSpPr>
          <p:cNvPr id="3" name="Content Placeholder 2">
            <a:extLst>
              <a:ext uri="{FF2B5EF4-FFF2-40B4-BE49-F238E27FC236}">
                <a16:creationId xmlns:a16="http://schemas.microsoft.com/office/drawing/2014/main" id="{50798CC9-C622-B878-F83F-05F196ABC0AF}"/>
              </a:ext>
            </a:extLst>
          </p:cNvPr>
          <p:cNvSpPr>
            <a:spLocks noGrp="1"/>
          </p:cNvSpPr>
          <p:nvPr>
            <p:ph idx="1"/>
          </p:nvPr>
        </p:nvSpPr>
        <p:spPr/>
        <p:txBody>
          <a:bodyPr>
            <a:normAutofit fontScale="55000" lnSpcReduction="20000"/>
          </a:bodyPr>
          <a:lstStyle/>
          <a:p>
            <a:pPr marL="0" indent="0">
              <a:buNone/>
            </a:pPr>
            <a:r>
              <a:rPr lang="en-US" b="0" dirty="0">
                <a:effectLst/>
                <a:latin typeface="Consolas" panose="020B0609020204030204" pitchFamily="49" charset="0"/>
              </a:rPr>
              <a:t>section        .text                   ; declare the .text section</a:t>
            </a:r>
          </a:p>
          <a:p>
            <a:pPr marL="0" indent="0">
              <a:buNone/>
            </a:pPr>
            <a:r>
              <a:rPr lang="en-US" b="0" dirty="0">
                <a:effectLst/>
                <a:latin typeface="Consolas" panose="020B0609020204030204" pitchFamily="49" charset="0"/>
              </a:rPr>
              <a:t>global         _start                  ; has to be declared for the linker (</a:t>
            </a:r>
            <a:r>
              <a:rPr lang="en-US" b="0" dirty="0" err="1">
                <a:effectLst/>
                <a:latin typeface="Consolas" panose="020B0609020204030204" pitchFamily="49" charset="0"/>
              </a:rPr>
              <a:t>ld</a:t>
            </a:r>
            <a:r>
              <a:rPr lang="en-US" b="0" dirty="0">
                <a:effectLst/>
                <a:latin typeface="Consolas" panose="020B0609020204030204" pitchFamily="49" charset="0"/>
              </a:rPr>
              <a:t>)</a:t>
            </a:r>
          </a:p>
          <a:p>
            <a:pPr marL="0" indent="0">
              <a:buNone/>
            </a:pPr>
            <a:r>
              <a:rPr lang="en-US" b="0" dirty="0">
                <a:effectLst/>
                <a:latin typeface="Consolas" panose="020B0609020204030204" pitchFamily="49" charset="0"/>
              </a:rPr>
              <a:t>_start:                                ; entry point for _start</a:t>
            </a:r>
          </a:p>
          <a:p>
            <a:pPr marL="0" indent="0">
              <a:buNone/>
            </a:pPr>
            <a:r>
              <a:rPr lang="en-US" b="0" dirty="0">
                <a:effectLst/>
                <a:latin typeface="Consolas" panose="020B0609020204030204" pitchFamily="49" charset="0"/>
              </a:rPr>
              <a:t>    mov </a:t>
            </a:r>
            <a:r>
              <a:rPr lang="en-US" b="0" dirty="0" err="1">
                <a:effectLst/>
                <a:latin typeface="Consolas" panose="020B0609020204030204" pitchFamily="49" charset="0"/>
              </a:rPr>
              <a:t>edx</a:t>
            </a:r>
            <a:r>
              <a:rPr lang="en-US" b="0" dirty="0">
                <a:effectLst/>
                <a:latin typeface="Consolas" panose="020B0609020204030204" pitchFamily="49" charset="0"/>
              </a:rPr>
              <a:t>, </a:t>
            </a:r>
            <a:r>
              <a:rPr lang="en-US" b="0" dirty="0" err="1">
                <a:effectLst/>
                <a:latin typeface="Consolas" panose="020B0609020204030204" pitchFamily="49" charset="0"/>
              </a:rPr>
              <a:t>len</a:t>
            </a:r>
            <a:r>
              <a:rPr lang="en-US" b="0" dirty="0">
                <a:effectLst/>
                <a:latin typeface="Consolas" panose="020B0609020204030204" pitchFamily="49" charset="0"/>
              </a:rPr>
              <a:t>                       ; "invoke" the </a:t>
            </a:r>
            <a:r>
              <a:rPr lang="en-US" b="0" dirty="0" err="1">
                <a:effectLst/>
                <a:latin typeface="Consolas" panose="020B0609020204030204" pitchFamily="49" charset="0"/>
              </a:rPr>
              <a:t>len</a:t>
            </a:r>
            <a:r>
              <a:rPr lang="en-US" b="0" dirty="0">
                <a:effectLst/>
                <a:latin typeface="Consolas" panose="020B0609020204030204" pitchFamily="49" charset="0"/>
              </a:rPr>
              <a:t> of the message</a:t>
            </a:r>
          </a:p>
          <a:p>
            <a:pPr marL="0" indent="0">
              <a:buNone/>
            </a:pPr>
            <a:r>
              <a:rPr lang="en-US" b="0" dirty="0">
                <a:effectLst/>
                <a:latin typeface="Consolas" panose="020B0609020204030204" pitchFamily="49" charset="0"/>
              </a:rPr>
              <a:t>    mov </a:t>
            </a:r>
            <a:r>
              <a:rPr lang="en-US" b="0" dirty="0" err="1">
                <a:effectLst/>
                <a:latin typeface="Consolas" panose="020B0609020204030204" pitchFamily="49" charset="0"/>
              </a:rPr>
              <a:t>ecx</a:t>
            </a:r>
            <a:r>
              <a:rPr lang="en-US" b="0" dirty="0">
                <a:effectLst/>
                <a:latin typeface="Consolas" panose="020B0609020204030204" pitchFamily="49" charset="0"/>
              </a:rPr>
              <a:t>, msg                       ; "invoke" the message itself</a:t>
            </a:r>
          </a:p>
          <a:p>
            <a:pPr marL="0" indent="0">
              <a:buNone/>
            </a:pPr>
            <a:br>
              <a:rPr lang="en-US" b="0" dirty="0">
                <a:effectLst/>
                <a:latin typeface="Consolas" panose="020B0609020204030204" pitchFamily="49" charset="0"/>
              </a:rPr>
            </a:br>
            <a:r>
              <a:rPr lang="en-US" b="0" dirty="0">
                <a:effectLst/>
                <a:latin typeface="Consolas" panose="020B0609020204030204" pitchFamily="49" charset="0"/>
              </a:rPr>
              <a:t>    mov </a:t>
            </a:r>
            <a:r>
              <a:rPr lang="en-US" b="0" dirty="0" err="1">
                <a:effectLst/>
                <a:latin typeface="Consolas" panose="020B0609020204030204" pitchFamily="49" charset="0"/>
              </a:rPr>
              <a:t>ebx</a:t>
            </a:r>
            <a:r>
              <a:rPr lang="en-US" b="0" dirty="0">
                <a:effectLst/>
                <a:latin typeface="Consolas" panose="020B0609020204030204" pitchFamily="49" charset="0"/>
              </a:rPr>
              <a:t>, 1                         ; set the file descriptor (</a:t>
            </a:r>
            <a:r>
              <a:rPr lang="en-US" b="0" dirty="0" err="1">
                <a:effectLst/>
                <a:latin typeface="Consolas" panose="020B0609020204030204" pitchFamily="49" charset="0"/>
              </a:rPr>
              <a:t>fd</a:t>
            </a:r>
            <a:r>
              <a:rPr lang="en-US" b="0" dirty="0">
                <a:effectLst/>
                <a:latin typeface="Consolas" panose="020B0609020204030204" pitchFamily="49" charset="0"/>
              </a:rPr>
              <a:t>) to </a:t>
            </a:r>
            <a:r>
              <a:rPr lang="en-US" b="0" dirty="0" err="1">
                <a:effectLst/>
                <a:latin typeface="Consolas" panose="020B0609020204030204" pitchFamily="49" charset="0"/>
              </a:rPr>
              <a:t>stdout</a:t>
            </a:r>
            <a:endParaRPr lang="en-US" b="0" dirty="0">
              <a:effectLst/>
              <a:latin typeface="Consolas" panose="020B0609020204030204" pitchFamily="49" charset="0"/>
            </a:endParaRPr>
          </a:p>
          <a:p>
            <a:pPr marL="0" indent="0">
              <a:buNone/>
            </a:pPr>
            <a:br>
              <a:rPr lang="en-US" b="0" dirty="0">
                <a:effectLst/>
                <a:latin typeface="Consolas" panose="020B0609020204030204" pitchFamily="49" charset="0"/>
              </a:rPr>
            </a:br>
            <a:r>
              <a:rPr lang="en-US" b="0" dirty="0">
                <a:effectLst/>
                <a:latin typeface="Consolas" panose="020B0609020204030204" pitchFamily="49" charset="0"/>
              </a:rPr>
              <a:t>    mov </a:t>
            </a:r>
            <a:r>
              <a:rPr lang="en-US" b="0" dirty="0" err="1">
                <a:effectLst/>
                <a:latin typeface="Consolas" panose="020B0609020204030204" pitchFamily="49" charset="0"/>
              </a:rPr>
              <a:t>eax</a:t>
            </a:r>
            <a:r>
              <a:rPr lang="en-US" b="0" dirty="0">
                <a:effectLst/>
                <a:latin typeface="Consolas" panose="020B0609020204030204" pitchFamily="49" charset="0"/>
              </a:rPr>
              <a:t>, 4                         ; system call for "write"   </a:t>
            </a:r>
          </a:p>
          <a:p>
            <a:pPr marL="0" indent="0">
              <a:buNone/>
            </a:pPr>
            <a:r>
              <a:rPr lang="en-US" b="0" dirty="0">
                <a:effectLst/>
                <a:latin typeface="Consolas" panose="020B0609020204030204" pitchFamily="49" charset="0"/>
              </a:rPr>
              <a:t>    int 0x80                           ; call the kernel</a:t>
            </a:r>
          </a:p>
          <a:p>
            <a:pPr marL="0" indent="0">
              <a:buNone/>
            </a:pPr>
            <a:br>
              <a:rPr lang="en-US" b="0" dirty="0">
                <a:effectLst/>
                <a:latin typeface="Consolas" panose="020B0609020204030204" pitchFamily="49" charset="0"/>
              </a:rPr>
            </a:br>
            <a:r>
              <a:rPr lang="en-US" b="0" dirty="0">
                <a:effectLst/>
                <a:latin typeface="Consolas" panose="020B0609020204030204" pitchFamily="49" charset="0"/>
              </a:rPr>
              <a:t>    mov </a:t>
            </a:r>
            <a:r>
              <a:rPr lang="en-US" b="0" dirty="0" err="1">
                <a:effectLst/>
                <a:latin typeface="Consolas" panose="020B0609020204030204" pitchFamily="49" charset="0"/>
              </a:rPr>
              <a:t>eax</a:t>
            </a:r>
            <a:r>
              <a:rPr lang="en-US" b="0" dirty="0">
                <a:effectLst/>
                <a:latin typeface="Consolas" panose="020B0609020204030204" pitchFamily="49" charset="0"/>
              </a:rPr>
              <a:t>, 1                         ; system call for "exit"</a:t>
            </a:r>
          </a:p>
          <a:p>
            <a:pPr marL="0" indent="0">
              <a:buNone/>
            </a:pPr>
            <a:r>
              <a:rPr lang="en-US" b="0" dirty="0">
                <a:effectLst/>
                <a:latin typeface="Consolas" panose="020B0609020204030204" pitchFamily="49" charset="0"/>
              </a:rPr>
              <a:t>    int 0x80                           ; call the kernel</a:t>
            </a:r>
          </a:p>
          <a:p>
            <a:pPr marL="0" indent="0">
              <a:buNone/>
            </a:pPr>
            <a:br>
              <a:rPr lang="en-US" b="0" dirty="0">
                <a:effectLst/>
                <a:latin typeface="Consolas" panose="020B0609020204030204" pitchFamily="49" charset="0"/>
              </a:rPr>
            </a:br>
            <a:r>
              <a:rPr lang="en-US" b="0" dirty="0">
                <a:effectLst/>
                <a:latin typeface="Consolas" panose="020B0609020204030204" pitchFamily="49" charset="0"/>
              </a:rPr>
              <a:t>section        .data                   ; here you declare the data</a:t>
            </a:r>
          </a:p>
          <a:p>
            <a:pPr marL="0" indent="0">
              <a:buNone/>
            </a:pPr>
            <a:r>
              <a:rPr lang="en-US" b="0" dirty="0">
                <a:effectLst/>
                <a:latin typeface="Consolas" panose="020B0609020204030204" pitchFamily="49" charset="0"/>
              </a:rPr>
              <a:t>    msg        </a:t>
            </a:r>
            <a:r>
              <a:rPr lang="en-US" b="0" dirty="0" err="1">
                <a:effectLst/>
                <a:latin typeface="Consolas" panose="020B0609020204030204" pitchFamily="49" charset="0"/>
              </a:rPr>
              <a:t>db</a:t>
            </a:r>
            <a:r>
              <a:rPr lang="en-US" b="0" dirty="0">
                <a:effectLst/>
                <a:latin typeface="Consolas" panose="020B0609020204030204" pitchFamily="49" charset="0"/>
              </a:rPr>
              <a:t> </a:t>
            </a:r>
            <a:r>
              <a:rPr lang="en-US" b="0" dirty="0">
                <a:effectLst/>
                <a:highlight>
                  <a:srgbClr val="FFFF00"/>
                </a:highlight>
                <a:latin typeface="Consolas" panose="020B0609020204030204" pitchFamily="49" charset="0"/>
              </a:rPr>
              <a:t>"Hello world!"</a:t>
            </a:r>
            <a:r>
              <a:rPr lang="en-US" b="0" dirty="0">
                <a:effectLst/>
                <a:latin typeface="Consolas" panose="020B0609020204030204" pitchFamily="49" charset="0"/>
              </a:rPr>
              <a:t>       ; the actual message to use</a:t>
            </a:r>
          </a:p>
          <a:p>
            <a:pPr marL="0" indent="0">
              <a:buNone/>
            </a:pPr>
            <a:r>
              <a:rPr lang="en-US" b="0" dirty="0">
                <a:effectLst/>
                <a:latin typeface="Consolas" panose="020B0609020204030204" pitchFamily="49" charset="0"/>
              </a:rPr>
              <a:t>    </a:t>
            </a:r>
            <a:r>
              <a:rPr lang="en-US" b="0" dirty="0" err="1">
                <a:effectLst/>
                <a:latin typeface="Consolas" panose="020B0609020204030204" pitchFamily="49" charset="0"/>
              </a:rPr>
              <a:t>len</a:t>
            </a:r>
            <a:r>
              <a:rPr lang="en-US" b="0" dirty="0">
                <a:effectLst/>
                <a:latin typeface="Consolas" panose="020B0609020204030204" pitchFamily="49" charset="0"/>
              </a:rPr>
              <a:t>        </a:t>
            </a:r>
            <a:r>
              <a:rPr lang="en-US" b="0" dirty="0" err="1">
                <a:effectLst/>
                <a:latin typeface="Consolas" panose="020B0609020204030204" pitchFamily="49" charset="0"/>
              </a:rPr>
              <a:t>equ</a:t>
            </a:r>
            <a:r>
              <a:rPr lang="en-US" b="0" dirty="0">
                <a:effectLst/>
                <a:latin typeface="Consolas" panose="020B0609020204030204" pitchFamily="49" charset="0"/>
              </a:rPr>
              <a:t> $ -msg              ; get the size of the message</a:t>
            </a:r>
          </a:p>
          <a:p>
            <a:pPr marL="0" indent="0">
              <a:buNone/>
            </a:pPr>
            <a:endParaRPr lang="en-CA" dirty="0"/>
          </a:p>
        </p:txBody>
      </p:sp>
      <p:sp>
        <p:nvSpPr>
          <p:cNvPr id="4" name="TextBox 3">
            <a:extLst>
              <a:ext uri="{FF2B5EF4-FFF2-40B4-BE49-F238E27FC236}">
                <a16:creationId xmlns:a16="http://schemas.microsoft.com/office/drawing/2014/main" id="{B0FB5CCC-97E9-CCC8-53AA-6EBA19E865D1}"/>
              </a:ext>
            </a:extLst>
          </p:cNvPr>
          <p:cNvSpPr txBox="1"/>
          <p:nvPr/>
        </p:nvSpPr>
        <p:spPr>
          <a:xfrm>
            <a:off x="8205469" y="3723392"/>
            <a:ext cx="3850320" cy="2862322"/>
          </a:xfrm>
          <a:prstGeom prst="rect">
            <a:avLst/>
          </a:prstGeom>
          <a:solidFill>
            <a:srgbClr val="FFFF00"/>
          </a:solidFill>
        </p:spPr>
        <p:txBody>
          <a:bodyPr wrap="square" rtlCol="0">
            <a:spAutoFit/>
          </a:bodyPr>
          <a:lstStyle/>
          <a:p>
            <a:r>
              <a:rPr lang="en-CA" b="1" dirty="0"/>
              <a:t>Assembly language </a:t>
            </a:r>
            <a:r>
              <a:rPr lang="en-CA" dirty="0"/>
              <a:t>is  the lowest</a:t>
            </a:r>
            <a:br>
              <a:rPr lang="en-CA" dirty="0"/>
            </a:br>
            <a:r>
              <a:rPr lang="en-CA" dirty="0"/>
              <a:t>level of programming language most</a:t>
            </a:r>
            <a:br>
              <a:rPr lang="en-CA" dirty="0"/>
            </a:br>
            <a:r>
              <a:rPr lang="en-CA" dirty="0"/>
              <a:t>programmers will ever deal with. It is the native language of the computer.</a:t>
            </a:r>
          </a:p>
          <a:p>
            <a:r>
              <a:rPr lang="en-CA" b="1" dirty="0"/>
              <a:t>Pros</a:t>
            </a:r>
          </a:p>
          <a:p>
            <a:pPr marL="285750" indent="-285750">
              <a:buFont typeface="Arial" panose="020B0604020202020204" pitchFamily="34" charset="0"/>
              <a:buChar char="•"/>
            </a:pPr>
            <a:r>
              <a:rPr lang="en-CA" dirty="0"/>
              <a:t>fast, flexible</a:t>
            </a:r>
          </a:p>
          <a:p>
            <a:r>
              <a:rPr lang="en-CA" b="1" dirty="0"/>
              <a:t>Cons</a:t>
            </a:r>
          </a:p>
          <a:p>
            <a:pPr marL="285750" indent="-285750">
              <a:buFont typeface="Arial" panose="020B0604020202020204" pitchFamily="34" charset="0"/>
              <a:buChar char="•"/>
            </a:pPr>
            <a:r>
              <a:rPr lang="en-CA" dirty="0"/>
              <a:t>simple tasks need long programs</a:t>
            </a:r>
          </a:p>
          <a:p>
            <a:pPr marL="285750" indent="-285750">
              <a:buFont typeface="Arial" panose="020B0604020202020204" pitchFamily="34" charset="0"/>
              <a:buChar char="•"/>
            </a:pPr>
            <a:r>
              <a:rPr lang="en-CA" dirty="0"/>
              <a:t>difficult and time-consuming to write and debug</a:t>
            </a:r>
          </a:p>
        </p:txBody>
      </p:sp>
    </p:spTree>
    <p:extLst>
      <p:ext uri="{BB962C8B-B14F-4D97-AF65-F5344CB8AC3E}">
        <p14:creationId xmlns:p14="http://schemas.microsoft.com/office/powerpoint/2010/main" val="42816304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F9A17-767A-E12B-BC3E-F74482A661A8}"/>
              </a:ext>
            </a:extLst>
          </p:cNvPr>
          <p:cNvSpPr>
            <a:spLocks noGrp="1"/>
          </p:cNvSpPr>
          <p:nvPr>
            <p:ph type="title"/>
          </p:nvPr>
        </p:nvSpPr>
        <p:spPr/>
        <p:txBody>
          <a:bodyPr/>
          <a:lstStyle/>
          <a:p>
            <a:r>
              <a:rPr lang="en-CA" dirty="0"/>
              <a:t>C Language</a:t>
            </a:r>
          </a:p>
        </p:txBody>
      </p:sp>
      <p:sp>
        <p:nvSpPr>
          <p:cNvPr id="3" name="Content Placeholder 2">
            <a:extLst>
              <a:ext uri="{FF2B5EF4-FFF2-40B4-BE49-F238E27FC236}">
                <a16:creationId xmlns:a16="http://schemas.microsoft.com/office/drawing/2014/main" id="{50798CC9-C622-B878-F83F-05F196ABC0AF}"/>
              </a:ext>
            </a:extLst>
          </p:cNvPr>
          <p:cNvSpPr>
            <a:spLocks noGrp="1"/>
          </p:cNvSpPr>
          <p:nvPr>
            <p:ph idx="1"/>
          </p:nvPr>
        </p:nvSpPr>
        <p:spPr>
          <a:xfrm>
            <a:off x="838200" y="1825625"/>
            <a:ext cx="6519041" cy="4351338"/>
          </a:xfrm>
        </p:spPr>
        <p:txBody>
          <a:bodyPr>
            <a:normAutofit/>
          </a:bodyPr>
          <a:lstStyle/>
          <a:p>
            <a:pPr marL="0" indent="0">
              <a:buNone/>
            </a:pPr>
            <a:r>
              <a:rPr lang="en-US" b="0" dirty="0">
                <a:effectLst/>
                <a:latin typeface="Consolas" panose="020B0609020204030204" pitchFamily="49" charset="0"/>
              </a:rPr>
              <a:t>#include &lt;</a:t>
            </a:r>
            <a:r>
              <a:rPr lang="en-US" b="0" dirty="0" err="1">
                <a:effectLst/>
                <a:latin typeface="Consolas" panose="020B0609020204030204" pitchFamily="49" charset="0"/>
              </a:rPr>
              <a:t>stdio.h</a:t>
            </a:r>
            <a:r>
              <a:rPr lang="en-US" b="0" dirty="0">
                <a:effectLst/>
                <a:latin typeface="Consolas" panose="020B0609020204030204" pitchFamily="49" charset="0"/>
              </a:rPr>
              <a:t>&gt;</a:t>
            </a:r>
          </a:p>
          <a:p>
            <a:pPr marL="0" indent="0">
              <a:buNone/>
            </a:pPr>
            <a:endParaRPr lang="en-US" b="0" dirty="0">
              <a:effectLst/>
              <a:latin typeface="Consolas" panose="020B0609020204030204" pitchFamily="49" charset="0"/>
            </a:endParaRPr>
          </a:p>
          <a:p>
            <a:pPr marL="0" indent="0">
              <a:buNone/>
            </a:pPr>
            <a:r>
              <a:rPr lang="en-US" b="0" dirty="0">
                <a:effectLst/>
                <a:latin typeface="Consolas" panose="020B0609020204030204" pitchFamily="49" charset="0"/>
              </a:rPr>
              <a:t>int main() </a:t>
            </a:r>
          </a:p>
          <a:p>
            <a:pPr marL="0" indent="0">
              <a:buNone/>
            </a:pPr>
            <a:r>
              <a:rPr lang="en-US" b="0" dirty="0">
                <a:effectLst/>
                <a:latin typeface="Consolas" panose="020B0609020204030204" pitchFamily="49" charset="0"/>
              </a:rPr>
              <a:t>{</a:t>
            </a:r>
          </a:p>
          <a:p>
            <a:pPr marL="0" indent="0">
              <a:buNone/>
            </a:pPr>
            <a:r>
              <a:rPr lang="en-US" b="0" dirty="0">
                <a:effectLst/>
                <a:latin typeface="Consolas" panose="020B0609020204030204" pitchFamily="49" charset="0"/>
              </a:rPr>
              <a:t>    </a:t>
            </a:r>
            <a:r>
              <a:rPr lang="en-US" b="0" dirty="0" err="1">
                <a:effectLst/>
                <a:latin typeface="Consolas" panose="020B0609020204030204" pitchFamily="49" charset="0"/>
              </a:rPr>
              <a:t>printf</a:t>
            </a:r>
            <a:r>
              <a:rPr lang="en-US" b="0" dirty="0">
                <a:effectLst/>
                <a:latin typeface="Consolas" panose="020B0609020204030204" pitchFamily="49" charset="0"/>
              </a:rPr>
              <a:t>("Hello, World!\n");</a:t>
            </a:r>
          </a:p>
          <a:p>
            <a:pPr marL="0" indent="0">
              <a:buNone/>
            </a:pPr>
            <a:r>
              <a:rPr lang="en-US" b="0" dirty="0">
                <a:effectLst/>
                <a:latin typeface="Consolas" panose="020B0609020204030204" pitchFamily="49" charset="0"/>
              </a:rPr>
              <a:t>    return 0;</a:t>
            </a:r>
          </a:p>
          <a:p>
            <a:pPr marL="0" indent="0">
              <a:buNone/>
            </a:pPr>
            <a:r>
              <a:rPr lang="en-US" b="0" dirty="0">
                <a:effectLst/>
                <a:latin typeface="Consolas" panose="020B0609020204030204" pitchFamily="49" charset="0"/>
              </a:rPr>
              <a:t>}</a:t>
            </a:r>
            <a:endParaRPr lang="en-CA" dirty="0"/>
          </a:p>
        </p:txBody>
      </p:sp>
      <p:sp>
        <p:nvSpPr>
          <p:cNvPr id="4" name="TextBox 3">
            <a:extLst>
              <a:ext uri="{FF2B5EF4-FFF2-40B4-BE49-F238E27FC236}">
                <a16:creationId xmlns:a16="http://schemas.microsoft.com/office/drawing/2014/main" id="{B0FB5CCC-97E9-CCC8-53AA-6EBA19E865D1}"/>
              </a:ext>
            </a:extLst>
          </p:cNvPr>
          <p:cNvSpPr txBox="1"/>
          <p:nvPr/>
        </p:nvSpPr>
        <p:spPr>
          <a:xfrm>
            <a:off x="7567449" y="544652"/>
            <a:ext cx="4066198" cy="5078313"/>
          </a:xfrm>
          <a:prstGeom prst="rect">
            <a:avLst/>
          </a:prstGeom>
          <a:solidFill>
            <a:srgbClr val="FFFF00"/>
          </a:solidFill>
        </p:spPr>
        <p:txBody>
          <a:bodyPr wrap="square" rtlCol="0">
            <a:spAutoFit/>
          </a:bodyPr>
          <a:lstStyle/>
          <a:p>
            <a:r>
              <a:rPr lang="en-CA" b="1" dirty="0"/>
              <a:t>C</a:t>
            </a:r>
            <a:r>
              <a:rPr lang="en-CA" dirty="0"/>
              <a:t> is an extremely influential language originally designed to write the </a:t>
            </a:r>
            <a:r>
              <a:rPr lang="en-CA" b="1" dirty="0"/>
              <a:t>Unix</a:t>
            </a:r>
            <a:r>
              <a:rPr lang="en-CA" dirty="0"/>
              <a:t> operating system in the 1970s. Compared to most other programming languages it is quite low-level and fast.</a:t>
            </a:r>
          </a:p>
          <a:p>
            <a:endParaRPr lang="en-CA" b="1" dirty="0"/>
          </a:p>
          <a:p>
            <a:r>
              <a:rPr lang="en-CA" b="1" dirty="0"/>
              <a:t>Pros</a:t>
            </a:r>
            <a:endParaRPr lang="en-CA" dirty="0"/>
          </a:p>
          <a:p>
            <a:pPr marL="285750" indent="-285750">
              <a:buFont typeface="Arial" panose="020B0604020202020204" pitchFamily="34" charset="0"/>
              <a:buChar char="•"/>
            </a:pPr>
            <a:r>
              <a:rPr lang="en-CA" dirty="0"/>
              <a:t>fast, flexible</a:t>
            </a:r>
          </a:p>
          <a:p>
            <a:pPr marL="285750" indent="-285750">
              <a:buFont typeface="Arial" panose="020B0604020202020204" pitchFamily="34" charset="0"/>
              <a:buChar char="•"/>
            </a:pPr>
            <a:r>
              <a:rPr lang="en-CA" dirty="0"/>
              <a:t>easier than assembly</a:t>
            </a:r>
          </a:p>
          <a:p>
            <a:pPr marL="285750" indent="-285750">
              <a:buFont typeface="Arial" panose="020B0604020202020204" pitchFamily="34" charset="0"/>
              <a:buChar char="•"/>
            </a:pPr>
            <a:r>
              <a:rPr lang="en-CA" dirty="0"/>
              <a:t>portable across computers</a:t>
            </a:r>
            <a:endParaRPr lang="en-CA" b="1" dirty="0"/>
          </a:p>
          <a:p>
            <a:endParaRPr lang="en-CA" b="1" dirty="0"/>
          </a:p>
          <a:p>
            <a:r>
              <a:rPr lang="en-CA" b="1" dirty="0"/>
              <a:t>Cons</a:t>
            </a:r>
            <a:endParaRPr lang="en-CA" dirty="0"/>
          </a:p>
          <a:p>
            <a:pPr marL="285750" indent="-285750">
              <a:buFont typeface="Arial" panose="020B0604020202020204" pitchFamily="34" charset="0"/>
              <a:buChar char="•"/>
            </a:pPr>
            <a:r>
              <a:rPr lang="en-CA" dirty="0"/>
              <a:t>not very “programmer friendly”</a:t>
            </a:r>
          </a:p>
          <a:p>
            <a:pPr marL="285750" indent="-285750">
              <a:buFont typeface="Arial" panose="020B0604020202020204" pitchFamily="34" charset="0"/>
              <a:buChar char="•"/>
            </a:pPr>
            <a:r>
              <a:rPr lang="en-CA" dirty="0"/>
              <a:t>designed for programs like operating systems or hardware, and often difficult to use for other applications</a:t>
            </a:r>
          </a:p>
          <a:p>
            <a:pPr marL="285750" indent="-285750">
              <a:buFont typeface="Arial" panose="020B0604020202020204" pitchFamily="34" charset="0"/>
              <a:buChar char="•"/>
            </a:pPr>
            <a:r>
              <a:rPr lang="en-CA" dirty="0"/>
              <a:t>manual memory management (no garbage collection)</a:t>
            </a:r>
          </a:p>
        </p:txBody>
      </p:sp>
    </p:spTree>
    <p:extLst>
      <p:ext uri="{BB962C8B-B14F-4D97-AF65-F5344CB8AC3E}">
        <p14:creationId xmlns:p14="http://schemas.microsoft.com/office/powerpoint/2010/main" val="16172688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F9A17-767A-E12B-BC3E-F74482A661A8}"/>
              </a:ext>
            </a:extLst>
          </p:cNvPr>
          <p:cNvSpPr>
            <a:spLocks noGrp="1"/>
          </p:cNvSpPr>
          <p:nvPr>
            <p:ph type="title"/>
          </p:nvPr>
        </p:nvSpPr>
        <p:spPr/>
        <p:txBody>
          <a:bodyPr/>
          <a:lstStyle/>
          <a:p>
            <a:r>
              <a:rPr lang="en-CA" dirty="0"/>
              <a:t>C++ Language</a:t>
            </a:r>
          </a:p>
        </p:txBody>
      </p:sp>
      <p:sp>
        <p:nvSpPr>
          <p:cNvPr id="3" name="Content Placeholder 2">
            <a:extLst>
              <a:ext uri="{FF2B5EF4-FFF2-40B4-BE49-F238E27FC236}">
                <a16:creationId xmlns:a16="http://schemas.microsoft.com/office/drawing/2014/main" id="{50798CC9-C622-B878-F83F-05F196ABC0AF}"/>
              </a:ext>
            </a:extLst>
          </p:cNvPr>
          <p:cNvSpPr>
            <a:spLocks noGrp="1"/>
          </p:cNvSpPr>
          <p:nvPr>
            <p:ph idx="1"/>
          </p:nvPr>
        </p:nvSpPr>
        <p:spPr/>
        <p:txBody>
          <a:bodyPr>
            <a:normAutofit lnSpcReduction="10000"/>
          </a:bodyPr>
          <a:lstStyle/>
          <a:p>
            <a:pPr marL="0" indent="0">
              <a:buNone/>
            </a:pPr>
            <a:r>
              <a:rPr lang="en-US" b="0" dirty="0">
                <a:effectLst/>
                <a:latin typeface="Consolas" panose="020B0609020204030204" pitchFamily="49" charset="0"/>
              </a:rPr>
              <a:t>#include &lt;iostream&gt;</a:t>
            </a:r>
          </a:p>
          <a:p>
            <a:pPr marL="0" indent="0">
              <a:buNone/>
            </a:pPr>
            <a:endParaRPr lang="en-US" b="0" dirty="0">
              <a:effectLst/>
              <a:latin typeface="Consolas" panose="020B0609020204030204" pitchFamily="49" charset="0"/>
            </a:endParaRPr>
          </a:p>
          <a:p>
            <a:pPr marL="0" indent="0">
              <a:buNone/>
            </a:pPr>
            <a:r>
              <a:rPr lang="en-US" b="0" dirty="0">
                <a:effectLst/>
                <a:latin typeface="Consolas" panose="020B0609020204030204" pitchFamily="49" charset="0"/>
              </a:rPr>
              <a:t>using namespace std;</a:t>
            </a:r>
          </a:p>
          <a:p>
            <a:pPr marL="0" indent="0">
              <a:buNone/>
            </a:pPr>
            <a:endParaRPr lang="en-US" b="0" dirty="0">
              <a:effectLst/>
              <a:latin typeface="Consolas" panose="020B0609020204030204" pitchFamily="49" charset="0"/>
            </a:endParaRPr>
          </a:p>
          <a:p>
            <a:pPr marL="0" indent="0">
              <a:buNone/>
            </a:pPr>
            <a:r>
              <a:rPr lang="en-US" b="0" dirty="0">
                <a:effectLst/>
                <a:latin typeface="Consolas" panose="020B0609020204030204" pitchFamily="49" charset="0"/>
              </a:rPr>
              <a:t>int main() </a:t>
            </a:r>
          </a:p>
          <a:p>
            <a:pPr marL="0" indent="0">
              <a:buNone/>
            </a:pPr>
            <a:r>
              <a:rPr lang="en-US" b="0" dirty="0">
                <a:effectLst/>
                <a:latin typeface="Consolas" panose="020B0609020204030204" pitchFamily="49" charset="0"/>
              </a:rPr>
              <a:t>{</a:t>
            </a:r>
          </a:p>
          <a:p>
            <a:pPr marL="0" indent="0">
              <a:buNone/>
            </a:pPr>
            <a:r>
              <a:rPr lang="en-US" b="0" dirty="0">
                <a:effectLst/>
                <a:latin typeface="Consolas" panose="020B0609020204030204" pitchFamily="49" charset="0"/>
              </a:rPr>
              <a:t>    cout &lt;&lt; "Hello, World!" &lt;&lt; </a:t>
            </a:r>
            <a:r>
              <a:rPr lang="en-US" b="0" dirty="0" err="1">
                <a:effectLst/>
                <a:latin typeface="Consolas" panose="020B0609020204030204" pitchFamily="49" charset="0"/>
              </a:rPr>
              <a:t>endl</a:t>
            </a:r>
            <a:r>
              <a:rPr lang="en-US" b="0" dirty="0">
                <a:effectLst/>
                <a:latin typeface="Consolas" panose="020B0609020204030204" pitchFamily="49" charset="0"/>
              </a:rPr>
              <a:t>;</a:t>
            </a:r>
          </a:p>
          <a:p>
            <a:pPr marL="0" indent="0">
              <a:buNone/>
            </a:pPr>
            <a:r>
              <a:rPr lang="en-US" b="0" dirty="0">
                <a:effectLst/>
                <a:latin typeface="Consolas" panose="020B0609020204030204" pitchFamily="49" charset="0"/>
              </a:rPr>
              <a:t>    return 0;</a:t>
            </a:r>
          </a:p>
          <a:p>
            <a:pPr marL="0" indent="0">
              <a:buNone/>
            </a:pPr>
            <a:r>
              <a:rPr lang="en-US" b="0" dirty="0">
                <a:effectLst/>
                <a:latin typeface="Consolas" panose="020B0609020204030204" pitchFamily="49" charset="0"/>
              </a:rPr>
              <a:t>}</a:t>
            </a:r>
            <a:endParaRPr lang="en-CA" dirty="0"/>
          </a:p>
        </p:txBody>
      </p:sp>
      <p:sp>
        <p:nvSpPr>
          <p:cNvPr id="4" name="TextBox 3">
            <a:extLst>
              <a:ext uri="{FF2B5EF4-FFF2-40B4-BE49-F238E27FC236}">
                <a16:creationId xmlns:a16="http://schemas.microsoft.com/office/drawing/2014/main" id="{B0FB5CCC-97E9-CCC8-53AA-6EBA19E865D1}"/>
              </a:ext>
            </a:extLst>
          </p:cNvPr>
          <p:cNvSpPr txBox="1"/>
          <p:nvPr/>
        </p:nvSpPr>
        <p:spPr>
          <a:xfrm>
            <a:off x="8151188" y="1166842"/>
            <a:ext cx="3850320" cy="4524315"/>
          </a:xfrm>
          <a:prstGeom prst="rect">
            <a:avLst/>
          </a:prstGeom>
          <a:solidFill>
            <a:srgbClr val="FFFF00"/>
          </a:solidFill>
        </p:spPr>
        <p:txBody>
          <a:bodyPr wrap="square" rtlCol="0">
            <a:spAutoFit/>
          </a:bodyPr>
          <a:lstStyle/>
          <a:p>
            <a:r>
              <a:rPr lang="en-CA" b="1" dirty="0"/>
              <a:t>C++</a:t>
            </a:r>
            <a:r>
              <a:rPr lang="en-CA" dirty="0"/>
              <a:t> is essentially C but with extra features, such as object-oriented programming (OOP) and generics. </a:t>
            </a:r>
          </a:p>
          <a:p>
            <a:endParaRPr lang="en-CA" dirty="0"/>
          </a:p>
          <a:p>
            <a:r>
              <a:rPr lang="en-CA" b="1" dirty="0"/>
              <a:t>Pros</a:t>
            </a:r>
          </a:p>
          <a:p>
            <a:pPr marL="285750" indent="-285750">
              <a:buFont typeface="Arial" panose="020B0604020202020204" pitchFamily="34" charset="0"/>
              <a:buChar char="•"/>
            </a:pPr>
            <a:r>
              <a:rPr lang="en-CA" dirty="0"/>
              <a:t>fast, flexible</a:t>
            </a:r>
          </a:p>
          <a:p>
            <a:pPr marL="285750" indent="-285750">
              <a:buFont typeface="Arial" panose="020B0604020202020204" pitchFamily="34" charset="0"/>
              <a:buChar char="•"/>
            </a:pPr>
            <a:r>
              <a:rPr lang="en-CA" dirty="0"/>
              <a:t>often easier than C</a:t>
            </a:r>
          </a:p>
          <a:p>
            <a:pPr marL="285750" indent="-285750">
              <a:buFont typeface="Arial" panose="020B0604020202020204" pitchFamily="34" charset="0"/>
              <a:buChar char="•"/>
            </a:pPr>
            <a:r>
              <a:rPr lang="en-CA" dirty="0"/>
              <a:t>more support for writing big programs</a:t>
            </a:r>
          </a:p>
          <a:p>
            <a:r>
              <a:rPr lang="en-CA" b="1" dirty="0"/>
              <a:t>Cons</a:t>
            </a:r>
          </a:p>
          <a:p>
            <a:pPr marL="285750" indent="-285750">
              <a:buFont typeface="Arial" panose="020B0604020202020204" pitchFamily="34" charset="0"/>
              <a:buChar char="•"/>
            </a:pPr>
            <a:r>
              <a:rPr lang="en-CA" dirty="0"/>
              <a:t>huge and complex (new features added all the time; old features rarely removed)</a:t>
            </a:r>
          </a:p>
          <a:p>
            <a:pPr marL="285750" indent="-285750">
              <a:buFont typeface="Arial" panose="020B0604020202020204" pitchFamily="34" charset="0"/>
              <a:buChar char="•"/>
            </a:pPr>
            <a:r>
              <a:rPr lang="en-CA" dirty="0"/>
              <a:t>still relatively low-level</a:t>
            </a:r>
          </a:p>
          <a:p>
            <a:pPr marL="285750" indent="-285750">
              <a:buFont typeface="Arial" panose="020B0604020202020204" pitchFamily="34" charset="0"/>
              <a:buChar char="•"/>
            </a:pPr>
            <a:r>
              <a:rPr lang="en-CA" dirty="0"/>
              <a:t>memory is managed manually (no garbage collection)</a:t>
            </a:r>
          </a:p>
        </p:txBody>
      </p:sp>
    </p:spTree>
    <p:extLst>
      <p:ext uri="{BB962C8B-B14F-4D97-AF65-F5344CB8AC3E}">
        <p14:creationId xmlns:p14="http://schemas.microsoft.com/office/powerpoint/2010/main" val="39378165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F9A17-767A-E12B-BC3E-F74482A661A8}"/>
              </a:ext>
            </a:extLst>
          </p:cNvPr>
          <p:cNvSpPr>
            <a:spLocks noGrp="1"/>
          </p:cNvSpPr>
          <p:nvPr>
            <p:ph type="title"/>
          </p:nvPr>
        </p:nvSpPr>
        <p:spPr/>
        <p:txBody>
          <a:bodyPr/>
          <a:lstStyle/>
          <a:p>
            <a:r>
              <a:rPr lang="en-CA" dirty="0"/>
              <a:t>Java Language</a:t>
            </a:r>
          </a:p>
        </p:txBody>
      </p:sp>
      <p:sp>
        <p:nvSpPr>
          <p:cNvPr id="3" name="Content Placeholder 2">
            <a:extLst>
              <a:ext uri="{FF2B5EF4-FFF2-40B4-BE49-F238E27FC236}">
                <a16:creationId xmlns:a16="http://schemas.microsoft.com/office/drawing/2014/main" id="{50798CC9-C622-B878-F83F-05F196ABC0AF}"/>
              </a:ext>
            </a:extLst>
          </p:cNvPr>
          <p:cNvSpPr>
            <a:spLocks noGrp="1"/>
          </p:cNvSpPr>
          <p:nvPr>
            <p:ph idx="1"/>
          </p:nvPr>
        </p:nvSpPr>
        <p:spPr/>
        <p:txBody>
          <a:bodyPr>
            <a:normAutofit/>
          </a:bodyPr>
          <a:lstStyle/>
          <a:p>
            <a:pPr marL="0" indent="0">
              <a:buNone/>
            </a:pPr>
            <a:r>
              <a:rPr lang="en-US" b="0" dirty="0">
                <a:effectLst/>
                <a:latin typeface="Consolas" panose="020B0609020204030204" pitchFamily="49" charset="0"/>
              </a:rPr>
              <a:t>public class HelloWorld {</a:t>
            </a:r>
          </a:p>
          <a:p>
            <a:pPr marL="0" indent="0">
              <a:buNone/>
            </a:pPr>
            <a:r>
              <a:rPr lang="en-US" b="0" dirty="0">
                <a:effectLst/>
                <a:latin typeface="Consolas" panose="020B0609020204030204" pitchFamily="49" charset="0"/>
              </a:rPr>
              <a:t>    public static void main(String[] </a:t>
            </a:r>
            <a:r>
              <a:rPr lang="en-US" b="0" dirty="0" err="1">
                <a:effectLst/>
                <a:latin typeface="Consolas" panose="020B0609020204030204" pitchFamily="49" charset="0"/>
              </a:rPr>
              <a:t>args</a:t>
            </a:r>
            <a:r>
              <a:rPr lang="en-US" b="0" dirty="0">
                <a:effectLst/>
                <a:latin typeface="Consolas" panose="020B0609020204030204" pitchFamily="49" charset="0"/>
              </a:rPr>
              <a:t>) {</a:t>
            </a:r>
          </a:p>
          <a:p>
            <a:pPr marL="0" indent="0">
              <a:buNone/>
            </a:pPr>
            <a:r>
              <a:rPr lang="en-US" b="0" dirty="0">
                <a:effectLst/>
                <a:latin typeface="Consolas" panose="020B0609020204030204" pitchFamily="49" charset="0"/>
              </a:rPr>
              <a:t>        </a:t>
            </a:r>
            <a:r>
              <a:rPr lang="en-US" b="0" dirty="0" err="1">
                <a:effectLst/>
                <a:latin typeface="Consolas" panose="020B0609020204030204" pitchFamily="49" charset="0"/>
              </a:rPr>
              <a:t>System.out.println</a:t>
            </a:r>
            <a:r>
              <a:rPr lang="en-US" b="0" dirty="0">
                <a:effectLst/>
                <a:latin typeface="Consolas" panose="020B0609020204030204" pitchFamily="49" charset="0"/>
              </a:rPr>
              <a:t>("Hello, World!");</a:t>
            </a:r>
          </a:p>
          <a:p>
            <a:pPr marL="0" indent="0">
              <a:buNone/>
            </a:pPr>
            <a:r>
              <a:rPr lang="en-US" b="0" dirty="0">
                <a:effectLst/>
                <a:latin typeface="Consolas" panose="020B0609020204030204" pitchFamily="49" charset="0"/>
              </a:rPr>
              <a:t>    }</a:t>
            </a:r>
          </a:p>
          <a:p>
            <a:pPr marL="0" indent="0">
              <a:buNone/>
            </a:pPr>
            <a:r>
              <a:rPr lang="en-US" b="0" dirty="0">
                <a:effectLst/>
                <a:latin typeface="Consolas" panose="020B0609020204030204" pitchFamily="49" charset="0"/>
              </a:rPr>
              <a:t>}</a:t>
            </a:r>
            <a:endParaRPr lang="en-CA" dirty="0"/>
          </a:p>
        </p:txBody>
      </p:sp>
      <p:sp>
        <p:nvSpPr>
          <p:cNvPr id="4" name="TextBox 3">
            <a:extLst>
              <a:ext uri="{FF2B5EF4-FFF2-40B4-BE49-F238E27FC236}">
                <a16:creationId xmlns:a16="http://schemas.microsoft.com/office/drawing/2014/main" id="{B0FB5CCC-97E9-CCC8-53AA-6EBA19E865D1}"/>
              </a:ext>
            </a:extLst>
          </p:cNvPr>
          <p:cNvSpPr txBox="1"/>
          <p:nvPr/>
        </p:nvSpPr>
        <p:spPr>
          <a:xfrm>
            <a:off x="5752403" y="3309176"/>
            <a:ext cx="6158446" cy="3416320"/>
          </a:xfrm>
          <a:prstGeom prst="rect">
            <a:avLst/>
          </a:prstGeom>
          <a:solidFill>
            <a:srgbClr val="FFFF00"/>
          </a:solidFill>
        </p:spPr>
        <p:txBody>
          <a:bodyPr wrap="square" rtlCol="0">
            <a:spAutoFit/>
          </a:bodyPr>
          <a:lstStyle/>
          <a:p>
            <a:r>
              <a:rPr lang="en-CA" b="1" dirty="0"/>
              <a:t>Java </a:t>
            </a:r>
            <a:r>
              <a:rPr lang="en-CA" dirty="0"/>
              <a:t>was designed as an alternative to C++, but a  little more programmer friendly and with a stronger commitment to </a:t>
            </a:r>
            <a:r>
              <a:rPr lang="en-CA" b="1" dirty="0"/>
              <a:t>object-oriented programming </a:t>
            </a:r>
            <a:r>
              <a:rPr lang="en-CA" dirty="0"/>
              <a:t>(</a:t>
            </a:r>
            <a:r>
              <a:rPr lang="en-CA" b="1" dirty="0"/>
              <a:t>OOP</a:t>
            </a:r>
            <a:r>
              <a:rPr lang="en-CA" dirty="0"/>
              <a:t>).</a:t>
            </a:r>
          </a:p>
          <a:p>
            <a:endParaRPr lang="en-CA" dirty="0"/>
          </a:p>
          <a:p>
            <a:r>
              <a:rPr lang="en-CA" b="1" dirty="0"/>
              <a:t>Pros</a:t>
            </a:r>
          </a:p>
          <a:p>
            <a:pPr marL="285750" indent="-285750">
              <a:buFont typeface="Arial" panose="020B0604020202020204" pitchFamily="34" charset="0"/>
              <a:buChar char="•"/>
            </a:pPr>
            <a:r>
              <a:rPr lang="en-CA" dirty="0"/>
              <a:t>OOP is built-in</a:t>
            </a:r>
          </a:p>
          <a:p>
            <a:pPr marL="285750" indent="-285750">
              <a:buFont typeface="Arial" panose="020B0604020202020204" pitchFamily="34" charset="0"/>
              <a:buChar char="•"/>
            </a:pPr>
            <a:r>
              <a:rPr lang="en-CA" dirty="0"/>
              <a:t>memory management is automatic (garbage collected)</a:t>
            </a:r>
          </a:p>
          <a:p>
            <a:pPr marL="285750" indent="-285750">
              <a:buFont typeface="Arial" panose="020B0604020202020204" pitchFamily="34" charset="0"/>
              <a:buChar char="•"/>
            </a:pPr>
            <a:r>
              <a:rPr lang="en-CA" dirty="0"/>
              <a:t>on the surface, looks like C/C++, but a little more “programmer friendly”</a:t>
            </a:r>
          </a:p>
          <a:p>
            <a:r>
              <a:rPr lang="en-CA" b="1" dirty="0"/>
              <a:t>Cons</a:t>
            </a:r>
          </a:p>
          <a:p>
            <a:pPr marL="285750" indent="-285750">
              <a:buFont typeface="Arial" panose="020B0604020202020204" pitchFamily="34" charset="0"/>
              <a:buChar char="•"/>
            </a:pPr>
            <a:r>
              <a:rPr lang="en-CA" dirty="0"/>
              <a:t>verbose --- many simple programs are quite long</a:t>
            </a:r>
          </a:p>
          <a:p>
            <a:pPr marL="285750" indent="-285750">
              <a:buFont typeface="Arial" panose="020B0604020202020204" pitchFamily="34" charset="0"/>
              <a:buChar char="•"/>
            </a:pPr>
            <a:r>
              <a:rPr lang="en-CA" dirty="0"/>
              <a:t>OOP is not the best choice for everything</a:t>
            </a:r>
          </a:p>
        </p:txBody>
      </p:sp>
    </p:spTree>
    <p:extLst>
      <p:ext uri="{BB962C8B-B14F-4D97-AF65-F5344CB8AC3E}">
        <p14:creationId xmlns:p14="http://schemas.microsoft.com/office/powerpoint/2010/main" val="38532241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F9A17-767A-E12B-BC3E-F74482A661A8}"/>
              </a:ext>
            </a:extLst>
          </p:cNvPr>
          <p:cNvSpPr>
            <a:spLocks noGrp="1"/>
          </p:cNvSpPr>
          <p:nvPr>
            <p:ph type="title"/>
          </p:nvPr>
        </p:nvSpPr>
        <p:spPr/>
        <p:txBody>
          <a:bodyPr/>
          <a:lstStyle/>
          <a:p>
            <a:r>
              <a:rPr lang="en-CA" dirty="0"/>
              <a:t>Go Language</a:t>
            </a:r>
          </a:p>
        </p:txBody>
      </p:sp>
      <p:sp>
        <p:nvSpPr>
          <p:cNvPr id="3" name="Content Placeholder 2">
            <a:extLst>
              <a:ext uri="{FF2B5EF4-FFF2-40B4-BE49-F238E27FC236}">
                <a16:creationId xmlns:a16="http://schemas.microsoft.com/office/drawing/2014/main" id="{50798CC9-C622-B878-F83F-05F196ABC0AF}"/>
              </a:ext>
            </a:extLst>
          </p:cNvPr>
          <p:cNvSpPr>
            <a:spLocks noGrp="1"/>
          </p:cNvSpPr>
          <p:nvPr>
            <p:ph idx="1"/>
          </p:nvPr>
        </p:nvSpPr>
        <p:spPr>
          <a:xfrm>
            <a:off x="838200" y="2848516"/>
            <a:ext cx="10515600" cy="4351338"/>
          </a:xfrm>
        </p:spPr>
        <p:txBody>
          <a:bodyPr>
            <a:normAutofit/>
          </a:bodyPr>
          <a:lstStyle/>
          <a:p>
            <a:pPr marL="0" indent="0">
              <a:buNone/>
            </a:pPr>
            <a:r>
              <a:rPr lang="en-US" b="0" dirty="0">
                <a:effectLst/>
                <a:latin typeface="Consolas" panose="020B0609020204030204" pitchFamily="49" charset="0"/>
              </a:rPr>
              <a:t>package main</a:t>
            </a:r>
          </a:p>
          <a:p>
            <a:pPr marL="0" indent="0">
              <a:buNone/>
            </a:pPr>
            <a:endParaRPr lang="en-US" b="0" dirty="0">
              <a:effectLst/>
              <a:latin typeface="Consolas" panose="020B0609020204030204" pitchFamily="49" charset="0"/>
            </a:endParaRPr>
          </a:p>
          <a:p>
            <a:pPr marL="0" indent="0">
              <a:buNone/>
            </a:pPr>
            <a:r>
              <a:rPr lang="en-US" b="0" dirty="0">
                <a:effectLst/>
                <a:latin typeface="Consolas" panose="020B0609020204030204" pitchFamily="49" charset="0"/>
              </a:rPr>
              <a:t>import "</a:t>
            </a:r>
            <a:r>
              <a:rPr lang="en-US" b="0" dirty="0" err="1">
                <a:effectLst/>
                <a:latin typeface="Consolas" panose="020B0609020204030204" pitchFamily="49" charset="0"/>
              </a:rPr>
              <a:t>fmt</a:t>
            </a:r>
            <a:r>
              <a:rPr lang="en-US" b="0" dirty="0">
                <a:effectLst/>
                <a:latin typeface="Consolas" panose="020B0609020204030204" pitchFamily="49" charset="0"/>
              </a:rPr>
              <a:t>"</a:t>
            </a:r>
          </a:p>
          <a:p>
            <a:pPr marL="0" indent="0">
              <a:buNone/>
            </a:pPr>
            <a:endParaRPr lang="en-US" b="0" dirty="0">
              <a:effectLst/>
              <a:latin typeface="Consolas" panose="020B0609020204030204" pitchFamily="49" charset="0"/>
            </a:endParaRPr>
          </a:p>
          <a:p>
            <a:pPr marL="0" indent="0">
              <a:buNone/>
            </a:pPr>
            <a:r>
              <a:rPr lang="en-US" b="0" dirty="0" err="1">
                <a:effectLst/>
                <a:latin typeface="Consolas" panose="020B0609020204030204" pitchFamily="49" charset="0"/>
              </a:rPr>
              <a:t>func</a:t>
            </a:r>
            <a:r>
              <a:rPr lang="en-US" b="0" dirty="0">
                <a:effectLst/>
                <a:latin typeface="Consolas" panose="020B0609020204030204" pitchFamily="49" charset="0"/>
              </a:rPr>
              <a:t> main() {</a:t>
            </a:r>
          </a:p>
          <a:p>
            <a:pPr marL="0" indent="0">
              <a:buNone/>
            </a:pPr>
            <a:r>
              <a:rPr lang="en-US" b="0" dirty="0">
                <a:effectLst/>
                <a:latin typeface="Consolas" panose="020B0609020204030204" pitchFamily="49" charset="0"/>
              </a:rPr>
              <a:t>    </a:t>
            </a:r>
            <a:r>
              <a:rPr lang="en-US" b="0" dirty="0" err="1">
                <a:effectLst/>
                <a:latin typeface="Consolas" panose="020B0609020204030204" pitchFamily="49" charset="0"/>
              </a:rPr>
              <a:t>fmt.Println</a:t>
            </a:r>
            <a:r>
              <a:rPr lang="en-US" b="0" dirty="0">
                <a:effectLst/>
                <a:latin typeface="Consolas" panose="020B0609020204030204" pitchFamily="49" charset="0"/>
              </a:rPr>
              <a:t>("Hello, World!")</a:t>
            </a:r>
          </a:p>
          <a:p>
            <a:pPr marL="0" indent="0">
              <a:buNone/>
            </a:pPr>
            <a:r>
              <a:rPr lang="en-US" b="0" dirty="0">
                <a:effectLst/>
                <a:latin typeface="Consolas" panose="020B0609020204030204" pitchFamily="49" charset="0"/>
              </a:rPr>
              <a:t>}</a:t>
            </a:r>
            <a:endParaRPr lang="en-CA" dirty="0"/>
          </a:p>
        </p:txBody>
      </p:sp>
      <p:sp>
        <p:nvSpPr>
          <p:cNvPr id="4" name="TextBox 3">
            <a:extLst>
              <a:ext uri="{FF2B5EF4-FFF2-40B4-BE49-F238E27FC236}">
                <a16:creationId xmlns:a16="http://schemas.microsoft.com/office/drawing/2014/main" id="{B0FB5CCC-97E9-CCC8-53AA-6EBA19E865D1}"/>
              </a:ext>
            </a:extLst>
          </p:cNvPr>
          <p:cNvSpPr txBox="1"/>
          <p:nvPr/>
        </p:nvSpPr>
        <p:spPr>
          <a:xfrm>
            <a:off x="5804452" y="228331"/>
            <a:ext cx="6135447" cy="4247317"/>
          </a:xfrm>
          <a:prstGeom prst="rect">
            <a:avLst/>
          </a:prstGeom>
          <a:solidFill>
            <a:srgbClr val="FFFF00"/>
          </a:solidFill>
        </p:spPr>
        <p:txBody>
          <a:bodyPr wrap="square" rtlCol="0">
            <a:spAutoFit/>
          </a:bodyPr>
          <a:lstStyle/>
          <a:p>
            <a:r>
              <a:rPr lang="en-CA" b="1" dirty="0"/>
              <a:t>Go </a:t>
            </a:r>
            <a:r>
              <a:rPr lang="en-CA" dirty="0"/>
              <a:t>is based on C but goes in a different direction than C++. It is more programmer friendly, simpler, and has automatic memory management. It is very popular for writing “server” programs, e.g. web servers, or applications that might have many users at the same time.</a:t>
            </a:r>
          </a:p>
          <a:p>
            <a:endParaRPr lang="en-CA" dirty="0"/>
          </a:p>
          <a:p>
            <a:r>
              <a:rPr lang="en-CA" b="1" dirty="0"/>
              <a:t>Pros</a:t>
            </a:r>
          </a:p>
          <a:p>
            <a:pPr marL="285750" indent="-285750">
              <a:buFont typeface="Arial" panose="020B0604020202020204" pitchFamily="34" charset="0"/>
              <a:buChar char="•"/>
            </a:pPr>
            <a:r>
              <a:rPr lang="en-CA" dirty="0"/>
              <a:t>grammar are rules are simpler than C/C++/Java</a:t>
            </a:r>
          </a:p>
          <a:p>
            <a:pPr marL="285750" indent="-285750">
              <a:buFont typeface="Arial" panose="020B0604020202020204" pitchFamily="34" charset="0"/>
              <a:buChar char="•"/>
            </a:pPr>
            <a:r>
              <a:rPr lang="en-CA" dirty="0"/>
              <a:t>nice built-in support for concurrent programs</a:t>
            </a:r>
          </a:p>
          <a:p>
            <a:pPr marL="285750" indent="-285750">
              <a:buFont typeface="Arial" panose="020B0604020202020204" pitchFamily="34" charset="0"/>
              <a:buChar char="•"/>
            </a:pPr>
            <a:r>
              <a:rPr lang="en-CA" dirty="0"/>
              <a:t>memory management is automatic (garbage collected)</a:t>
            </a:r>
          </a:p>
          <a:p>
            <a:endParaRPr lang="en-CA" b="1" dirty="0"/>
          </a:p>
          <a:p>
            <a:r>
              <a:rPr lang="en-CA" b="1" dirty="0"/>
              <a:t>Cons</a:t>
            </a:r>
            <a:r>
              <a:rPr lang="en-CA" dirty="0"/>
              <a:t>: </a:t>
            </a:r>
          </a:p>
          <a:p>
            <a:pPr marL="285750" indent="-285750">
              <a:buFont typeface="Arial" panose="020B0604020202020204" pitchFamily="34" charset="0"/>
              <a:buChar char="•"/>
            </a:pPr>
            <a:r>
              <a:rPr lang="en-CA" dirty="0"/>
              <a:t>verbose --- many simple programs are quite long</a:t>
            </a:r>
          </a:p>
          <a:p>
            <a:pPr marL="285750" indent="-285750">
              <a:buFont typeface="Arial" panose="020B0604020202020204" pitchFamily="34" charset="0"/>
              <a:buChar char="•"/>
            </a:pPr>
            <a:r>
              <a:rPr lang="en-CA" dirty="0"/>
              <a:t>not close enough to C/C++/Java for some programmers</a:t>
            </a:r>
          </a:p>
          <a:p>
            <a:pPr marL="285750" indent="-285750">
              <a:buFont typeface="Arial" panose="020B0604020202020204" pitchFamily="34" charset="0"/>
              <a:buChar char="•"/>
            </a:pPr>
            <a:r>
              <a:rPr lang="en-CA" dirty="0"/>
              <a:t>some odd design decisions, e.g. error-handling is unusual</a:t>
            </a:r>
          </a:p>
        </p:txBody>
      </p:sp>
    </p:spTree>
    <p:extLst>
      <p:ext uri="{BB962C8B-B14F-4D97-AF65-F5344CB8AC3E}">
        <p14:creationId xmlns:p14="http://schemas.microsoft.com/office/powerpoint/2010/main" val="29105858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F9A17-767A-E12B-BC3E-F74482A661A8}"/>
              </a:ext>
            </a:extLst>
          </p:cNvPr>
          <p:cNvSpPr>
            <a:spLocks noGrp="1"/>
          </p:cNvSpPr>
          <p:nvPr>
            <p:ph type="title"/>
          </p:nvPr>
        </p:nvSpPr>
        <p:spPr/>
        <p:txBody>
          <a:bodyPr/>
          <a:lstStyle/>
          <a:p>
            <a:r>
              <a:rPr lang="en-CA" dirty="0"/>
              <a:t>JavaScript Language</a:t>
            </a:r>
          </a:p>
        </p:txBody>
      </p:sp>
      <p:sp>
        <p:nvSpPr>
          <p:cNvPr id="3" name="Content Placeholder 2">
            <a:extLst>
              <a:ext uri="{FF2B5EF4-FFF2-40B4-BE49-F238E27FC236}">
                <a16:creationId xmlns:a16="http://schemas.microsoft.com/office/drawing/2014/main" id="{50798CC9-C622-B878-F83F-05F196ABC0AF}"/>
              </a:ext>
            </a:extLst>
          </p:cNvPr>
          <p:cNvSpPr>
            <a:spLocks noGrp="1"/>
          </p:cNvSpPr>
          <p:nvPr>
            <p:ph idx="1"/>
          </p:nvPr>
        </p:nvSpPr>
        <p:spPr>
          <a:xfrm>
            <a:off x="374986" y="2060241"/>
            <a:ext cx="10515600" cy="4351338"/>
          </a:xfrm>
        </p:spPr>
        <p:txBody>
          <a:bodyPr>
            <a:normAutofit/>
          </a:bodyPr>
          <a:lstStyle/>
          <a:p>
            <a:pPr marL="0" indent="0">
              <a:buNone/>
            </a:pPr>
            <a:r>
              <a:rPr lang="en-US" b="0" dirty="0">
                <a:effectLst/>
                <a:latin typeface="Consolas" panose="020B0609020204030204" pitchFamily="49" charset="0"/>
              </a:rPr>
              <a:t>console.log("Hello, World!");</a:t>
            </a:r>
            <a:endParaRPr lang="en-CA" dirty="0"/>
          </a:p>
        </p:txBody>
      </p:sp>
      <p:sp>
        <p:nvSpPr>
          <p:cNvPr id="4" name="TextBox 3">
            <a:extLst>
              <a:ext uri="{FF2B5EF4-FFF2-40B4-BE49-F238E27FC236}">
                <a16:creationId xmlns:a16="http://schemas.microsoft.com/office/drawing/2014/main" id="{B0FB5CCC-97E9-CCC8-53AA-6EBA19E865D1}"/>
              </a:ext>
            </a:extLst>
          </p:cNvPr>
          <p:cNvSpPr txBox="1"/>
          <p:nvPr/>
        </p:nvSpPr>
        <p:spPr>
          <a:xfrm>
            <a:off x="6757736" y="178635"/>
            <a:ext cx="5221920" cy="5632311"/>
          </a:xfrm>
          <a:prstGeom prst="rect">
            <a:avLst/>
          </a:prstGeom>
          <a:solidFill>
            <a:srgbClr val="FFFF00"/>
          </a:solidFill>
        </p:spPr>
        <p:txBody>
          <a:bodyPr wrap="square" rtlCol="0">
            <a:spAutoFit/>
          </a:bodyPr>
          <a:lstStyle/>
          <a:p>
            <a:r>
              <a:rPr lang="en-CA" b="1" dirty="0"/>
              <a:t>JavaScript </a:t>
            </a:r>
            <a:r>
              <a:rPr lang="en-CA" dirty="0"/>
              <a:t>is the language of web browsers: if you want to run a program in a browser, it needs to be in JavaScript. On the surface it looks like Java, but the programming styles it supports and encourages are very different.</a:t>
            </a:r>
          </a:p>
          <a:p>
            <a:endParaRPr lang="en-CA" dirty="0"/>
          </a:p>
          <a:p>
            <a:r>
              <a:rPr lang="en-CA" b="1" dirty="0"/>
              <a:t>Pros</a:t>
            </a:r>
          </a:p>
          <a:p>
            <a:pPr marL="285750" indent="-285750">
              <a:buFont typeface="Arial" panose="020B0604020202020204" pitchFamily="34" charset="0"/>
              <a:buChar char="•"/>
            </a:pPr>
            <a:r>
              <a:rPr lang="en-CA" dirty="0"/>
              <a:t>relatively easy to use</a:t>
            </a:r>
          </a:p>
          <a:p>
            <a:pPr marL="285750" indent="-285750">
              <a:buFont typeface="Arial" panose="020B0604020202020204" pitchFamily="34" charset="0"/>
              <a:buChar char="•"/>
            </a:pPr>
            <a:r>
              <a:rPr lang="en-CA" dirty="0"/>
              <a:t>supports OOP and other coding styles</a:t>
            </a:r>
          </a:p>
          <a:p>
            <a:pPr marL="285750" indent="-285750">
              <a:buFont typeface="Arial" panose="020B0604020202020204" pitchFamily="34" charset="0"/>
              <a:buChar char="•"/>
            </a:pPr>
            <a:r>
              <a:rPr lang="en-CA" dirty="0"/>
              <a:t>surface-level similarity to C/C++</a:t>
            </a:r>
          </a:p>
          <a:p>
            <a:pPr marL="285750" indent="-285750">
              <a:buFont typeface="Arial" panose="020B0604020202020204" pitchFamily="34" charset="0"/>
              <a:buChar char="•"/>
            </a:pPr>
            <a:r>
              <a:rPr lang="en-CA" dirty="0"/>
              <a:t>is THE language for web browsers</a:t>
            </a:r>
          </a:p>
          <a:p>
            <a:endParaRPr lang="en-CA" b="1" dirty="0"/>
          </a:p>
          <a:p>
            <a:r>
              <a:rPr lang="en-CA" b="1" dirty="0"/>
              <a:t>Cons</a:t>
            </a:r>
          </a:p>
          <a:p>
            <a:pPr marL="285750" indent="-285750">
              <a:buFont typeface="Arial" panose="020B0604020202020204" pitchFamily="34" charset="0"/>
              <a:buChar char="•"/>
            </a:pPr>
            <a:r>
              <a:rPr lang="en-CA" dirty="0"/>
              <a:t>runs differently, and generally more slowly, than C/C++</a:t>
            </a:r>
          </a:p>
          <a:p>
            <a:pPr marL="285750" indent="-285750">
              <a:buFont typeface="Arial" panose="020B0604020202020204" pitchFamily="34" charset="0"/>
              <a:buChar char="•"/>
            </a:pPr>
            <a:r>
              <a:rPr lang="en-CA" dirty="0"/>
              <a:t>can be difficult to write large programs due to quirks in the language and lack of support for data types (the </a:t>
            </a:r>
            <a:r>
              <a:rPr lang="en-CA" b="1" dirty="0"/>
              <a:t>TypeScript</a:t>
            </a:r>
            <a:r>
              <a:rPr lang="en-CA" dirty="0"/>
              <a:t> language is a popular alternative --- it has better support for writing big programs and is compatible with JavaScript)</a:t>
            </a:r>
          </a:p>
        </p:txBody>
      </p:sp>
    </p:spTree>
    <p:extLst>
      <p:ext uri="{BB962C8B-B14F-4D97-AF65-F5344CB8AC3E}">
        <p14:creationId xmlns:p14="http://schemas.microsoft.com/office/powerpoint/2010/main" val="5983705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F9A17-767A-E12B-BC3E-F74482A661A8}"/>
              </a:ext>
            </a:extLst>
          </p:cNvPr>
          <p:cNvSpPr>
            <a:spLocks noGrp="1"/>
          </p:cNvSpPr>
          <p:nvPr>
            <p:ph type="title"/>
          </p:nvPr>
        </p:nvSpPr>
        <p:spPr/>
        <p:txBody>
          <a:bodyPr/>
          <a:lstStyle/>
          <a:p>
            <a:r>
              <a:rPr lang="en-CA" dirty="0"/>
              <a:t>Python Language</a:t>
            </a:r>
          </a:p>
        </p:txBody>
      </p:sp>
      <p:sp>
        <p:nvSpPr>
          <p:cNvPr id="3" name="Content Placeholder 2">
            <a:extLst>
              <a:ext uri="{FF2B5EF4-FFF2-40B4-BE49-F238E27FC236}">
                <a16:creationId xmlns:a16="http://schemas.microsoft.com/office/drawing/2014/main" id="{50798CC9-C622-B878-F83F-05F196ABC0AF}"/>
              </a:ext>
            </a:extLst>
          </p:cNvPr>
          <p:cNvSpPr>
            <a:spLocks noGrp="1"/>
          </p:cNvSpPr>
          <p:nvPr>
            <p:ph idx="1"/>
          </p:nvPr>
        </p:nvSpPr>
        <p:spPr>
          <a:xfrm>
            <a:off x="374986" y="2060241"/>
            <a:ext cx="10515600" cy="4351338"/>
          </a:xfrm>
        </p:spPr>
        <p:txBody>
          <a:bodyPr>
            <a:normAutofit/>
          </a:bodyPr>
          <a:lstStyle/>
          <a:p>
            <a:pPr marL="0" indent="0">
              <a:buNone/>
            </a:pPr>
            <a:r>
              <a:rPr lang="en-US" b="0" dirty="0">
                <a:effectLst/>
                <a:latin typeface="Consolas" panose="020B0609020204030204" pitchFamily="49" charset="0"/>
              </a:rPr>
              <a:t>print("Hello, World!")</a:t>
            </a:r>
            <a:endParaRPr lang="en-CA" dirty="0"/>
          </a:p>
        </p:txBody>
      </p:sp>
      <p:sp>
        <p:nvSpPr>
          <p:cNvPr id="4" name="TextBox 3">
            <a:extLst>
              <a:ext uri="{FF2B5EF4-FFF2-40B4-BE49-F238E27FC236}">
                <a16:creationId xmlns:a16="http://schemas.microsoft.com/office/drawing/2014/main" id="{B0FB5CCC-97E9-CCC8-53AA-6EBA19E865D1}"/>
              </a:ext>
            </a:extLst>
          </p:cNvPr>
          <p:cNvSpPr txBox="1"/>
          <p:nvPr/>
        </p:nvSpPr>
        <p:spPr>
          <a:xfrm>
            <a:off x="6757736" y="178635"/>
            <a:ext cx="5221920" cy="3693319"/>
          </a:xfrm>
          <a:prstGeom prst="rect">
            <a:avLst/>
          </a:prstGeom>
          <a:solidFill>
            <a:srgbClr val="FFFF00"/>
          </a:solidFill>
        </p:spPr>
        <p:txBody>
          <a:bodyPr wrap="square" rtlCol="0">
            <a:spAutoFit/>
          </a:bodyPr>
          <a:lstStyle/>
          <a:p>
            <a:r>
              <a:rPr lang="en-CA" b="1" dirty="0"/>
              <a:t>Python </a:t>
            </a:r>
            <a:r>
              <a:rPr lang="en-CA" dirty="0"/>
              <a:t>is the language we’re learning.</a:t>
            </a:r>
          </a:p>
          <a:p>
            <a:r>
              <a:rPr lang="en-CA" dirty="0"/>
              <a:t> </a:t>
            </a:r>
          </a:p>
          <a:p>
            <a:r>
              <a:rPr lang="en-CA" b="1" dirty="0"/>
              <a:t>Pros</a:t>
            </a:r>
          </a:p>
          <a:p>
            <a:pPr marL="285750" indent="-285750">
              <a:buFont typeface="Arial" panose="020B0604020202020204" pitchFamily="34" charset="0"/>
              <a:buChar char="•"/>
            </a:pPr>
            <a:r>
              <a:rPr lang="en-CA" dirty="0"/>
              <a:t>relatively easy to use and learn</a:t>
            </a:r>
          </a:p>
          <a:p>
            <a:pPr marL="285750" indent="-285750">
              <a:buFont typeface="Arial" panose="020B0604020202020204" pitchFamily="34" charset="0"/>
              <a:buChar char="•"/>
            </a:pPr>
            <a:r>
              <a:rPr lang="en-CA" dirty="0"/>
              <a:t>supports OOP and other coding styles</a:t>
            </a:r>
          </a:p>
          <a:p>
            <a:pPr marL="285750" indent="-285750">
              <a:buFont typeface="Arial" panose="020B0604020202020204" pitchFamily="34" charset="0"/>
              <a:buChar char="•"/>
            </a:pPr>
            <a:r>
              <a:rPr lang="en-CA" dirty="0"/>
              <a:t>extremely popular in data science and AI</a:t>
            </a:r>
          </a:p>
          <a:p>
            <a:endParaRPr lang="en-CA" b="1" dirty="0"/>
          </a:p>
          <a:p>
            <a:r>
              <a:rPr lang="en-CA" b="1" dirty="0"/>
              <a:t>Cons</a:t>
            </a:r>
          </a:p>
          <a:p>
            <a:pPr marL="285750" indent="-285750">
              <a:buFont typeface="Arial" panose="020B0604020202020204" pitchFamily="34" charset="0"/>
              <a:buChar char="•"/>
            </a:pPr>
            <a:r>
              <a:rPr lang="en-CA" dirty="0"/>
              <a:t>can use significantly more time and memory than C/C++, so not practical for programs where performance is crucial</a:t>
            </a:r>
          </a:p>
          <a:p>
            <a:pPr marL="285750" indent="-285750">
              <a:buFont typeface="Arial" panose="020B0604020202020204" pitchFamily="34" charset="0"/>
              <a:buChar char="•"/>
            </a:pPr>
            <a:r>
              <a:rPr lang="en-CA" dirty="0"/>
              <a:t>like JavaScript, can be difficult to write bigger programs</a:t>
            </a:r>
          </a:p>
        </p:txBody>
      </p:sp>
    </p:spTree>
    <p:extLst>
      <p:ext uri="{BB962C8B-B14F-4D97-AF65-F5344CB8AC3E}">
        <p14:creationId xmlns:p14="http://schemas.microsoft.com/office/powerpoint/2010/main" val="2990475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164</TotalTime>
  <Words>1315</Words>
  <Application>Microsoft Macintosh PowerPoint</Application>
  <PresentationFormat>Widescreen</PresentationFormat>
  <Paragraphs>177</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Aptos</vt:lpstr>
      <vt:lpstr>Aptos Display</vt:lpstr>
      <vt:lpstr>Arial</vt:lpstr>
      <vt:lpstr>Consolas</vt:lpstr>
      <vt:lpstr>Google Sans</vt:lpstr>
      <vt:lpstr>Office Theme</vt:lpstr>
      <vt:lpstr>Natural Languages and Formal Languages</vt:lpstr>
      <vt:lpstr>Natural Languages</vt:lpstr>
      <vt:lpstr>Natural Languages</vt:lpstr>
      <vt:lpstr>Formal Languages</vt:lpstr>
      <vt:lpstr>Formal Languages</vt:lpstr>
      <vt:lpstr>Formal Languages</vt:lpstr>
      <vt:lpstr>Hello World in Various Languages</vt:lpstr>
      <vt:lpstr>Natural Language</vt:lpstr>
      <vt:lpstr>Assembly Language</vt:lpstr>
      <vt:lpstr>C Language</vt:lpstr>
      <vt:lpstr>C++ Language</vt:lpstr>
      <vt:lpstr>Java Language</vt:lpstr>
      <vt:lpstr>Go Language</vt:lpstr>
      <vt:lpstr>JavaScript Language</vt:lpstr>
      <vt:lpstr>Python Language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Toby Donaldson</dc:creator>
  <cp:lastModifiedBy>Toby Donaldson</cp:lastModifiedBy>
  <cp:revision>1</cp:revision>
  <dcterms:created xsi:type="dcterms:W3CDTF">2024-09-11T06:45:41Z</dcterms:created>
  <dcterms:modified xsi:type="dcterms:W3CDTF">2026-01-09T19:35:08Z</dcterms:modified>
</cp:coreProperties>
</file>