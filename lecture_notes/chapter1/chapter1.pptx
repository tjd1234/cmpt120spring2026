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1" r:id="rId4"/>
    <p:sldId id="258" r:id="rId5"/>
    <p:sldId id="259" r:id="rId6"/>
    <p:sldId id="26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9AC8B6-497D-884B-B7E7-DEFDABF4F9C3}" v="10" dt="2026-01-09T19:31:03.6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558"/>
  </p:normalViewPr>
  <p:slideViewPr>
    <p:cSldViewPr snapToGrid="0">
      <p:cViewPr varScale="1">
        <p:scale>
          <a:sx n="121" d="100"/>
          <a:sy n="121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custSel delSld modSld">
      <pc:chgData name="Toby Donaldson" userId="2e6e5431-bb17-4c41-9985-d39c50d83c73" providerId="ADAL" clId="{F31BC264-820E-54C4-A6D1-F92AF9CC222E}" dt="2026-01-12T02:02:48.742" v="356" actId="20577"/>
      <pc:docMkLst>
        <pc:docMk/>
      </pc:docMkLst>
      <pc:sldChg chg="addSp delSp modSp mod">
        <pc:chgData name="Toby Donaldson" userId="2e6e5431-bb17-4c41-9985-d39c50d83c73" providerId="ADAL" clId="{F31BC264-820E-54C4-A6D1-F92AF9CC222E}" dt="2026-01-12T01:58:23.860" v="260" actId="20577"/>
        <pc:sldMkLst>
          <pc:docMk/>
          <pc:sldMk cId="2692445676" sldId="258"/>
        </pc:sldMkLst>
        <pc:spChg chg="mod">
          <ac:chgData name="Toby Donaldson" userId="2e6e5431-bb17-4c41-9985-d39c50d83c73" providerId="ADAL" clId="{F31BC264-820E-54C4-A6D1-F92AF9CC222E}" dt="2026-01-12T01:58:23.860" v="260" actId="20577"/>
          <ac:spMkLst>
            <pc:docMk/>
            <pc:sldMk cId="2692445676" sldId="258"/>
            <ac:spMk id="3" creationId="{98A8E8F5-CA50-08D5-90EF-A6B808F7483C}"/>
          </ac:spMkLst>
        </pc:spChg>
        <pc:spChg chg="add mod">
          <ac:chgData name="Toby Donaldson" userId="2e6e5431-bb17-4c41-9985-d39c50d83c73" providerId="ADAL" clId="{F31BC264-820E-54C4-A6D1-F92AF9CC222E}" dt="2026-01-12T01:58:12.707" v="259" actId="20577"/>
          <ac:spMkLst>
            <pc:docMk/>
            <pc:sldMk cId="2692445676" sldId="258"/>
            <ac:spMk id="4" creationId="{5DFBE68E-B66D-DF70-BE0C-0D344C69B577}"/>
          </ac:spMkLst>
        </pc:spChg>
        <pc:spChg chg="add">
          <ac:chgData name="Toby Donaldson" userId="2e6e5431-bb17-4c41-9985-d39c50d83c73" providerId="ADAL" clId="{F31BC264-820E-54C4-A6D1-F92AF9CC222E}" dt="2026-01-09T19:29:56.022" v="220"/>
          <ac:spMkLst>
            <pc:docMk/>
            <pc:sldMk cId="2692445676" sldId="258"/>
            <ac:spMk id="5" creationId="{7F3C8405-E919-D699-2FA1-CE3D508AE1DE}"/>
          </ac:spMkLst>
        </pc:spChg>
        <pc:spChg chg="add mod">
          <ac:chgData name="Toby Donaldson" userId="2e6e5431-bb17-4c41-9985-d39c50d83c73" providerId="ADAL" clId="{F31BC264-820E-54C4-A6D1-F92AF9CC222E}" dt="2026-01-09T19:30:36.012" v="224" actId="21"/>
          <ac:spMkLst>
            <pc:docMk/>
            <pc:sldMk cId="2692445676" sldId="258"/>
            <ac:spMk id="8" creationId="{7C515269-F96E-7B14-5510-BB6368747DFA}"/>
          </ac:spMkLst>
        </pc:spChg>
      </pc:sldChg>
      <pc:sldChg chg="modSp mod">
        <pc:chgData name="Toby Donaldson" userId="2e6e5431-bb17-4c41-9985-d39c50d83c73" providerId="ADAL" clId="{F31BC264-820E-54C4-A6D1-F92AF9CC222E}" dt="2026-01-12T01:59:42.455" v="274" actId="20577"/>
        <pc:sldMkLst>
          <pc:docMk/>
          <pc:sldMk cId="4281630409" sldId="262"/>
        </pc:sldMkLst>
        <pc:spChg chg="mod">
          <ac:chgData name="Toby Donaldson" userId="2e6e5431-bb17-4c41-9985-d39c50d83c73" providerId="ADAL" clId="{F31BC264-820E-54C4-A6D1-F92AF9CC222E}" dt="2026-01-12T01:59:42.455" v="274" actId="20577"/>
          <ac:spMkLst>
            <pc:docMk/>
            <pc:sldMk cId="4281630409" sldId="262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09T19:33:09.852" v="244" actId="20577"/>
        <pc:sldMkLst>
          <pc:docMk/>
          <pc:sldMk cId="1617268802" sldId="263"/>
        </pc:sldMkLst>
        <pc:spChg chg="mod">
          <ac:chgData name="Toby Donaldson" userId="2e6e5431-bb17-4c41-9985-d39c50d83c73" providerId="ADAL" clId="{F31BC264-820E-54C4-A6D1-F92AF9CC222E}" dt="2026-01-09T19:33:09.852" v="244" actId="20577"/>
          <ac:spMkLst>
            <pc:docMk/>
            <pc:sldMk cId="1617268802" sldId="263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2T02:01:38.442" v="287" actId="1076"/>
        <pc:sldMkLst>
          <pc:docMk/>
          <pc:sldMk cId="2910585830" sldId="266"/>
        </pc:sldMkLst>
        <pc:spChg chg="mod">
          <ac:chgData name="Toby Donaldson" userId="2e6e5431-bb17-4c41-9985-d39c50d83c73" providerId="ADAL" clId="{F31BC264-820E-54C4-A6D1-F92AF9CC222E}" dt="2026-01-12T02:01:38.442" v="287" actId="1076"/>
          <ac:spMkLst>
            <pc:docMk/>
            <pc:sldMk cId="2910585830" sldId="266"/>
            <ac:spMk id="3" creationId="{50798CC9-C622-B878-F83F-05F196ABC0AF}"/>
          </ac:spMkLst>
        </pc:spChg>
        <pc:spChg chg="mod">
          <ac:chgData name="Toby Donaldson" userId="2e6e5431-bb17-4c41-9985-d39c50d83c73" providerId="ADAL" clId="{F31BC264-820E-54C4-A6D1-F92AF9CC222E}" dt="2026-01-12T02:01:24.426" v="285" actId="1076"/>
          <ac:spMkLst>
            <pc:docMk/>
            <pc:sldMk cId="2910585830" sldId="266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2T02:02:48.742" v="356" actId="20577"/>
        <pc:sldMkLst>
          <pc:docMk/>
          <pc:sldMk cId="598370551" sldId="267"/>
        </pc:sldMkLst>
        <pc:spChg chg="mod">
          <ac:chgData name="Toby Donaldson" userId="2e6e5431-bb17-4c41-9985-d39c50d83c73" providerId="ADAL" clId="{F31BC264-820E-54C4-A6D1-F92AF9CC222E}" dt="2026-01-12T02:02:48.742" v="356" actId="20577"/>
          <ac:spMkLst>
            <pc:docMk/>
            <pc:sldMk cId="598370551" sldId="267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09T19:34:39.395" v="249" actId="20577"/>
        <pc:sldMkLst>
          <pc:docMk/>
          <pc:sldMk cId="299047572" sldId="268"/>
        </pc:sldMkLst>
        <pc:spChg chg="mod">
          <ac:chgData name="Toby Donaldson" userId="2e6e5431-bb17-4c41-9985-d39c50d83c73" providerId="ADAL" clId="{F31BC264-820E-54C4-A6D1-F92AF9CC222E}" dt="2026-01-09T19:34:39.395" v="249" actId="20577"/>
          <ac:spMkLst>
            <pc:docMk/>
            <pc:sldMk cId="299047572" sldId="268"/>
            <ac:spMk id="4" creationId="{B0FB5CCC-97E9-CCC8-53AA-6EBA19E865D1}"/>
          </ac:spMkLst>
        </pc:spChg>
      </pc:sldChg>
      <pc:sldChg chg="modSp mod">
        <pc:chgData name="Toby Donaldson" userId="2e6e5431-bb17-4c41-9985-d39c50d83c73" providerId="ADAL" clId="{F31BC264-820E-54C4-A6D1-F92AF9CC222E}" dt="2026-01-12T01:57:55.881" v="257" actId="20577"/>
        <pc:sldMkLst>
          <pc:docMk/>
          <pc:sldMk cId="63370177" sldId="271"/>
        </pc:sldMkLst>
        <pc:spChg chg="mod">
          <ac:chgData name="Toby Donaldson" userId="2e6e5431-bb17-4c41-9985-d39c50d83c73" providerId="ADAL" clId="{F31BC264-820E-54C4-A6D1-F92AF9CC222E}" dt="2026-01-12T01:57:55.881" v="257" actId="20577"/>
          <ac:spMkLst>
            <pc:docMk/>
            <pc:sldMk cId="63370177" sldId="271"/>
            <ac:spMk id="3" creationId="{4E4BB0CF-233F-86C4-3F23-CFED9C9AA152}"/>
          </ac:spMkLst>
        </pc:spChg>
        <pc:spChg chg="mod">
          <ac:chgData name="Toby Donaldson" userId="2e6e5431-bb17-4c41-9985-d39c50d83c73" providerId="ADAL" clId="{F31BC264-820E-54C4-A6D1-F92AF9CC222E}" dt="2026-01-12T01:57:39.211" v="256" actId="20577"/>
          <ac:spMkLst>
            <pc:docMk/>
            <pc:sldMk cId="63370177" sldId="271"/>
            <ac:spMk id="4" creationId="{ED0B9EDC-F6B3-EAF2-75AF-CEACDB15C3C2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custSel addSld modSld">
      <pc:chgData name="Toby Donaldson" userId="2e6e5431-bb17-4c41-9985-d39c50d83c73" providerId="ADAL" clId="{7F9681A8-EEE2-56F4-9B39-ECCBEE0471AC}" dt="2026-01-09T04:44:02.738" v="1313" actId="20577"/>
      <pc:docMkLst>
        <pc:docMk/>
      </pc:docMkLst>
      <pc:sldChg chg="modSp mod">
        <pc:chgData name="Toby Donaldson" userId="2e6e5431-bb17-4c41-9985-d39c50d83c73" providerId="ADAL" clId="{7F9681A8-EEE2-56F4-9B39-ECCBEE0471AC}" dt="2026-01-09T04:44:02.738" v="1313" actId="20577"/>
        <pc:sldMkLst>
          <pc:docMk/>
          <pc:sldMk cId="2692445676" sldId="258"/>
        </pc:sldMkLst>
        <pc:spChg chg="mod">
          <ac:chgData name="Toby Donaldson" userId="2e6e5431-bb17-4c41-9985-d39c50d83c73" providerId="ADAL" clId="{7F9681A8-EEE2-56F4-9B39-ECCBEE0471AC}" dt="2026-01-09T04:44:02.738" v="1313" actId="20577"/>
          <ac:spMkLst>
            <pc:docMk/>
            <pc:sldMk cId="2692445676" sldId="258"/>
            <ac:spMk id="3" creationId="{98A8E8F5-CA50-08D5-90EF-A6B808F7483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66539-D176-AA8F-62EA-6BF520981F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D2B30-B4DF-1CC1-B36C-1FD7425E8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BC570-FF23-9BBA-4C85-B60EB2DBA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47D85-E246-E16B-5B0E-E29AF9F30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38D09-E406-F1DD-A1E1-595007F9A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93133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3CD82-E189-B5BA-345F-D6C954B18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C942D-4F47-891A-C24C-7C3A57856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7D658-51B7-6112-43AC-3AFBB59D2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A2B32-C84F-F27A-6AA6-D42274DD7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19B94-1BCF-FDDD-53AE-753FA3B55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583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B73D4-4560-2E9B-B579-81BE1393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D2915-951F-E27B-053B-E64AFCB64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567CA0-BD03-D4F8-36B4-BC1180B9D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ADE013-4F1D-3C4A-89B8-64A72B8DC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78DE5-AFD8-FDED-E901-02A49A251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7191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79225-8A5B-63F2-603F-1EFD44F67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DD784-61C5-EDDC-FA36-E5285E0A42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C485B4-1DB6-9864-1128-239A030FE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2815E-648E-DB7C-E74C-65CC61F62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83868E-DD3F-24B1-0A1D-334A92FDD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EA6E47-323B-AE8A-8528-DFFEF0EC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917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D1DC9-DA8E-8FD5-C985-18EC37889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1D3026-F805-2C06-B1D9-7F3F8D1E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78ED6-AD89-D961-03F7-D789B76F1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D9FA6B-4B24-C914-F92D-1DA323E8A8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8862A4-ECE0-9EA4-FF1B-6BD5FCC30C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E354E7-700D-F72D-50D6-1160C4F56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A2D21A-510C-DB76-69DC-5862D979A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764EC7-769F-647D-2DFA-4C58BB5ED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3542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EEE0C-2E73-6313-4417-61F6F5CA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552AF6-7577-A977-3596-F20B00202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5C8889-09F3-06D0-BBD1-A14080FE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41CEE1-40D7-9935-AC07-2E8DAC153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37801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E3D978-1626-7D10-8D3F-BB0C61E5F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E7F703-F342-D08D-CD5C-423FF8806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F70C8-1A40-98AC-34CD-3098806CF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7692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EAA60-84E5-50DB-10CB-F27167A7F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1F8CE-1900-8A2F-4A7B-932DA1F68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6A2B54-A64C-F542-65D8-BD0B68CFF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5D35C-4771-B73E-A90F-90119DE1C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89C314-7DE8-3EFC-B8BB-C926C2BAA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51E3A8-6147-CCF2-0F5D-B872EF05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021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05373-CEE0-4E02-C6CF-95C7412EB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593CA3-5BB0-E3DC-4978-A52D72959B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E87CBB-3574-11E2-D836-B5F8AFC0CC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96F99-97DF-391A-063E-50A01F677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7BEDE-066F-3022-3BDB-D70D97F15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FF8585-610E-D29C-37FF-4B73B5B9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2462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8D0C0-9471-3CC2-BE6B-D32B4F5F1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5BA08D-42DF-5180-9C98-2C9E399DF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9C9379-7F78-09AC-6A64-7B89A87FB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4FE0E-56DC-1C33-FE7B-C6E20F25D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9D40A-1654-E630-3D67-0A3FE80D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2928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8FE204-D15A-B524-9925-0455CE783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7DF384-AC5E-ED9C-EE59-3D4C9CDC65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30571-9DF2-D120-866F-886BCEFBC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E2FC2-0114-72BD-49C5-0109D365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8C2E4-8E03-AE1A-B61B-17357A8B6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1178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83045C-B318-126B-9F7B-C17D75017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E8CB7-9089-2E35-5EFD-9B36A8903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6DFFF-5CC1-1A91-7D9D-D707A9F8B6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DF564-AA16-4F8A-8361-C9076F43B828}" type="datetimeFigureOut">
              <a:rPr lang="en-CA" smtClean="0"/>
              <a:t>2026-01-09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0F41A-80C0-9638-E906-F33362FDBF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5192F-49ED-988D-4226-AEC965C1FA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EE815A-C749-4C79-B2CB-E40AFC1DF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0754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07928-6A96-F294-818A-806E5BE321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Natural Languages and Formal Languages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F3F09-2A22-777B-0073-D655AAA28C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</a:t>
            </a:r>
          </a:p>
          <a:p>
            <a:r>
              <a:rPr lang="en-CA" dirty="0"/>
              <a:t>From Chapter 1 of textbook</a:t>
            </a:r>
          </a:p>
          <a:p>
            <a:r>
              <a:rPr lang="en-CA" dirty="0"/>
              <a:t>Spring 2026</a:t>
            </a:r>
          </a:p>
        </p:txBody>
      </p:sp>
    </p:spTree>
    <p:extLst>
      <p:ext uri="{BB962C8B-B14F-4D97-AF65-F5344CB8AC3E}">
        <p14:creationId xmlns:p14="http://schemas.microsoft.com/office/powerpoint/2010/main" val="39305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AC2BC-4DDA-612C-A7F4-54E6E42A1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Natural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88E03-CAFE-9264-933A-0CD67C9C6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2092" cy="4351338"/>
          </a:xfrm>
        </p:spPr>
        <p:txBody>
          <a:bodyPr>
            <a:normAutofit fontScale="92500" lnSpcReduction="20000"/>
          </a:bodyPr>
          <a:lstStyle/>
          <a:p>
            <a:r>
              <a:rPr lang="en-CA" b="1" dirty="0"/>
              <a:t>Natural languages </a:t>
            </a:r>
            <a:r>
              <a:rPr lang="en-CA" dirty="0"/>
              <a:t>are the languages spoken by people, e.g. English, German, Chinese, etc.</a:t>
            </a:r>
          </a:p>
          <a:p>
            <a:r>
              <a:rPr lang="en-CA" dirty="0"/>
              <a:t>They have grammar and rules, but they are often implicit and informal</a:t>
            </a:r>
          </a:p>
          <a:p>
            <a:pPr lvl="1"/>
            <a:r>
              <a:rPr lang="en-CA" dirty="0"/>
              <a:t>Linguists study these rules</a:t>
            </a:r>
          </a:p>
          <a:p>
            <a:pPr lvl="1"/>
            <a:r>
              <a:rPr lang="en-CA" dirty="0"/>
              <a:t>Speakers of the language often unaware of them</a:t>
            </a:r>
          </a:p>
          <a:p>
            <a:r>
              <a:rPr lang="en-CA" dirty="0"/>
              <a:t>Can break rules if the meaning is still clear</a:t>
            </a:r>
          </a:p>
          <a:p>
            <a:pPr lvl="1"/>
            <a:r>
              <a:rPr lang="en-CA" i="1" dirty="0"/>
              <a:t>I am at the restaurant.</a:t>
            </a:r>
          </a:p>
          <a:p>
            <a:pPr lvl="1"/>
            <a:r>
              <a:rPr lang="en-CA" i="1" dirty="0"/>
              <a:t>Me restaurant at.</a:t>
            </a:r>
            <a:br>
              <a:rPr lang="en-CA" dirty="0"/>
            </a:br>
            <a:r>
              <a:rPr lang="en-CA" dirty="0"/>
              <a:t>(ungrammatical, but understandable)</a:t>
            </a:r>
          </a:p>
        </p:txBody>
      </p:sp>
    </p:spTree>
    <p:extLst>
      <p:ext uri="{BB962C8B-B14F-4D97-AF65-F5344CB8AC3E}">
        <p14:creationId xmlns:p14="http://schemas.microsoft.com/office/powerpoint/2010/main" val="1433169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02E65-2D5A-CC76-BA90-1F5B6614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63970-BD2C-5053-F8C4-DBA44BDEA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Natural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BB0CF-233F-86C4-3F23-CFED9C9AA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2092" cy="4351338"/>
          </a:xfrm>
        </p:spPr>
        <p:txBody>
          <a:bodyPr>
            <a:normAutofit fontScale="92500" lnSpcReduction="20000"/>
          </a:bodyPr>
          <a:lstStyle/>
          <a:p>
            <a:r>
              <a:rPr lang="en-CA" b="1" dirty="0"/>
              <a:t>Natural languages </a:t>
            </a:r>
            <a:r>
              <a:rPr lang="en-CA" dirty="0"/>
              <a:t>are the languages spoken by people, e.g. English, German, Chinese, etc.</a:t>
            </a:r>
          </a:p>
          <a:p>
            <a:r>
              <a:rPr lang="en-CA" dirty="0"/>
              <a:t>They have grammar and rules, but they are often implicit and informal</a:t>
            </a:r>
          </a:p>
          <a:p>
            <a:pPr lvl="1"/>
            <a:r>
              <a:rPr lang="en-CA" dirty="0"/>
              <a:t>Linguists study these rules</a:t>
            </a:r>
          </a:p>
          <a:p>
            <a:pPr lvl="1"/>
            <a:r>
              <a:rPr lang="en-CA" dirty="0"/>
              <a:t>But speakers of the language often unaware of them</a:t>
            </a:r>
          </a:p>
          <a:p>
            <a:r>
              <a:rPr lang="en-CA" dirty="0"/>
              <a:t>Can break rules if the meaning is still clear</a:t>
            </a:r>
          </a:p>
          <a:p>
            <a:pPr lvl="1"/>
            <a:r>
              <a:rPr lang="en-CA" dirty="0"/>
              <a:t>“I am at the restaurant.”</a:t>
            </a:r>
          </a:p>
          <a:p>
            <a:pPr lvl="1"/>
            <a:r>
              <a:rPr lang="en-CA" dirty="0"/>
              <a:t>“Me at restaurant.”  </a:t>
            </a:r>
            <a:br>
              <a:rPr lang="en-CA" dirty="0"/>
            </a:br>
            <a:r>
              <a:rPr lang="en-CA" dirty="0"/>
              <a:t>(ungrammatical, but understandable)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0B9EDC-F6B3-EAF2-75AF-CEACDB15C3C2}"/>
              </a:ext>
            </a:extLst>
          </p:cNvPr>
          <p:cNvSpPr txBox="1"/>
          <p:nvPr/>
        </p:nvSpPr>
        <p:spPr>
          <a:xfrm>
            <a:off x="6660292" y="2551837"/>
            <a:ext cx="5261330" cy="175432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Update</a:t>
            </a:r>
            <a:br>
              <a:rPr lang="en-CA" dirty="0"/>
            </a:br>
            <a:r>
              <a:rPr lang="en-CA" dirty="0"/>
              <a:t>In the last few years, </a:t>
            </a:r>
            <a:r>
              <a:rPr lang="en-CA" b="1" dirty="0"/>
              <a:t>vibe coding </a:t>
            </a:r>
            <a:r>
              <a:rPr lang="en-CA" dirty="0"/>
              <a:t>or </a:t>
            </a:r>
            <a:r>
              <a:rPr lang="en-CA" b="1" dirty="0"/>
              <a:t>agentic coding</a:t>
            </a:r>
            <a:r>
              <a:rPr lang="en-CA" dirty="0"/>
              <a:t> using AI has become a popular way to write programs. You converse with the AI to make a program. For this course we will be learning the old fashioned “by hand” way of programming.</a:t>
            </a:r>
          </a:p>
        </p:txBody>
      </p:sp>
    </p:spTree>
    <p:extLst>
      <p:ext uri="{BB962C8B-B14F-4D97-AF65-F5344CB8AC3E}">
        <p14:creationId xmlns:p14="http://schemas.microsoft.com/office/powerpoint/2010/main" val="63370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4B902-B00F-9A60-C5CB-966C120C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Formal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8E8F5-CA50-08D5-90EF-A6B808F74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Programming languages like Python are </a:t>
            </a:r>
            <a:r>
              <a:rPr lang="en-CA" b="1" dirty="0"/>
              <a:t>formal languages</a:t>
            </a:r>
          </a:p>
          <a:p>
            <a:r>
              <a:rPr lang="en-CA" dirty="0"/>
              <a:t>Formal languages follow strict rules</a:t>
            </a:r>
          </a:p>
          <a:p>
            <a:r>
              <a:rPr lang="en-CA" dirty="0"/>
              <a:t>Even if the meaning of a program is clear, it will be rejected if it is not also perfectly grammatical …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FBE68E-B66D-DF70-BE0C-0D344C69B577}"/>
              </a:ext>
            </a:extLst>
          </p:cNvPr>
          <p:cNvSpPr txBox="1"/>
          <p:nvPr/>
        </p:nvSpPr>
        <p:spPr>
          <a:xfrm>
            <a:off x="1502979" y="3907552"/>
            <a:ext cx="8137898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Besides programming languages, other formal languages are:</a:t>
            </a:r>
          </a:p>
          <a:p>
            <a:pPr algn="ctr"/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Logic</a:t>
            </a:r>
            <a:br>
              <a:rPr lang="en-CA" dirty="0"/>
            </a:br>
            <a:r>
              <a:rPr lang="en-CA" dirty="0"/>
              <a:t>(P ∧ Q) ⟹ (R ∨ 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Chemical formulas</a:t>
            </a:r>
            <a:br>
              <a:rPr lang="en-CA" dirty="0"/>
            </a:br>
            <a:r>
              <a:rPr lang="en-CA" dirty="0"/>
              <a:t>Mg(</a:t>
            </a:r>
            <a:r>
              <a:rPr lang="en-CA" dirty="0" err="1"/>
              <a:t>ClO</a:t>
            </a:r>
            <a:r>
              <a:rPr lang="en-CA" dirty="0"/>
              <a:t>₄)₂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Chess notation</a:t>
            </a:r>
            <a:br>
              <a:rPr lang="en-CA" dirty="0"/>
            </a:br>
            <a:r>
              <a:rPr lang="en-US" altLang="en-US" dirty="0">
                <a:latin typeface="Google Sans"/>
              </a:rPr>
              <a:t>e4 e5 Nf3 Nc6 Bb5 a6 Bxc6+ O-O Qh7#</a:t>
            </a:r>
            <a:endParaRPr lang="en-US" altLang="en-US" sz="105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F3C8405-E919-D699-2FA1-CE3D508AE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4589" rIns="0" bIns="98394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e4 e5 Nf3 Nc6 Bb5 a6 Bxc6+ O-O Qh7#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7C515269-F96E-7B14-5510-BB6368747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92865"/>
            <a:ext cx="65" cy="7286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4589" rIns="0" bIns="98394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2445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4B902-B00F-9A60-C5CB-966C120C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Formal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8E8F5-CA50-08D5-90EF-A6B808F74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print('Hi!')   # ok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Print('Hi!')   # error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print('Hi!")   # error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print('Hi!')  # error</a:t>
            </a:r>
          </a:p>
          <a:p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A18D26-0A05-1E77-DB1B-5DD5F78809C6}"/>
              </a:ext>
            </a:extLst>
          </p:cNvPr>
          <p:cNvSpPr txBox="1"/>
          <p:nvPr/>
        </p:nvSpPr>
        <p:spPr>
          <a:xfrm>
            <a:off x="6845659" y="2049995"/>
            <a:ext cx="3871444" cy="1200329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Part of the challenge of learning</a:t>
            </a:r>
          </a:p>
          <a:p>
            <a:pPr algn="ctr"/>
            <a:r>
              <a:rPr lang="en-CA" dirty="0"/>
              <a:t>to program is getting used to the </a:t>
            </a:r>
          </a:p>
          <a:p>
            <a:pPr algn="ctr"/>
            <a:r>
              <a:rPr lang="en-CA" dirty="0"/>
              <a:t>strictness of using a formal language.</a:t>
            </a:r>
          </a:p>
          <a:p>
            <a:pPr algn="ctr"/>
            <a:r>
              <a:rPr lang="en-CA" dirty="0"/>
              <a:t>It can be frustrating at first!</a:t>
            </a:r>
          </a:p>
        </p:txBody>
      </p:sp>
    </p:spTree>
    <p:extLst>
      <p:ext uri="{BB962C8B-B14F-4D97-AF65-F5344CB8AC3E}">
        <p14:creationId xmlns:p14="http://schemas.microsoft.com/office/powerpoint/2010/main" val="2756254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4B902-B00F-9A60-C5CB-966C120C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Formal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8E8F5-CA50-08D5-90EF-A6B808F7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353800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print('Hi!')   # ok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Print('Hi!')   # error: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capitalized is incorrect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print('Hi!")   # error: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mis-matched quotes</a:t>
            </a:r>
          </a:p>
          <a:p>
            <a:pPr marL="0" indent="0">
              <a:buNone/>
            </a:pP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print('Hi!')  # error: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space at beginning</a:t>
            </a:r>
          </a:p>
          <a:p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46BB83-5AD1-1543-0F3A-BB00160F5DAB}"/>
              </a:ext>
            </a:extLst>
          </p:cNvPr>
          <p:cNvSpPr txBox="1"/>
          <p:nvPr/>
        </p:nvSpPr>
        <p:spPr>
          <a:xfrm>
            <a:off x="7770569" y="681037"/>
            <a:ext cx="3871444" cy="1200329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CA" dirty="0"/>
              <a:t>Part of the challenge of learning</a:t>
            </a:r>
          </a:p>
          <a:p>
            <a:pPr algn="ctr"/>
            <a:r>
              <a:rPr lang="en-CA" dirty="0"/>
              <a:t>to program is getting used to the </a:t>
            </a:r>
          </a:p>
          <a:p>
            <a:pPr algn="ctr"/>
            <a:r>
              <a:rPr lang="en-CA" dirty="0"/>
              <a:t>strictness of using a formal language.</a:t>
            </a:r>
          </a:p>
          <a:p>
            <a:pPr algn="ctr"/>
            <a:r>
              <a:rPr lang="en-CA" dirty="0"/>
              <a:t>It can be frustrating at first!</a:t>
            </a:r>
          </a:p>
        </p:txBody>
      </p:sp>
    </p:spTree>
    <p:extLst>
      <p:ext uri="{BB962C8B-B14F-4D97-AF65-F5344CB8AC3E}">
        <p14:creationId xmlns:p14="http://schemas.microsoft.com/office/powerpoint/2010/main" val="3348444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47A7A-D215-010A-A458-B2640B4B2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Hello World in Various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E56BB-85C7-D749-78C1-283D1AB89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Writing a program that prints </a:t>
            </a:r>
            <a:r>
              <a:rPr lang="en-CA" b="1" dirty="0"/>
              <a:t>Hello, world!</a:t>
            </a:r>
            <a:r>
              <a:rPr lang="en-CA" dirty="0"/>
              <a:t> is a classic programming exercise.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Let’s see how a few popular languages do it …</a:t>
            </a:r>
          </a:p>
        </p:txBody>
      </p:sp>
    </p:spTree>
    <p:extLst>
      <p:ext uri="{BB962C8B-B14F-4D97-AF65-F5344CB8AC3E}">
        <p14:creationId xmlns:p14="http://schemas.microsoft.com/office/powerpoint/2010/main" val="938849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0C6D-C3E0-3950-95BE-C1C542D5B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Natural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000D7-3453-5BD4-0A71-EBA2BD423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English</a:t>
            </a:r>
            <a:r>
              <a:rPr lang="en-CA" dirty="0"/>
              <a:t>: Hello, world!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/>
              <a:t>Chinook</a:t>
            </a:r>
            <a:r>
              <a:rPr lang="en-CA" dirty="0"/>
              <a:t>: Wawa Klahowya </a:t>
            </a:r>
            <a:r>
              <a:rPr lang="en-CA" dirty="0" err="1"/>
              <a:t>Hayas</a:t>
            </a:r>
            <a:r>
              <a:rPr lang="en-CA" dirty="0"/>
              <a:t> </a:t>
            </a:r>
            <a:r>
              <a:rPr lang="en-CA" dirty="0" err="1"/>
              <a:t>Klaska</a:t>
            </a:r>
            <a:r>
              <a:rPr lang="en-CA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817561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Assembly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section        .text                   ; declare the .text section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global         _start                  ; has to be declared for the linker (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ld</a:t>
            </a:r>
            <a:r>
              <a:rPr lang="en-US" b="0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_start:                                ; entry point for _start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effectLst/>
                <a:latin typeface="Consolas" panose="020B0609020204030204" pitchFamily="49" charset="0"/>
              </a:rPr>
              <a:t>                       ; "invoke" the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effectLst/>
                <a:latin typeface="Consolas" panose="020B0609020204030204" pitchFamily="49" charset="0"/>
              </a:rPr>
              <a:t> of the message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effectLst/>
                <a:latin typeface="Consolas" panose="020B0609020204030204" pitchFamily="49" charset="0"/>
              </a:rPr>
              <a:t>, msg                       ; "invoke" the message itself</a:t>
            </a:r>
          </a:p>
          <a:p>
            <a:pPr marL="0" indent="0"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ebx</a:t>
            </a:r>
            <a:r>
              <a:rPr lang="en-US" b="0" dirty="0">
                <a:effectLst/>
                <a:latin typeface="Consolas" panose="020B0609020204030204" pitchFamily="49" charset="0"/>
              </a:rPr>
              <a:t>, 1                         ; set the file descriptor (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fd</a:t>
            </a:r>
            <a:r>
              <a:rPr lang="en-US" b="0" dirty="0">
                <a:effectLst/>
                <a:latin typeface="Consolas" panose="020B0609020204030204" pitchFamily="49" charset="0"/>
              </a:rPr>
              <a:t>) to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stdout</a:t>
            </a: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effectLst/>
                <a:latin typeface="Consolas" panose="020B0609020204030204" pitchFamily="49" charset="0"/>
              </a:rPr>
              <a:t>, 4                         ; system call for "write"   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int 0x80                           ; call the kernel</a:t>
            </a:r>
          </a:p>
          <a:p>
            <a:pPr marL="0" indent="0"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r>
              <a:rPr lang="en-US" b="0" dirty="0"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effectLst/>
                <a:latin typeface="Consolas" panose="020B0609020204030204" pitchFamily="49" charset="0"/>
              </a:rPr>
              <a:t>, 1                         ; system call for "exit"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int 0x80                           ; call the kernel</a:t>
            </a:r>
          </a:p>
          <a:p>
            <a:pPr marL="0" indent="0"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r>
              <a:rPr lang="en-US" b="0" dirty="0">
                <a:effectLst/>
                <a:latin typeface="Consolas" panose="020B0609020204030204" pitchFamily="49" charset="0"/>
              </a:rPr>
              <a:t>section        .data                   ; here you declare the data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msg        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db</a:t>
            </a:r>
            <a:r>
              <a:rPr lang="en-US" b="0" dirty="0"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"Hello world!"</a:t>
            </a:r>
            <a:r>
              <a:rPr lang="en-US" b="0" dirty="0">
                <a:effectLst/>
                <a:latin typeface="Consolas" panose="020B0609020204030204" pitchFamily="49" charset="0"/>
              </a:rPr>
              <a:t>       ; the actual message to use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effectLst/>
                <a:latin typeface="Consolas" panose="020B0609020204030204" pitchFamily="49" charset="0"/>
              </a:rPr>
              <a:t>        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equ</a:t>
            </a:r>
            <a:r>
              <a:rPr lang="en-US" b="0" dirty="0">
                <a:effectLst/>
                <a:latin typeface="Consolas" panose="020B0609020204030204" pitchFamily="49" charset="0"/>
              </a:rPr>
              <a:t> $ -msg              ; get the size of the message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8205469" y="3723392"/>
            <a:ext cx="3850320" cy="286232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Assembly language </a:t>
            </a:r>
            <a:r>
              <a:rPr lang="en-CA" dirty="0"/>
              <a:t>is  the lowest</a:t>
            </a:r>
            <a:br>
              <a:rPr lang="en-CA" dirty="0"/>
            </a:br>
            <a:r>
              <a:rPr lang="en-CA" dirty="0"/>
              <a:t>level of programming language most</a:t>
            </a:r>
            <a:br>
              <a:rPr lang="en-CA" dirty="0"/>
            </a:br>
            <a:r>
              <a:rPr lang="en-CA" dirty="0"/>
              <a:t>programmers might deal with. It is the native language of the computer.</a:t>
            </a:r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fast, flexible</a:t>
            </a:r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simple tasks need long programs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difficult and time-consuming to write and debug</a:t>
            </a:r>
          </a:p>
        </p:txBody>
      </p:sp>
    </p:spTree>
    <p:extLst>
      <p:ext uri="{BB962C8B-B14F-4D97-AF65-F5344CB8AC3E}">
        <p14:creationId xmlns:p14="http://schemas.microsoft.com/office/powerpoint/2010/main" val="4281630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1904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#include &lt;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effectLst/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int main() 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effectLst/>
                <a:latin typeface="Consolas" panose="020B0609020204030204" pitchFamily="49" charset="0"/>
              </a:rPr>
              <a:t>("Hello, World!\n");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return 0;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}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7567449" y="544652"/>
            <a:ext cx="4066198" cy="507831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C</a:t>
            </a:r>
            <a:r>
              <a:rPr lang="en-CA" dirty="0"/>
              <a:t> is an extremely influential language originally designed to write the </a:t>
            </a:r>
            <a:r>
              <a:rPr lang="en-CA" b="1" dirty="0"/>
              <a:t>Unix</a:t>
            </a:r>
            <a:r>
              <a:rPr lang="en-CA" dirty="0"/>
              <a:t> operating system in the 1970s. Compared to most other programming languages it is quite low-level and fast.</a:t>
            </a:r>
          </a:p>
          <a:p>
            <a:endParaRPr lang="en-CA" b="1" dirty="0"/>
          </a:p>
          <a:p>
            <a:r>
              <a:rPr lang="en-CA" b="1" dirty="0"/>
              <a:t>Pros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fast,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easier than assembly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portable across computers</a:t>
            </a:r>
            <a:endParaRPr lang="en-CA" b="1" dirty="0"/>
          </a:p>
          <a:p>
            <a:endParaRPr lang="en-CA" b="1" dirty="0"/>
          </a:p>
          <a:p>
            <a:r>
              <a:rPr lang="en-CA" b="1" dirty="0"/>
              <a:t>Cons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not very “programmer friendly”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designed for programs like operating systems or hardware, and often difficult to use for other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manual memory management (no garbage collection)</a:t>
            </a:r>
          </a:p>
        </p:txBody>
      </p:sp>
    </p:spTree>
    <p:extLst>
      <p:ext uri="{BB962C8B-B14F-4D97-AF65-F5344CB8AC3E}">
        <p14:creationId xmlns:p14="http://schemas.microsoft.com/office/powerpoint/2010/main" val="1617268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C++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#include &lt;iostream&gt;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using namespace std;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int main() 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cout &lt;&lt; "Hello, World!" &lt;&lt;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return 0;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}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8151188" y="1166842"/>
            <a:ext cx="3850320" cy="452431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C++</a:t>
            </a:r>
            <a:r>
              <a:rPr lang="en-CA" dirty="0"/>
              <a:t> is essentially C but with extra features, such as object-oriented programming (OOP) and generics. </a:t>
            </a:r>
          </a:p>
          <a:p>
            <a:endParaRPr lang="en-CA" dirty="0"/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fast,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often easier than 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more support for writing big programs</a:t>
            </a:r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huge and complex (new features added all the time; old features rarely removed)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still relatively low-level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memory is managed manually (no garbage collection)</a:t>
            </a:r>
          </a:p>
        </p:txBody>
      </p:sp>
    </p:spTree>
    <p:extLst>
      <p:ext uri="{BB962C8B-B14F-4D97-AF65-F5344CB8AC3E}">
        <p14:creationId xmlns:p14="http://schemas.microsoft.com/office/powerpoint/2010/main" val="3937816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Java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public class HelloWorld 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public static void main(String[]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args</a:t>
            </a:r>
            <a:r>
              <a:rPr lang="en-US" b="0" dirty="0">
                <a:effectLst/>
                <a:latin typeface="Consolas" panose="020B0609020204030204" pitchFamily="49" charset="0"/>
              </a:rPr>
              <a:t>) 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System.out.println</a:t>
            </a:r>
            <a:r>
              <a:rPr lang="en-US" b="0" dirty="0">
                <a:effectLst/>
                <a:latin typeface="Consolas" panose="020B0609020204030204" pitchFamily="49" charset="0"/>
              </a:rPr>
              <a:t>("Hello, World!");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}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5752403" y="3309176"/>
            <a:ext cx="6158446" cy="341632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Java </a:t>
            </a:r>
            <a:r>
              <a:rPr lang="en-CA" dirty="0"/>
              <a:t>was designed as an alternative to C++, but a  little more programmer friendly and with a stronger commitment to </a:t>
            </a:r>
            <a:r>
              <a:rPr lang="en-CA" b="1" dirty="0"/>
              <a:t>object-oriented programming </a:t>
            </a:r>
            <a:r>
              <a:rPr lang="en-CA" dirty="0"/>
              <a:t>(</a:t>
            </a:r>
            <a:r>
              <a:rPr lang="en-CA" b="1" dirty="0"/>
              <a:t>OOP</a:t>
            </a:r>
            <a:r>
              <a:rPr lang="en-CA" dirty="0"/>
              <a:t>).</a:t>
            </a:r>
          </a:p>
          <a:p>
            <a:endParaRPr lang="en-CA" dirty="0"/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OOP is built-in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memory management is automatic (garbage collected)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 the surface, looks like C/C++, but a little more “programmer friendly”</a:t>
            </a:r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verbose --- many simple programs are quite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OOP is not the best choice for everything</a:t>
            </a:r>
          </a:p>
        </p:txBody>
      </p:sp>
    </p:spTree>
    <p:extLst>
      <p:ext uri="{BB962C8B-B14F-4D97-AF65-F5344CB8AC3E}">
        <p14:creationId xmlns:p14="http://schemas.microsoft.com/office/powerpoint/2010/main" val="3853224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Go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package main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import "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fmt</a:t>
            </a:r>
            <a:r>
              <a:rPr lang="en-US" b="0" dirty="0">
                <a:effectLst/>
                <a:latin typeface="Consolas" panose="020B0609020204030204" pitchFamily="49" charset="0"/>
              </a:rPr>
              <a:t>"</a:t>
            </a:r>
          </a:p>
          <a:p>
            <a:pPr marL="0" indent="0">
              <a:buNone/>
            </a:pPr>
            <a:endParaRPr lang="en-US" b="0" dirty="0"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 err="1">
                <a:effectLst/>
                <a:latin typeface="Consolas" panose="020B0609020204030204" pitchFamily="49" charset="0"/>
              </a:rPr>
              <a:t>func</a:t>
            </a:r>
            <a:r>
              <a:rPr lang="en-US" b="0" dirty="0">
                <a:effectLst/>
                <a:latin typeface="Consolas" panose="020B0609020204030204" pitchFamily="49" charset="0"/>
              </a:rPr>
              <a:t> main() {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fmt.Println</a:t>
            </a:r>
            <a:r>
              <a:rPr lang="en-US" b="0" dirty="0">
                <a:effectLst/>
                <a:latin typeface="Consolas" panose="020B0609020204030204" pitchFamily="49" charset="0"/>
              </a:rPr>
              <a:t>("Hello, World!")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}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6056553" y="69889"/>
            <a:ext cx="6135447" cy="424731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Go </a:t>
            </a:r>
            <a:r>
              <a:rPr lang="en-CA" dirty="0"/>
              <a:t>is based on C but goes in a different direction than C++. It is more programmer friendly, simpler, and has automatic memory management. It’s popular for writing “server” programs, e.g. web servers, or applications that might have many users at the same time.</a:t>
            </a:r>
          </a:p>
          <a:p>
            <a:endParaRPr lang="en-CA" dirty="0"/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grammar are rules are simpler than C/C++/Java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nice built-in support for concurrent programs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memory management is automatic (garbage collected)</a:t>
            </a:r>
          </a:p>
          <a:p>
            <a:endParaRPr lang="en-CA" b="1" dirty="0"/>
          </a:p>
          <a:p>
            <a:r>
              <a:rPr lang="en-CA" b="1" dirty="0"/>
              <a:t>Cons</a:t>
            </a:r>
            <a:r>
              <a:rPr lang="en-CA" dirty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verbose --- many simple programs are quite 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not close enough to C/C++/Java for some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some odd design decisions, e.g. error-handling is unusual</a:t>
            </a:r>
          </a:p>
        </p:txBody>
      </p:sp>
    </p:spTree>
    <p:extLst>
      <p:ext uri="{BB962C8B-B14F-4D97-AF65-F5344CB8AC3E}">
        <p14:creationId xmlns:p14="http://schemas.microsoft.com/office/powerpoint/2010/main" val="2910585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JavaScript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86" y="2060241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console.log("Hello, World!");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6757736" y="178635"/>
            <a:ext cx="5221920" cy="507831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JavaScript </a:t>
            </a:r>
            <a:r>
              <a:rPr lang="en-CA" dirty="0"/>
              <a:t>is the language of web browsers: if you want to run a program in a browser, it needs to be in JavaScript. On the surface it looks like Java, but under that surface it is quite different.</a:t>
            </a:r>
          </a:p>
          <a:p>
            <a:endParaRPr lang="en-CA" dirty="0"/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relatively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supports OOP and other coding styles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surface-level similarity to C/C++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is THE language for web browsers</a:t>
            </a:r>
          </a:p>
          <a:p>
            <a:endParaRPr lang="en-CA" b="1" dirty="0"/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generally slower than </a:t>
            </a:r>
            <a:r>
              <a:rPr lang="en-CA" dirty="0"/>
              <a:t>C/C++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can be difficult to write large programs due to quirks in the language and lack of support for data types (the </a:t>
            </a:r>
            <a:r>
              <a:rPr lang="en-CA" b="1" dirty="0"/>
              <a:t>TypeScript</a:t>
            </a:r>
            <a:r>
              <a:rPr lang="en-CA" dirty="0"/>
              <a:t> language is a popular alternative --- it has better support for writing big programs and is compatible with JavaScript)</a:t>
            </a:r>
          </a:p>
        </p:txBody>
      </p:sp>
    </p:spTree>
    <p:extLst>
      <p:ext uri="{BB962C8B-B14F-4D97-AF65-F5344CB8AC3E}">
        <p14:creationId xmlns:p14="http://schemas.microsoft.com/office/powerpoint/2010/main" val="598370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F9A17-767A-E12B-BC3E-F74482A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Python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98CC9-C622-B878-F83F-05F196ABC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86" y="2060241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print("Hello, World!")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FB5CCC-97E9-CCC8-53AA-6EBA19E865D1}"/>
              </a:ext>
            </a:extLst>
          </p:cNvPr>
          <p:cNvSpPr txBox="1"/>
          <p:nvPr/>
        </p:nvSpPr>
        <p:spPr>
          <a:xfrm>
            <a:off x="6757736" y="178635"/>
            <a:ext cx="5221920" cy="369331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Python </a:t>
            </a:r>
            <a:r>
              <a:rPr lang="en-CA" dirty="0"/>
              <a:t>is the language we’re learning.</a:t>
            </a:r>
          </a:p>
          <a:p>
            <a:r>
              <a:rPr lang="en-CA" dirty="0"/>
              <a:t> </a:t>
            </a:r>
          </a:p>
          <a:p>
            <a:r>
              <a:rPr lang="en-CA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relatively easy to use and learn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supports OOP and other coding styles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extremely popular in data science and AI</a:t>
            </a:r>
          </a:p>
          <a:p>
            <a:endParaRPr lang="en-CA" b="1" dirty="0"/>
          </a:p>
          <a:p>
            <a:r>
              <a:rPr lang="en-CA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can use significantly more time and memory than C/C++, so not practical for programs where performance is crucial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like JavaScript, can be difficult to write bigger programs</a:t>
            </a:r>
          </a:p>
        </p:txBody>
      </p:sp>
    </p:spTree>
    <p:extLst>
      <p:ext uri="{BB962C8B-B14F-4D97-AF65-F5344CB8AC3E}">
        <p14:creationId xmlns:p14="http://schemas.microsoft.com/office/powerpoint/2010/main" val="299047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3431</TotalTime>
  <Words>1303</Words>
  <Application>Microsoft Macintosh PowerPoint</Application>
  <PresentationFormat>Widescreen</PresentationFormat>
  <Paragraphs>177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Google Sans</vt:lpstr>
      <vt:lpstr>Office Theme</vt:lpstr>
      <vt:lpstr>Natural Languages and Formal Languages</vt:lpstr>
      <vt:lpstr>Natural Languages</vt:lpstr>
      <vt:lpstr>Natural Languages</vt:lpstr>
      <vt:lpstr>Formal Languages</vt:lpstr>
      <vt:lpstr>Formal Languages</vt:lpstr>
      <vt:lpstr>Formal Languages</vt:lpstr>
      <vt:lpstr>Hello World in Various Languages</vt:lpstr>
      <vt:lpstr>Natural Language</vt:lpstr>
      <vt:lpstr>Assembly Language</vt:lpstr>
      <vt:lpstr>C Language</vt:lpstr>
      <vt:lpstr>C++ Language</vt:lpstr>
      <vt:lpstr>Java Language</vt:lpstr>
      <vt:lpstr>Go Language</vt:lpstr>
      <vt:lpstr>JavaScript Language</vt:lpstr>
      <vt:lpstr>Python Language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2024-09-11T06:45:41Z</dcterms:created>
  <dcterms:modified xsi:type="dcterms:W3CDTF">2026-01-12T02:02:56Z</dcterms:modified>
</cp:coreProperties>
</file>