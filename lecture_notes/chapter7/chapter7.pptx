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0"/>
  </p:notesMasterIdLst>
  <p:sldIdLst>
    <p:sldId id="298" r:id="rId2"/>
    <p:sldId id="372" r:id="rId3"/>
    <p:sldId id="297" r:id="rId4"/>
    <p:sldId id="341" r:id="rId5"/>
    <p:sldId id="343" r:id="rId6"/>
    <p:sldId id="342" r:id="rId7"/>
    <p:sldId id="345" r:id="rId8"/>
    <p:sldId id="369" r:id="rId9"/>
    <p:sldId id="344" r:id="rId10"/>
    <p:sldId id="346" r:id="rId11"/>
    <p:sldId id="347" r:id="rId12"/>
    <p:sldId id="349" r:id="rId13"/>
    <p:sldId id="348" r:id="rId14"/>
    <p:sldId id="350" r:id="rId15"/>
    <p:sldId id="351" r:id="rId16"/>
    <p:sldId id="352" r:id="rId17"/>
    <p:sldId id="357" r:id="rId18"/>
    <p:sldId id="353" r:id="rId19"/>
    <p:sldId id="354" r:id="rId20"/>
    <p:sldId id="355" r:id="rId21"/>
    <p:sldId id="356" r:id="rId22"/>
    <p:sldId id="340" r:id="rId23"/>
    <p:sldId id="300" r:id="rId24"/>
    <p:sldId id="299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7" r:id="rId37"/>
    <p:sldId id="313" r:id="rId38"/>
    <p:sldId id="314" r:id="rId39"/>
    <p:sldId id="315" r:id="rId40"/>
    <p:sldId id="316" r:id="rId41"/>
    <p:sldId id="318" r:id="rId42"/>
    <p:sldId id="373" r:id="rId43"/>
    <p:sldId id="320" r:id="rId44"/>
    <p:sldId id="321" r:id="rId45"/>
    <p:sldId id="322" r:id="rId46"/>
    <p:sldId id="323" r:id="rId47"/>
    <p:sldId id="324" r:id="rId48"/>
    <p:sldId id="325" r:id="rId49"/>
    <p:sldId id="326" r:id="rId50"/>
    <p:sldId id="327" r:id="rId51"/>
    <p:sldId id="328" r:id="rId52"/>
    <p:sldId id="370" r:id="rId53"/>
    <p:sldId id="329" r:id="rId54"/>
    <p:sldId id="330" r:id="rId55"/>
    <p:sldId id="331" r:id="rId56"/>
    <p:sldId id="334" r:id="rId57"/>
    <p:sldId id="374" r:id="rId58"/>
    <p:sldId id="335" r:id="rId59"/>
    <p:sldId id="336" r:id="rId60"/>
    <p:sldId id="338" r:id="rId61"/>
    <p:sldId id="337" r:id="rId62"/>
    <p:sldId id="339" r:id="rId63"/>
    <p:sldId id="375" r:id="rId64"/>
    <p:sldId id="358" r:id="rId65"/>
    <p:sldId id="376" r:id="rId66"/>
    <p:sldId id="359" r:id="rId67"/>
    <p:sldId id="377" r:id="rId68"/>
    <p:sldId id="378" r:id="rId69"/>
    <p:sldId id="360" r:id="rId70"/>
    <p:sldId id="361" r:id="rId71"/>
    <p:sldId id="362" r:id="rId72"/>
    <p:sldId id="363" r:id="rId73"/>
    <p:sldId id="364" r:id="rId74"/>
    <p:sldId id="365" r:id="rId75"/>
    <p:sldId id="366" r:id="rId76"/>
    <p:sldId id="367" r:id="rId77"/>
    <p:sldId id="368" r:id="rId78"/>
    <p:sldId id="371" r:id="rId7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C6D2841-53D1-4EE5-80E3-536AF86ACDB9}">
          <p14:sldIdLst>
            <p14:sldId id="298"/>
            <p14:sldId id="372"/>
          </p14:sldIdLst>
        </p14:section>
        <p14:section name="While loops" id="{E36E5517-7CC4-4D9D-8F28-E65F671B9B1A}">
          <p14:sldIdLst>
            <p14:sldId id="297"/>
            <p14:sldId id="341"/>
            <p14:sldId id="343"/>
            <p14:sldId id="342"/>
            <p14:sldId id="345"/>
            <p14:sldId id="369"/>
            <p14:sldId id="344"/>
            <p14:sldId id="346"/>
            <p14:sldId id="347"/>
            <p14:sldId id="349"/>
            <p14:sldId id="348"/>
            <p14:sldId id="350"/>
            <p14:sldId id="351"/>
          </p14:sldIdLst>
        </p14:section>
        <p14:section name="For-loops as while loops" id="{7AB21A5C-F16C-5E42-8632-AC1C4CCE8797}">
          <p14:sldIdLst>
            <p14:sldId id="352"/>
            <p14:sldId id="357"/>
            <p14:sldId id="353"/>
            <p14:sldId id="354"/>
            <p14:sldId id="355"/>
            <p14:sldId id="356"/>
          </p14:sldIdLst>
        </p14:section>
        <p14:section name="Looping over strings" id="{A5CD822B-5F60-4DC9-AAB7-643B879FBBD4}">
          <p14:sldIdLst>
            <p14:sldId id="340"/>
            <p14:sldId id="300"/>
            <p14:sldId id="299"/>
            <p14:sldId id="301"/>
          </p14:sldIdLst>
        </p14:section>
        <p14:section name="Searching a string" id="{B9145289-9759-4E57-8FB5-1D63805649D7}">
          <p14:sldIdLst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7"/>
            <p14:sldId id="313"/>
            <p14:sldId id="314"/>
            <p14:sldId id="315"/>
            <p14:sldId id="316"/>
          </p14:sldIdLst>
        </p14:section>
        <p14:section name="Reading text files" id="{4E45DE34-0511-496D-8FBF-367CF547EDC4}">
          <p14:sldIdLst>
            <p14:sldId id="318"/>
            <p14:sldId id="373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70"/>
            <p14:sldId id="329"/>
          </p14:sldIdLst>
        </p14:section>
        <p14:section name="English words" id="{041046FF-EBCD-45BA-883B-E38B4B076FC1}">
          <p14:sldIdLst>
            <p14:sldId id="330"/>
            <p14:sldId id="331"/>
            <p14:sldId id="334"/>
            <p14:sldId id="374"/>
            <p14:sldId id="335"/>
            <p14:sldId id="336"/>
            <p14:sldId id="338"/>
            <p14:sldId id="337"/>
            <p14:sldId id="339"/>
          </p14:sldIdLst>
        </p14:section>
        <p14:section name="Example: Spelling Bee puzzle" id="{294DA4A1-519E-4A54-A79A-9576130890A8}">
          <p14:sldIdLst>
            <p14:sldId id="375"/>
            <p14:sldId id="358"/>
            <p14:sldId id="376"/>
            <p14:sldId id="359"/>
            <p14:sldId id="377"/>
            <p14:sldId id="378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D07D27-3354-2246-B42A-02BD02CD2B84}" v="11" dt="2026-02-16T07:46:14.8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6278" autoAdjust="0"/>
  </p:normalViewPr>
  <p:slideViewPr>
    <p:cSldViewPr snapToGrid="0">
      <p:cViewPr varScale="1">
        <p:scale>
          <a:sx n="147" d="100"/>
          <a:sy n="147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redo custSel addSld delSld modSld sldOrd addSection modSection">
      <pc:chgData name="Toby Donaldson" userId="2e6e5431-bb17-4c41-9985-d39c50d83c73" providerId="ADAL" clId="{F31BC264-820E-54C4-A6D1-F92AF9CC222E}" dt="2026-02-16T07:52:01.262" v="625" actId="20577"/>
      <pc:docMkLst>
        <pc:docMk/>
      </pc:docMkLst>
      <pc:sldChg chg="modSp mod">
        <pc:chgData name="Toby Donaldson" userId="2e6e5431-bb17-4c41-9985-d39c50d83c73" providerId="ADAL" clId="{F31BC264-820E-54C4-A6D1-F92AF9CC222E}" dt="2026-02-16T06:13:40.523" v="18" actId="1076"/>
        <pc:sldMkLst>
          <pc:docMk/>
          <pc:sldMk cId="3108921986" sldId="297"/>
        </pc:sldMkLst>
        <pc:spChg chg="mod">
          <ac:chgData name="Toby Donaldson" userId="2e6e5431-bb17-4c41-9985-d39c50d83c73" providerId="ADAL" clId="{F31BC264-820E-54C4-A6D1-F92AF9CC222E}" dt="2026-02-16T06:13:40.523" v="18" actId="1076"/>
          <ac:spMkLst>
            <pc:docMk/>
            <pc:sldMk cId="3108921986" sldId="297"/>
            <ac:spMk id="12" creationId="{3AF2C4DB-946E-1805-ACEA-E990CBE59E01}"/>
          </ac:spMkLst>
        </pc:spChg>
      </pc:sldChg>
      <pc:sldChg chg="addSp delSp modSp mod">
        <pc:chgData name="Toby Donaldson" userId="2e6e5431-bb17-4c41-9985-d39c50d83c73" providerId="ADAL" clId="{F31BC264-820E-54C4-A6D1-F92AF9CC222E}" dt="2026-02-16T07:21:28.326" v="92"/>
        <pc:sldMkLst>
          <pc:docMk/>
          <pc:sldMk cId="3543262634" sldId="303"/>
        </pc:sldMkLst>
        <pc:spChg chg="del">
          <ac:chgData name="Toby Donaldson" userId="2e6e5431-bb17-4c41-9985-d39c50d83c73" providerId="ADAL" clId="{F31BC264-820E-54C4-A6D1-F92AF9CC222E}" dt="2026-02-16T07:21:22.396" v="91" actId="21"/>
          <ac:spMkLst>
            <pc:docMk/>
            <pc:sldMk cId="3543262634" sldId="303"/>
            <ac:spMk id="6" creationId="{4D0A4257-7E90-06B7-3483-D2FAC0535B65}"/>
          </ac:spMkLst>
        </pc:spChg>
        <pc:spChg chg="add mod">
          <ac:chgData name="Toby Donaldson" userId="2e6e5431-bb17-4c41-9985-d39c50d83c73" providerId="ADAL" clId="{F31BC264-820E-54C4-A6D1-F92AF9CC222E}" dt="2026-02-16T07:21:28.326" v="92"/>
          <ac:spMkLst>
            <pc:docMk/>
            <pc:sldMk cId="3543262634" sldId="303"/>
            <ac:spMk id="7" creationId="{F1E06168-84F9-C1D5-F6F8-6EBE97F901CA}"/>
          </ac:spMkLst>
        </pc:spChg>
      </pc:sldChg>
      <pc:sldChg chg="modSp mod">
        <pc:chgData name="Toby Donaldson" userId="2e6e5431-bb17-4c41-9985-d39c50d83c73" providerId="ADAL" clId="{F31BC264-820E-54C4-A6D1-F92AF9CC222E}" dt="2026-02-16T07:22:40.580" v="102" actId="20577"/>
        <pc:sldMkLst>
          <pc:docMk/>
          <pc:sldMk cId="2152713045" sldId="308"/>
        </pc:sldMkLst>
        <pc:spChg chg="mod">
          <ac:chgData name="Toby Donaldson" userId="2e6e5431-bb17-4c41-9985-d39c50d83c73" providerId="ADAL" clId="{F31BC264-820E-54C4-A6D1-F92AF9CC222E}" dt="2026-02-16T07:22:40.580" v="102" actId="20577"/>
          <ac:spMkLst>
            <pc:docMk/>
            <pc:sldMk cId="2152713045" sldId="308"/>
            <ac:spMk id="7" creationId="{091FF1DC-4246-518A-8136-BC562D2907A8}"/>
          </ac:spMkLst>
        </pc:spChg>
      </pc:sldChg>
      <pc:sldChg chg="modSp mod">
        <pc:chgData name="Toby Donaldson" userId="2e6e5431-bb17-4c41-9985-d39c50d83c73" providerId="ADAL" clId="{F31BC264-820E-54C4-A6D1-F92AF9CC222E}" dt="2026-02-16T07:24:14.636" v="120" actId="20577"/>
        <pc:sldMkLst>
          <pc:docMk/>
          <pc:sldMk cId="2217005126" sldId="317"/>
        </pc:sldMkLst>
        <pc:spChg chg="mod">
          <ac:chgData name="Toby Donaldson" userId="2e6e5431-bb17-4c41-9985-d39c50d83c73" providerId="ADAL" clId="{F31BC264-820E-54C4-A6D1-F92AF9CC222E}" dt="2026-02-16T07:24:14.636" v="120" actId="20577"/>
          <ac:spMkLst>
            <pc:docMk/>
            <pc:sldMk cId="2217005126" sldId="317"/>
            <ac:spMk id="10" creationId="{E7F4B539-4DD0-2F94-C5D1-EC9D32FE3C37}"/>
          </ac:spMkLst>
        </pc:spChg>
      </pc:sldChg>
      <pc:sldChg chg="delSp modSp mod">
        <pc:chgData name="Toby Donaldson" userId="2e6e5431-bb17-4c41-9985-d39c50d83c73" providerId="ADAL" clId="{F31BC264-820E-54C4-A6D1-F92AF9CC222E}" dt="2026-02-16T07:26:36.056" v="122" actId="21"/>
        <pc:sldMkLst>
          <pc:docMk/>
          <pc:sldMk cId="307709859" sldId="318"/>
        </pc:sldMkLst>
        <pc:spChg chg="del">
          <ac:chgData name="Toby Donaldson" userId="2e6e5431-bb17-4c41-9985-d39c50d83c73" providerId="ADAL" clId="{F31BC264-820E-54C4-A6D1-F92AF9CC222E}" dt="2026-02-16T07:26:36.056" v="122" actId="21"/>
          <ac:spMkLst>
            <pc:docMk/>
            <pc:sldMk cId="307709859" sldId="318"/>
            <ac:spMk id="10" creationId="{63F6CDD3-B393-565A-74FE-64771403A045}"/>
          </ac:spMkLst>
        </pc:spChg>
        <pc:spChg chg="del">
          <ac:chgData name="Toby Donaldson" userId="2e6e5431-bb17-4c41-9985-d39c50d83c73" providerId="ADAL" clId="{F31BC264-820E-54C4-A6D1-F92AF9CC222E}" dt="2026-02-16T07:26:36.056" v="122" actId="21"/>
          <ac:spMkLst>
            <pc:docMk/>
            <pc:sldMk cId="307709859" sldId="318"/>
            <ac:spMk id="11" creationId="{6120AF85-83C1-E156-6D35-CDB1819B2FA1}"/>
          </ac:spMkLst>
        </pc:spChg>
        <pc:spChg chg="del">
          <ac:chgData name="Toby Donaldson" userId="2e6e5431-bb17-4c41-9985-d39c50d83c73" providerId="ADAL" clId="{F31BC264-820E-54C4-A6D1-F92AF9CC222E}" dt="2026-02-16T07:26:36.056" v="122" actId="21"/>
          <ac:spMkLst>
            <pc:docMk/>
            <pc:sldMk cId="307709859" sldId="318"/>
            <ac:spMk id="15" creationId="{9D3822C7-B853-C548-0300-732AECA113CF}"/>
          </ac:spMkLst>
        </pc:spChg>
        <pc:spChg chg="del">
          <ac:chgData name="Toby Donaldson" userId="2e6e5431-bb17-4c41-9985-d39c50d83c73" providerId="ADAL" clId="{F31BC264-820E-54C4-A6D1-F92AF9CC222E}" dt="2026-02-16T07:26:36.056" v="122" actId="21"/>
          <ac:spMkLst>
            <pc:docMk/>
            <pc:sldMk cId="307709859" sldId="318"/>
            <ac:spMk id="18" creationId="{A0657D72-910C-8C9B-C1DF-521FA0E7F205}"/>
          </ac:spMkLst>
        </pc:spChg>
        <pc:cxnChg chg="del mod">
          <ac:chgData name="Toby Donaldson" userId="2e6e5431-bb17-4c41-9985-d39c50d83c73" providerId="ADAL" clId="{F31BC264-820E-54C4-A6D1-F92AF9CC222E}" dt="2026-02-16T07:26:36.056" v="122" actId="21"/>
          <ac:cxnSpMkLst>
            <pc:docMk/>
            <pc:sldMk cId="307709859" sldId="318"/>
            <ac:cxnSpMk id="14" creationId="{1EEA8FF4-B16A-5DF4-DC50-3C7E0F641009}"/>
          </ac:cxnSpMkLst>
        </pc:cxnChg>
      </pc:sldChg>
      <pc:sldChg chg="modSp mod">
        <pc:chgData name="Toby Donaldson" userId="2e6e5431-bb17-4c41-9985-d39c50d83c73" providerId="ADAL" clId="{F31BC264-820E-54C4-A6D1-F92AF9CC222E}" dt="2026-02-16T07:29:01.175" v="128" actId="207"/>
        <pc:sldMkLst>
          <pc:docMk/>
          <pc:sldMk cId="2782017614" sldId="327"/>
        </pc:sldMkLst>
        <pc:spChg chg="mod">
          <ac:chgData name="Toby Donaldson" userId="2e6e5431-bb17-4c41-9985-d39c50d83c73" providerId="ADAL" clId="{F31BC264-820E-54C4-A6D1-F92AF9CC222E}" dt="2026-02-16T07:29:01.175" v="128" actId="207"/>
          <ac:spMkLst>
            <pc:docMk/>
            <pc:sldMk cId="2782017614" sldId="327"/>
            <ac:spMk id="9" creationId="{692CB4F5-4CB1-5EEC-95C9-EA0A1D9C57AD}"/>
          </ac:spMkLst>
        </pc:spChg>
      </pc:sldChg>
      <pc:sldChg chg="modSp mod">
        <pc:chgData name="Toby Donaldson" userId="2e6e5431-bb17-4c41-9985-d39c50d83c73" providerId="ADAL" clId="{F31BC264-820E-54C4-A6D1-F92AF9CC222E}" dt="2026-02-16T07:30:00.578" v="132" actId="207"/>
        <pc:sldMkLst>
          <pc:docMk/>
          <pc:sldMk cId="291094791" sldId="328"/>
        </pc:sldMkLst>
        <pc:spChg chg="mod">
          <ac:chgData name="Toby Donaldson" userId="2e6e5431-bb17-4c41-9985-d39c50d83c73" providerId="ADAL" clId="{F31BC264-820E-54C4-A6D1-F92AF9CC222E}" dt="2026-02-16T07:30:00.578" v="132" actId="207"/>
          <ac:spMkLst>
            <pc:docMk/>
            <pc:sldMk cId="291094791" sldId="328"/>
            <ac:spMk id="9" creationId="{89D05729-CC84-0DEA-EA87-4919481CA92F}"/>
          </ac:spMkLst>
        </pc:spChg>
      </pc:sldChg>
      <pc:sldChg chg="modSp mod">
        <pc:chgData name="Toby Donaldson" userId="2e6e5431-bb17-4c41-9985-d39c50d83c73" providerId="ADAL" clId="{F31BC264-820E-54C4-A6D1-F92AF9CC222E}" dt="2026-02-16T07:30:47.950" v="135" actId="207"/>
        <pc:sldMkLst>
          <pc:docMk/>
          <pc:sldMk cId="727847569" sldId="329"/>
        </pc:sldMkLst>
        <pc:spChg chg="mod">
          <ac:chgData name="Toby Donaldson" userId="2e6e5431-bb17-4c41-9985-d39c50d83c73" providerId="ADAL" clId="{F31BC264-820E-54C4-A6D1-F92AF9CC222E}" dt="2026-02-16T07:30:47.950" v="135" actId="207"/>
          <ac:spMkLst>
            <pc:docMk/>
            <pc:sldMk cId="727847569" sldId="329"/>
            <ac:spMk id="9" creationId="{40EE5F8C-F3CE-2299-9254-A981E2BCAD7D}"/>
          </ac:spMkLst>
        </pc:spChg>
      </pc:sldChg>
      <pc:sldChg chg="addSp delSp modSp mod">
        <pc:chgData name="Toby Donaldson" userId="2e6e5431-bb17-4c41-9985-d39c50d83c73" providerId="ADAL" clId="{F31BC264-820E-54C4-A6D1-F92AF9CC222E}" dt="2026-02-16T07:35:08.680" v="145" actId="692"/>
        <pc:sldMkLst>
          <pc:docMk/>
          <pc:sldMk cId="1743895988" sldId="331"/>
        </pc:sldMkLst>
        <pc:spChg chg="add del mod">
          <ac:chgData name="Toby Donaldson" userId="2e6e5431-bb17-4c41-9985-d39c50d83c73" providerId="ADAL" clId="{F31BC264-820E-54C4-A6D1-F92AF9CC222E}" dt="2026-02-16T07:32:24.392" v="139"/>
          <ac:spMkLst>
            <pc:docMk/>
            <pc:sldMk cId="1743895988" sldId="331"/>
            <ac:spMk id="7" creationId="{32285B1D-4BE7-A6C2-38F6-1D35A12EEB77}"/>
          </ac:spMkLst>
        </pc:spChg>
        <pc:spChg chg="add mod">
          <ac:chgData name="Toby Donaldson" userId="2e6e5431-bb17-4c41-9985-d39c50d83c73" providerId="ADAL" clId="{F31BC264-820E-54C4-A6D1-F92AF9CC222E}" dt="2026-02-16T07:35:08.680" v="145" actId="692"/>
          <ac:spMkLst>
            <pc:docMk/>
            <pc:sldMk cId="1743895988" sldId="331"/>
            <ac:spMk id="12" creationId="{366F959E-6BEB-952D-56C1-2ED94DF4C0D8}"/>
          </ac:spMkLst>
        </pc:spChg>
      </pc:sldChg>
      <pc:sldChg chg="delSp mod">
        <pc:chgData name="Toby Donaldson" userId="2e6e5431-bb17-4c41-9985-d39c50d83c73" providerId="ADAL" clId="{F31BC264-820E-54C4-A6D1-F92AF9CC222E}" dt="2026-02-16T07:35:48.831" v="148" actId="21"/>
        <pc:sldMkLst>
          <pc:docMk/>
          <pc:sldMk cId="4232506138" sldId="334"/>
        </pc:sldMkLst>
        <pc:spChg chg="del">
          <ac:chgData name="Toby Donaldson" userId="2e6e5431-bb17-4c41-9985-d39c50d83c73" providerId="ADAL" clId="{F31BC264-820E-54C4-A6D1-F92AF9CC222E}" dt="2026-02-16T07:35:48.831" v="148" actId="21"/>
          <ac:spMkLst>
            <pc:docMk/>
            <pc:sldMk cId="4232506138" sldId="334"/>
            <ac:spMk id="7" creationId="{A131D818-CA4F-43D5-2D3F-26A068FF2303}"/>
          </ac:spMkLst>
        </pc:spChg>
        <pc:spChg chg="del">
          <ac:chgData name="Toby Donaldson" userId="2e6e5431-bb17-4c41-9985-d39c50d83c73" providerId="ADAL" clId="{F31BC264-820E-54C4-A6D1-F92AF9CC222E}" dt="2026-02-16T07:35:46.477" v="147" actId="21"/>
          <ac:spMkLst>
            <pc:docMk/>
            <pc:sldMk cId="4232506138" sldId="334"/>
            <ac:spMk id="10" creationId="{E172D1F3-5619-6C48-4DCC-A0D22A423902}"/>
          </ac:spMkLst>
        </pc:spChg>
      </pc:sldChg>
      <pc:sldChg chg="modSp mod">
        <pc:chgData name="Toby Donaldson" userId="2e6e5431-bb17-4c41-9985-d39c50d83c73" providerId="ADAL" clId="{F31BC264-820E-54C4-A6D1-F92AF9CC222E}" dt="2026-02-13T19:37:21.247" v="17" actId="313"/>
        <pc:sldMkLst>
          <pc:docMk/>
          <pc:sldMk cId="69219913" sldId="339"/>
        </pc:sldMkLst>
        <pc:spChg chg="mod">
          <ac:chgData name="Toby Donaldson" userId="2e6e5431-bb17-4c41-9985-d39c50d83c73" providerId="ADAL" clId="{F31BC264-820E-54C4-A6D1-F92AF9CC222E}" dt="2026-02-13T19:37:21.247" v="17" actId="313"/>
          <ac:spMkLst>
            <pc:docMk/>
            <pc:sldMk cId="69219913" sldId="339"/>
            <ac:spMk id="6" creationId="{67F0B1FC-F355-F902-BEEB-BD80E1B1E143}"/>
          </ac:spMkLst>
        </pc:spChg>
      </pc:sldChg>
      <pc:sldChg chg="modSp mod">
        <pc:chgData name="Toby Donaldson" userId="2e6e5431-bb17-4c41-9985-d39c50d83c73" providerId="ADAL" clId="{F31BC264-820E-54C4-A6D1-F92AF9CC222E}" dt="2026-02-16T07:19:12.006" v="85" actId="20577"/>
        <pc:sldMkLst>
          <pc:docMk/>
          <pc:sldMk cId="2809845948" sldId="355"/>
        </pc:sldMkLst>
        <pc:spChg chg="mod">
          <ac:chgData name="Toby Donaldson" userId="2e6e5431-bb17-4c41-9985-d39c50d83c73" providerId="ADAL" clId="{F31BC264-820E-54C4-A6D1-F92AF9CC222E}" dt="2026-02-16T07:19:12.006" v="85" actId="20577"/>
          <ac:spMkLst>
            <pc:docMk/>
            <pc:sldMk cId="2809845948" sldId="355"/>
            <ac:spMk id="11" creationId="{6CFDC11D-8170-8D79-62C7-35459FFC25C1}"/>
          </ac:spMkLst>
        </pc:spChg>
      </pc:sldChg>
      <pc:sldChg chg="addSp delSp modSp mod">
        <pc:chgData name="Toby Donaldson" userId="2e6e5431-bb17-4c41-9985-d39c50d83c73" providerId="ADAL" clId="{F31BC264-820E-54C4-A6D1-F92AF9CC222E}" dt="2026-02-16T07:20:21.499" v="89" actId="21"/>
        <pc:sldMkLst>
          <pc:docMk/>
          <pc:sldMk cId="2745005155" sldId="356"/>
        </pc:sldMkLst>
        <pc:picChg chg="add del mod">
          <ac:chgData name="Toby Donaldson" userId="2e6e5431-bb17-4c41-9985-d39c50d83c73" providerId="ADAL" clId="{F31BC264-820E-54C4-A6D1-F92AF9CC222E}" dt="2026-02-16T07:20:21.499" v="89" actId="21"/>
          <ac:picMkLst>
            <pc:docMk/>
            <pc:sldMk cId="2745005155" sldId="356"/>
            <ac:picMk id="8" creationId="{DC3FA498-F918-6857-91F4-784DAFE18D6F}"/>
          </ac:picMkLst>
        </pc:picChg>
      </pc:sldChg>
      <pc:sldChg chg="delSp modSp mod">
        <pc:chgData name="Toby Donaldson" userId="2e6e5431-bb17-4c41-9985-d39c50d83c73" providerId="ADAL" clId="{F31BC264-820E-54C4-A6D1-F92AF9CC222E}" dt="2026-02-16T07:45:14.844" v="445" actId="21"/>
        <pc:sldMkLst>
          <pc:docMk/>
          <pc:sldMk cId="554056988" sldId="358"/>
        </pc:sldMkLst>
        <pc:spChg chg="mod">
          <ac:chgData name="Toby Donaldson" userId="2e6e5431-bb17-4c41-9985-d39c50d83c73" providerId="ADAL" clId="{F31BC264-820E-54C4-A6D1-F92AF9CC222E}" dt="2026-02-16T07:44:31.245" v="443" actId="20577"/>
          <ac:spMkLst>
            <pc:docMk/>
            <pc:sldMk cId="554056988" sldId="358"/>
            <ac:spMk id="8" creationId="{99B784FE-CE35-2203-2AE3-773A19BAF3BB}"/>
          </ac:spMkLst>
        </pc:spChg>
        <pc:spChg chg="del">
          <ac:chgData name="Toby Donaldson" userId="2e6e5431-bb17-4c41-9985-d39c50d83c73" providerId="ADAL" clId="{F31BC264-820E-54C4-A6D1-F92AF9CC222E}" dt="2026-02-16T07:45:14.844" v="445" actId="21"/>
          <ac:spMkLst>
            <pc:docMk/>
            <pc:sldMk cId="554056988" sldId="358"/>
            <ac:spMk id="9" creationId="{80C8FA80-D8DC-D8D4-376F-8DD45D66817B}"/>
          </ac:spMkLst>
        </pc:spChg>
      </pc:sldChg>
      <pc:sldChg chg="addSp delSp modSp mod ord">
        <pc:chgData name="Toby Donaldson" userId="2e6e5431-bb17-4c41-9985-d39c50d83c73" providerId="ADAL" clId="{F31BC264-820E-54C4-A6D1-F92AF9CC222E}" dt="2026-02-16T07:47:12.290" v="538" actId="5793"/>
        <pc:sldMkLst>
          <pc:docMk/>
          <pc:sldMk cId="4070484776" sldId="359"/>
        </pc:sldMkLst>
        <pc:spChg chg="add mod">
          <ac:chgData name="Toby Donaldson" userId="2e6e5431-bb17-4c41-9985-d39c50d83c73" providerId="ADAL" clId="{F31BC264-820E-54C4-A6D1-F92AF9CC222E}" dt="2026-02-16T07:46:52.360" v="530" actId="122"/>
          <ac:spMkLst>
            <pc:docMk/>
            <pc:sldMk cId="4070484776" sldId="359"/>
            <ac:spMk id="2" creationId="{AD0EB34F-4A9C-6695-0C13-AF24407D9D68}"/>
          </ac:spMkLst>
        </pc:spChg>
        <pc:spChg chg="mod">
          <ac:chgData name="Toby Donaldson" userId="2e6e5431-bb17-4c41-9985-d39c50d83c73" providerId="ADAL" clId="{F31BC264-820E-54C4-A6D1-F92AF9CC222E}" dt="2026-02-16T07:47:12.290" v="538" actId="5793"/>
          <ac:spMkLst>
            <pc:docMk/>
            <pc:sldMk cId="4070484776" sldId="359"/>
            <ac:spMk id="5" creationId="{26539832-25B9-B678-FC28-155BA30DF887}"/>
          </ac:spMkLst>
        </pc:spChg>
        <pc:spChg chg="del">
          <ac:chgData name="Toby Donaldson" userId="2e6e5431-bb17-4c41-9985-d39c50d83c73" providerId="ADAL" clId="{F31BC264-820E-54C4-A6D1-F92AF9CC222E}" dt="2026-02-16T07:45:45.857" v="447" actId="21"/>
          <ac:spMkLst>
            <pc:docMk/>
            <pc:sldMk cId="4070484776" sldId="359"/>
            <ac:spMk id="7" creationId="{14ADD18A-0947-E9F8-6291-FC26DB89D96F}"/>
          </ac:spMkLst>
        </pc:spChg>
        <pc:spChg chg="del">
          <ac:chgData name="Toby Donaldson" userId="2e6e5431-bb17-4c41-9985-d39c50d83c73" providerId="ADAL" clId="{F31BC264-820E-54C4-A6D1-F92AF9CC222E}" dt="2026-02-16T07:45:45.857" v="447" actId="21"/>
          <ac:spMkLst>
            <pc:docMk/>
            <pc:sldMk cId="4070484776" sldId="359"/>
            <ac:spMk id="12" creationId="{330AC1AF-D9DA-F15A-6CAC-29EB2DF44A63}"/>
          </ac:spMkLst>
        </pc:spChg>
        <pc:spChg chg="del">
          <ac:chgData name="Toby Donaldson" userId="2e6e5431-bb17-4c41-9985-d39c50d83c73" providerId="ADAL" clId="{F31BC264-820E-54C4-A6D1-F92AF9CC222E}" dt="2026-02-16T07:45:45.857" v="447" actId="21"/>
          <ac:spMkLst>
            <pc:docMk/>
            <pc:sldMk cId="4070484776" sldId="359"/>
            <ac:spMk id="16" creationId="{70C58170-0CB1-4EC2-2A7A-CED3E74C023E}"/>
          </ac:spMkLst>
        </pc:spChg>
        <pc:cxnChg chg="del mod">
          <ac:chgData name="Toby Donaldson" userId="2e6e5431-bb17-4c41-9985-d39c50d83c73" providerId="ADAL" clId="{F31BC264-820E-54C4-A6D1-F92AF9CC222E}" dt="2026-02-16T07:45:45.857" v="447" actId="21"/>
          <ac:cxnSpMkLst>
            <pc:docMk/>
            <pc:sldMk cId="4070484776" sldId="359"/>
            <ac:cxnSpMk id="11" creationId="{CA0117A1-DAFC-B40C-8001-43FB746304E7}"/>
          </ac:cxnSpMkLst>
        </pc:cxnChg>
        <pc:cxnChg chg="del">
          <ac:chgData name="Toby Donaldson" userId="2e6e5431-bb17-4c41-9985-d39c50d83c73" providerId="ADAL" clId="{F31BC264-820E-54C4-A6D1-F92AF9CC222E}" dt="2026-02-16T07:45:45.857" v="447" actId="21"/>
          <ac:cxnSpMkLst>
            <pc:docMk/>
            <pc:sldMk cId="4070484776" sldId="359"/>
            <ac:cxnSpMk id="15" creationId="{E55351D7-5425-8198-5A55-CFF7176C01D0}"/>
          </ac:cxnSpMkLst>
        </pc:cxnChg>
        <pc:cxnChg chg="del">
          <ac:chgData name="Toby Donaldson" userId="2e6e5431-bb17-4c41-9985-d39c50d83c73" providerId="ADAL" clId="{F31BC264-820E-54C4-A6D1-F92AF9CC222E}" dt="2026-02-16T07:45:49.759" v="448" actId="21"/>
          <ac:cxnSpMkLst>
            <pc:docMk/>
            <pc:sldMk cId="4070484776" sldId="359"/>
            <ac:cxnSpMk id="19" creationId="{ED2364AB-92C2-6949-21B9-B23553816618}"/>
          </ac:cxnSpMkLst>
        </pc:cxnChg>
      </pc:sldChg>
      <pc:sldChg chg="modSp mod">
        <pc:chgData name="Toby Donaldson" userId="2e6e5431-bb17-4c41-9985-d39c50d83c73" providerId="ADAL" clId="{F31BC264-820E-54C4-A6D1-F92AF9CC222E}" dt="2026-02-16T07:48:41.352" v="561" actId="20577"/>
        <pc:sldMkLst>
          <pc:docMk/>
          <pc:sldMk cId="1138805861" sldId="361"/>
        </pc:sldMkLst>
        <pc:spChg chg="mod">
          <ac:chgData name="Toby Donaldson" userId="2e6e5431-bb17-4c41-9985-d39c50d83c73" providerId="ADAL" clId="{F31BC264-820E-54C4-A6D1-F92AF9CC222E}" dt="2026-02-16T07:48:41.352" v="561" actId="20577"/>
          <ac:spMkLst>
            <pc:docMk/>
            <pc:sldMk cId="1138805861" sldId="361"/>
            <ac:spMk id="16" creationId="{5CB688F5-CBE0-8FBD-B6C7-6B21664493F1}"/>
          </ac:spMkLst>
        </pc:spChg>
      </pc:sldChg>
      <pc:sldChg chg="delSp modSp mod">
        <pc:chgData name="Toby Donaldson" userId="2e6e5431-bb17-4c41-9985-d39c50d83c73" providerId="ADAL" clId="{F31BC264-820E-54C4-A6D1-F92AF9CC222E}" dt="2026-02-16T07:49:13.951" v="563" actId="21"/>
        <pc:sldMkLst>
          <pc:docMk/>
          <pc:sldMk cId="2449079006" sldId="363"/>
        </pc:sldMkLst>
        <pc:spChg chg="del mod">
          <ac:chgData name="Toby Donaldson" userId="2e6e5431-bb17-4c41-9985-d39c50d83c73" providerId="ADAL" clId="{F31BC264-820E-54C4-A6D1-F92AF9CC222E}" dt="2026-02-16T07:49:13.951" v="563" actId="21"/>
          <ac:spMkLst>
            <pc:docMk/>
            <pc:sldMk cId="2449079006" sldId="363"/>
            <ac:spMk id="5" creationId="{6645F8FC-DCDA-3D59-9227-37AE13804B63}"/>
          </ac:spMkLst>
        </pc:spChg>
      </pc:sldChg>
      <pc:sldChg chg="modSp mod">
        <pc:chgData name="Toby Donaldson" userId="2e6e5431-bb17-4c41-9985-d39c50d83c73" providerId="ADAL" clId="{F31BC264-820E-54C4-A6D1-F92AF9CC222E}" dt="2026-02-16T07:49:37.113" v="570" actId="20577"/>
        <pc:sldMkLst>
          <pc:docMk/>
          <pc:sldMk cId="1293448474" sldId="365"/>
        </pc:sldMkLst>
        <pc:spChg chg="mod">
          <ac:chgData name="Toby Donaldson" userId="2e6e5431-bb17-4c41-9985-d39c50d83c73" providerId="ADAL" clId="{F31BC264-820E-54C4-A6D1-F92AF9CC222E}" dt="2026-02-16T07:49:37.113" v="570" actId="20577"/>
          <ac:spMkLst>
            <pc:docMk/>
            <pc:sldMk cId="1293448474" sldId="365"/>
            <ac:spMk id="2" creationId="{97A7E02D-F94E-03EF-BB37-95D82E705B72}"/>
          </ac:spMkLst>
        </pc:spChg>
      </pc:sldChg>
      <pc:sldChg chg="modSp mod">
        <pc:chgData name="Toby Donaldson" userId="2e6e5431-bb17-4c41-9985-d39c50d83c73" providerId="ADAL" clId="{F31BC264-820E-54C4-A6D1-F92AF9CC222E}" dt="2026-02-16T07:50:13.092" v="591" actId="20577"/>
        <pc:sldMkLst>
          <pc:docMk/>
          <pc:sldMk cId="421622308" sldId="366"/>
        </pc:sldMkLst>
        <pc:spChg chg="mod">
          <ac:chgData name="Toby Donaldson" userId="2e6e5431-bb17-4c41-9985-d39c50d83c73" providerId="ADAL" clId="{F31BC264-820E-54C4-A6D1-F92AF9CC222E}" dt="2026-02-16T07:50:13.092" v="591" actId="20577"/>
          <ac:spMkLst>
            <pc:docMk/>
            <pc:sldMk cId="421622308" sldId="366"/>
            <ac:spMk id="2" creationId="{E6AC7D00-8FA8-8E6A-F822-4F5436216ACD}"/>
          </ac:spMkLst>
        </pc:spChg>
      </pc:sldChg>
      <pc:sldChg chg="modSp mod">
        <pc:chgData name="Toby Donaldson" userId="2e6e5431-bb17-4c41-9985-d39c50d83c73" providerId="ADAL" clId="{F31BC264-820E-54C4-A6D1-F92AF9CC222E}" dt="2026-02-16T07:51:06.870" v="610" actId="20577"/>
        <pc:sldMkLst>
          <pc:docMk/>
          <pc:sldMk cId="1753056197" sldId="367"/>
        </pc:sldMkLst>
        <pc:spChg chg="mod">
          <ac:chgData name="Toby Donaldson" userId="2e6e5431-bb17-4c41-9985-d39c50d83c73" providerId="ADAL" clId="{F31BC264-820E-54C4-A6D1-F92AF9CC222E}" dt="2026-02-16T07:50:04.209" v="584" actId="20577"/>
          <ac:spMkLst>
            <pc:docMk/>
            <pc:sldMk cId="1753056197" sldId="367"/>
            <ac:spMk id="2" creationId="{0802DE20-4740-E599-D8A9-90E09B216072}"/>
          </ac:spMkLst>
        </pc:spChg>
        <pc:spChg chg="mod">
          <ac:chgData name="Toby Donaldson" userId="2e6e5431-bb17-4c41-9985-d39c50d83c73" providerId="ADAL" clId="{F31BC264-820E-54C4-A6D1-F92AF9CC222E}" dt="2026-02-16T07:51:06.870" v="610" actId="20577"/>
          <ac:spMkLst>
            <pc:docMk/>
            <pc:sldMk cId="1753056197" sldId="367"/>
            <ac:spMk id="5" creationId="{74500349-6A04-0D1E-FD63-9FD1660106DF}"/>
          </ac:spMkLst>
        </pc:spChg>
      </pc:sldChg>
      <pc:sldChg chg="modSp mod">
        <pc:chgData name="Toby Donaldson" userId="2e6e5431-bb17-4c41-9985-d39c50d83c73" providerId="ADAL" clId="{F31BC264-820E-54C4-A6D1-F92AF9CC222E}" dt="2026-02-16T07:51:48.402" v="624" actId="20577"/>
        <pc:sldMkLst>
          <pc:docMk/>
          <pc:sldMk cId="231730313" sldId="368"/>
        </pc:sldMkLst>
        <pc:spChg chg="mod">
          <ac:chgData name="Toby Donaldson" userId="2e6e5431-bb17-4c41-9985-d39c50d83c73" providerId="ADAL" clId="{F31BC264-820E-54C4-A6D1-F92AF9CC222E}" dt="2026-02-16T07:51:48.402" v="624" actId="20577"/>
          <ac:spMkLst>
            <pc:docMk/>
            <pc:sldMk cId="231730313" sldId="368"/>
            <ac:spMk id="2" creationId="{850C2437-B506-EEDF-8039-3D041AFBF699}"/>
          </ac:spMkLst>
        </pc:spChg>
      </pc:sldChg>
      <pc:sldChg chg="addSp delSp modSp mod">
        <pc:chgData name="Toby Donaldson" userId="2e6e5431-bb17-4c41-9985-d39c50d83c73" providerId="ADAL" clId="{F31BC264-820E-54C4-A6D1-F92AF9CC222E}" dt="2026-02-16T07:30:27.369" v="134"/>
        <pc:sldMkLst>
          <pc:docMk/>
          <pc:sldMk cId="2110725605" sldId="370"/>
        </pc:sldMkLst>
        <pc:spChg chg="add mod">
          <ac:chgData name="Toby Donaldson" userId="2e6e5431-bb17-4c41-9985-d39c50d83c73" providerId="ADAL" clId="{F31BC264-820E-54C4-A6D1-F92AF9CC222E}" dt="2026-02-16T07:30:27.369" v="134"/>
          <ac:spMkLst>
            <pc:docMk/>
            <pc:sldMk cId="2110725605" sldId="370"/>
            <ac:spMk id="3" creationId="{E7894CFE-31A3-CE1A-6C7B-865BC0C865B4}"/>
          </ac:spMkLst>
        </pc:spChg>
        <pc:spChg chg="del">
          <ac:chgData name="Toby Donaldson" userId="2e6e5431-bb17-4c41-9985-d39c50d83c73" providerId="ADAL" clId="{F31BC264-820E-54C4-A6D1-F92AF9CC222E}" dt="2026-02-16T07:30:21.251" v="133" actId="21"/>
          <ac:spMkLst>
            <pc:docMk/>
            <pc:sldMk cId="2110725605" sldId="370"/>
            <ac:spMk id="9" creationId="{0CE85E08-7FE7-D2EB-860D-3E50D41C1524}"/>
          </ac:spMkLst>
        </pc:spChg>
      </pc:sldChg>
      <pc:sldChg chg="modSp mod">
        <pc:chgData name="Toby Donaldson" userId="2e6e5431-bb17-4c41-9985-d39c50d83c73" providerId="ADAL" clId="{F31BC264-820E-54C4-A6D1-F92AF9CC222E}" dt="2026-02-16T07:52:01.262" v="625" actId="20577"/>
        <pc:sldMkLst>
          <pc:docMk/>
          <pc:sldMk cId="1183669396" sldId="371"/>
        </pc:sldMkLst>
        <pc:spChg chg="mod">
          <ac:chgData name="Toby Donaldson" userId="2e6e5431-bb17-4c41-9985-d39c50d83c73" providerId="ADAL" clId="{F31BC264-820E-54C4-A6D1-F92AF9CC222E}" dt="2026-02-16T07:51:40.528" v="617" actId="20577"/>
          <ac:spMkLst>
            <pc:docMk/>
            <pc:sldMk cId="1183669396" sldId="371"/>
            <ac:spMk id="2" creationId="{DD006AC6-C208-FA92-7F61-FEDC4D4C3D7A}"/>
          </ac:spMkLst>
        </pc:spChg>
        <pc:spChg chg="mod">
          <ac:chgData name="Toby Donaldson" userId="2e6e5431-bb17-4c41-9985-d39c50d83c73" providerId="ADAL" clId="{F31BC264-820E-54C4-A6D1-F92AF9CC222E}" dt="2026-02-16T07:52:01.262" v="625" actId="20577"/>
          <ac:spMkLst>
            <pc:docMk/>
            <pc:sldMk cId="1183669396" sldId="371"/>
            <ac:spMk id="7" creationId="{F616990B-4AF3-DD0B-9C3A-C6E4BF6C45FA}"/>
          </ac:spMkLst>
        </pc:spChg>
      </pc:sldChg>
      <pc:sldChg chg="modSp new mod">
        <pc:chgData name="Toby Donaldson" userId="2e6e5431-bb17-4c41-9985-d39c50d83c73" providerId="ADAL" clId="{F31BC264-820E-54C4-A6D1-F92AF9CC222E}" dt="2026-02-16T06:14:27.070" v="79" actId="20577"/>
        <pc:sldMkLst>
          <pc:docMk/>
          <pc:sldMk cId="3054231408" sldId="372"/>
        </pc:sldMkLst>
        <pc:spChg chg="mod">
          <ac:chgData name="Toby Donaldson" userId="2e6e5431-bb17-4c41-9985-d39c50d83c73" providerId="ADAL" clId="{F31BC264-820E-54C4-A6D1-F92AF9CC222E}" dt="2026-02-16T06:14:15.191" v="25" actId="20577"/>
          <ac:spMkLst>
            <pc:docMk/>
            <pc:sldMk cId="3054231408" sldId="372"/>
            <ac:spMk id="2" creationId="{F241944C-5F21-8941-C892-90BC95AE079F}"/>
          </ac:spMkLst>
        </pc:spChg>
        <pc:spChg chg="mod">
          <ac:chgData name="Toby Donaldson" userId="2e6e5431-bb17-4c41-9985-d39c50d83c73" providerId="ADAL" clId="{F31BC264-820E-54C4-A6D1-F92AF9CC222E}" dt="2026-02-16T06:14:27.070" v="79" actId="20577"/>
          <ac:spMkLst>
            <pc:docMk/>
            <pc:sldMk cId="3054231408" sldId="372"/>
            <ac:spMk id="3" creationId="{636BB7AF-536E-960D-5DBF-B13DCDB5AE38}"/>
          </ac:spMkLst>
        </pc:spChg>
      </pc:sldChg>
      <pc:sldChg chg="delSp add mod">
        <pc:chgData name="Toby Donaldson" userId="2e6e5431-bb17-4c41-9985-d39c50d83c73" providerId="ADAL" clId="{F31BC264-820E-54C4-A6D1-F92AF9CC222E}" dt="2026-02-16T07:26:57.650" v="123" actId="21"/>
        <pc:sldMkLst>
          <pc:docMk/>
          <pc:sldMk cId="1195124904" sldId="373"/>
        </pc:sldMkLst>
        <pc:spChg chg="del">
          <ac:chgData name="Toby Donaldson" userId="2e6e5431-bb17-4c41-9985-d39c50d83c73" providerId="ADAL" clId="{F31BC264-820E-54C4-A6D1-F92AF9CC222E}" dt="2026-02-16T07:26:57.650" v="123" actId="21"/>
          <ac:spMkLst>
            <pc:docMk/>
            <pc:sldMk cId="1195124904" sldId="373"/>
            <ac:spMk id="15" creationId="{8DE90D6F-12BA-B2F0-FECC-8EEEA1614ACF}"/>
          </ac:spMkLst>
        </pc:spChg>
      </pc:sldChg>
      <pc:sldChg chg="modSp add mod">
        <pc:chgData name="Toby Donaldson" userId="2e6e5431-bb17-4c41-9985-d39c50d83c73" providerId="ADAL" clId="{F31BC264-820E-54C4-A6D1-F92AF9CC222E}" dt="2026-02-16T07:39:45.051" v="213" actId="20577"/>
        <pc:sldMkLst>
          <pc:docMk/>
          <pc:sldMk cId="424805642" sldId="374"/>
        </pc:sldMkLst>
        <pc:spChg chg="mod">
          <ac:chgData name="Toby Donaldson" userId="2e6e5431-bb17-4c41-9985-d39c50d83c73" providerId="ADAL" clId="{F31BC264-820E-54C4-A6D1-F92AF9CC222E}" dt="2026-02-16T07:36:13.472" v="160" actId="313"/>
          <ac:spMkLst>
            <pc:docMk/>
            <pc:sldMk cId="424805642" sldId="374"/>
            <ac:spMk id="7" creationId="{B6CD8394-EAD2-8EA2-FF7B-42630ECF5EED}"/>
          </ac:spMkLst>
        </pc:spChg>
        <pc:spChg chg="mod">
          <ac:chgData name="Toby Donaldson" userId="2e6e5431-bb17-4c41-9985-d39c50d83c73" providerId="ADAL" clId="{F31BC264-820E-54C4-A6D1-F92AF9CC222E}" dt="2026-02-16T07:39:45.051" v="213" actId="20577"/>
          <ac:spMkLst>
            <pc:docMk/>
            <pc:sldMk cId="424805642" sldId="374"/>
            <ac:spMk id="10" creationId="{6C1274C2-042A-5FD0-9CAD-BFEC52E80E30}"/>
          </ac:spMkLst>
        </pc:spChg>
      </pc:sldChg>
      <pc:sldChg chg="add del">
        <pc:chgData name="Toby Donaldson" userId="2e6e5431-bb17-4c41-9985-d39c50d83c73" providerId="ADAL" clId="{F31BC264-820E-54C4-A6D1-F92AF9CC222E}" dt="2026-02-16T07:32:36.568" v="141" actId="2696"/>
        <pc:sldMkLst>
          <pc:docMk/>
          <pc:sldMk cId="614083208" sldId="374"/>
        </pc:sldMkLst>
      </pc:sldChg>
      <pc:sldChg chg="addSp delSp modSp add mod ord">
        <pc:chgData name="Toby Donaldson" userId="2e6e5431-bb17-4c41-9985-d39c50d83c73" providerId="ADAL" clId="{F31BC264-820E-54C4-A6D1-F92AF9CC222E}" dt="2026-02-16T07:42:58.172" v="430" actId="1076"/>
        <pc:sldMkLst>
          <pc:docMk/>
          <pc:sldMk cId="639353894" sldId="375"/>
        </pc:sldMkLst>
        <pc:spChg chg="add del mod">
          <ac:chgData name="Toby Donaldson" userId="2e6e5431-bb17-4c41-9985-d39c50d83c73" providerId="ADAL" clId="{F31BC264-820E-54C4-A6D1-F92AF9CC222E}" dt="2026-02-16T07:42:47.723" v="427" actId="21"/>
          <ac:spMkLst>
            <pc:docMk/>
            <pc:sldMk cId="639353894" sldId="375"/>
            <ac:spMk id="2" creationId="{EABE76FF-8EC0-A203-6ED0-59C15C1940BC}"/>
          </ac:spMkLst>
        </pc:spChg>
        <pc:spChg chg="add mod">
          <ac:chgData name="Toby Donaldson" userId="2e6e5431-bb17-4c41-9985-d39c50d83c73" providerId="ADAL" clId="{F31BC264-820E-54C4-A6D1-F92AF9CC222E}" dt="2026-02-16T07:42:58.172" v="430" actId="1076"/>
          <ac:spMkLst>
            <pc:docMk/>
            <pc:sldMk cId="639353894" sldId="375"/>
            <ac:spMk id="3" creationId="{81C78C06-CDC5-C135-D51A-3861BF414DFC}"/>
          </ac:spMkLst>
        </pc:spChg>
        <pc:spChg chg="del">
          <ac:chgData name="Toby Donaldson" userId="2e6e5431-bb17-4c41-9985-d39c50d83c73" providerId="ADAL" clId="{F31BC264-820E-54C4-A6D1-F92AF9CC222E}" dt="2026-02-16T07:41:11.068" v="215" actId="21"/>
          <ac:spMkLst>
            <pc:docMk/>
            <pc:sldMk cId="639353894" sldId="375"/>
            <ac:spMk id="8" creationId="{0A897F3A-C27A-DBEB-F7A5-482CB4013A2C}"/>
          </ac:spMkLst>
        </pc:spChg>
        <pc:spChg chg="del">
          <ac:chgData name="Toby Donaldson" userId="2e6e5431-bb17-4c41-9985-d39c50d83c73" providerId="ADAL" clId="{F31BC264-820E-54C4-A6D1-F92AF9CC222E}" dt="2026-02-16T07:41:11.068" v="215" actId="21"/>
          <ac:spMkLst>
            <pc:docMk/>
            <pc:sldMk cId="639353894" sldId="375"/>
            <ac:spMk id="9" creationId="{E2965CE7-E0B9-98A6-8FF3-E96AFC70B877}"/>
          </ac:spMkLst>
        </pc:spChg>
        <pc:spChg chg="del">
          <ac:chgData name="Toby Donaldson" userId="2e6e5431-bb17-4c41-9985-d39c50d83c73" providerId="ADAL" clId="{F31BC264-820E-54C4-A6D1-F92AF9CC222E}" dt="2026-02-16T07:41:11.068" v="215" actId="21"/>
          <ac:spMkLst>
            <pc:docMk/>
            <pc:sldMk cId="639353894" sldId="375"/>
            <ac:spMk id="13" creationId="{56947012-700B-25AA-1714-63DCCECED74B}"/>
          </ac:spMkLst>
        </pc:spChg>
      </pc:sldChg>
      <pc:sldChg chg="add">
        <pc:chgData name="Toby Donaldson" userId="2e6e5431-bb17-4c41-9985-d39c50d83c73" providerId="ADAL" clId="{F31BC264-820E-54C4-A6D1-F92AF9CC222E}" dt="2026-02-16T07:45:07.787" v="444" actId="2890"/>
        <pc:sldMkLst>
          <pc:docMk/>
          <pc:sldMk cId="1153658592" sldId="376"/>
        </pc:sldMkLst>
      </pc:sldChg>
      <pc:sldChg chg="modSp add mod">
        <pc:chgData name="Toby Donaldson" userId="2e6e5431-bb17-4c41-9985-d39c50d83c73" providerId="ADAL" clId="{F31BC264-820E-54C4-A6D1-F92AF9CC222E}" dt="2026-02-16T07:47:54.672" v="560" actId="20577"/>
        <pc:sldMkLst>
          <pc:docMk/>
          <pc:sldMk cId="3485724722" sldId="377"/>
        </pc:sldMkLst>
        <pc:spChg chg="mod">
          <ac:chgData name="Toby Donaldson" userId="2e6e5431-bb17-4c41-9985-d39c50d83c73" providerId="ADAL" clId="{F31BC264-820E-54C4-A6D1-F92AF9CC222E}" dt="2026-02-16T07:47:33.641" v="546" actId="5793"/>
          <ac:spMkLst>
            <pc:docMk/>
            <pc:sldMk cId="3485724722" sldId="377"/>
            <ac:spMk id="5" creationId="{F889AB87-3121-23F0-0463-F8C1A29D8FBE}"/>
          </ac:spMkLst>
        </pc:spChg>
        <pc:spChg chg="mod">
          <ac:chgData name="Toby Donaldson" userId="2e6e5431-bb17-4c41-9985-d39c50d83c73" providerId="ADAL" clId="{F31BC264-820E-54C4-A6D1-F92AF9CC222E}" dt="2026-02-16T07:47:54.672" v="560" actId="20577"/>
          <ac:spMkLst>
            <pc:docMk/>
            <pc:sldMk cId="3485724722" sldId="377"/>
            <ac:spMk id="7" creationId="{9E41D3AD-C0F4-2F7F-6180-2B2B74CA452B}"/>
          </ac:spMkLst>
        </pc:spChg>
      </pc:sldChg>
      <pc:sldChg chg="add">
        <pc:chgData name="Toby Donaldson" userId="2e6e5431-bb17-4c41-9985-d39c50d83c73" providerId="ADAL" clId="{F31BC264-820E-54C4-A6D1-F92AF9CC222E}" dt="2026-02-16T07:47:22.775" v="539" actId="2890"/>
        <pc:sldMkLst>
          <pc:docMk/>
          <pc:sldMk cId="412921335" sldId="3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8162804-B246-4973-81E8-228E8D571902}" type="datetimeFigureOut">
              <a:rPr lang="en-AU" smtClean="0"/>
              <a:t>15/2/2026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F9F5347-3E6A-4C40-928A-729612897D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20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7342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019EA-07C9-E986-9A33-5E95DAD5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6AB4D-AA94-C95E-B91C-B46B12F41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01E2B-F3C2-4AAB-9658-8566ADBE8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87200-2EC1-1270-DFA0-1AFEA609A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9034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4E5D7-0DFD-7E10-90F5-DF4163D06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AB7F96-250B-2AD7-6CB1-DD9080C7E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65013-E24F-C9A0-B59C-7356DF932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9EE33-BF64-74E5-1D14-D49F5B57A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0553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BE69-598A-F03F-7C67-50BFFFCB4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E000B-BA2D-EBB9-3487-853060BDD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7D1AA7-8D6B-C6E4-9B3A-FA320FEE7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348B4-BA96-5402-F17B-6B8912A93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5769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FED7C-371F-C39B-F4A2-350DFFC00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11672-45BB-0B03-3BD3-7BC968330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4456B3-51C9-226C-4DB9-0DC263E5E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2CE7F-DB08-07C3-7131-BA5B31A39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4483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02D89-A7F1-8096-ADE3-793B27944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889FD-0CCD-4DF7-51B5-F88C9DB64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FB2AEA-ED95-2882-6E2A-9FC37B365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C8B9E-68F3-6B20-7EE9-E4BBEC4889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2757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C667D-1727-DA63-790B-DC0839C52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5F8622-4586-F4B3-A09A-C3A81B5FD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FF7DA-46C7-33AB-3327-6DC25EE06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390F7-8103-7881-CAFF-69727847C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823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6D079-C5FF-091A-5C25-6A34F8E64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85456-8CEC-E8F1-EF5D-A71AD8FBB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D0702-7A48-898D-017D-8DDA7782B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79ED2-B502-C661-9FC8-A7412B8E5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4611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E0601-7ECD-9CA4-7E2C-ED5332D5E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4358F-5270-86FB-F992-1EB4BD34A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81761-1E3B-1863-A633-02E492BE5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96AAF-D051-D96C-35FF-F93B77DE5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4235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1CFCA-36AD-4DE0-AF7B-EF1C91C7A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FA428-1C28-25A1-65E5-8EE2FA446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80958-5B4A-C5C1-7C55-80E53ECEE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3ADFD-529A-951E-220C-B6B8B5837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8076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ADD23-DDC0-E03D-93B3-1859B3C2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96F07-7431-39D3-F3C1-C39927D17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52632F-5387-8368-8BD7-574BF9BF8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0B312-8B5E-1015-EB9A-7D8F257EC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0431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FE10A-4D94-C4BF-7569-6ED6B98E6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C4270-1A93-81A6-CAE9-9EC114098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34358-23B4-FBB8-0F12-1ED592A62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73E90-8001-6DA1-4FF0-27E0F0236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48391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59B97-6681-A334-B9A9-1FE6D0404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34982-6A67-6ACC-0C98-8AFF38FDC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097A4-4FE4-97C0-C2EE-71069BCF7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574C0-D418-1AAB-D071-7EA9DD540D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66513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6214E-AD64-64CF-739C-09DBC1EDC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027AD-1164-D6E6-E30E-F35D57456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CB51E-535D-54BF-2E6A-136E0736F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E74EF-E616-A5B3-4D8B-C4D4FC4AB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88273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76537-D6E6-4269-E273-785811138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1A1BD-C6F0-EB41-04CD-EF7BE126F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5E59C-BF3F-0C4C-948A-C102F298A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37375-F9D5-3C7E-712C-1B8799871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71923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B55E1-8BF9-B7D8-6A29-3DB9BFA4C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E8065-5462-CDE2-02C0-266EAC42F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3661F-3C2C-2FB0-F7C1-9898A8D23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7587A-A925-C09B-28E1-F4F378553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65619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9B98E-4A8E-CD4B-9903-B990894AF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E852A-6D9B-FDE1-A6AF-79824A70A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3D6964-7532-ADDD-A741-AFC661B95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59FF2-3B62-55CD-E29B-E77EC5639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833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4E11D-412C-3E6B-83E8-02F6EE799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0386D7-189B-176A-74D8-182AB874F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065BD8-A9AF-4100-8D1C-C329C850A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EC501-336A-AE60-1C05-A26C4007C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75869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465F2-CAA2-7836-1AB1-46BA69492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02219-C3C1-D63A-7302-4FF68C383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4C7786-A6BF-26A6-7A5C-5727CA806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27EB7-A616-209B-16C6-813F71F4E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0853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B83C1-14F9-C0A9-BBC3-D0FDD00AC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2339A-6CB2-4468-882A-FB9778698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880FD-94F4-5602-1985-E19C4CC7B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622E1-EF39-57F3-E9F2-7B2DE88B3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49494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D457D-AC4F-897E-A414-529B77187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90B11-4294-AC9F-3BED-6E5EFF104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DB2D8-2051-7949-B3FC-D1AEF9460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E9013-5E97-D8D1-B900-B0C7C1D19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8253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CDEF3-8088-3077-1E16-C16B62589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502026-89C9-B225-07E0-9B968ABA4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56DA4-B984-C524-0F3C-E985D2FE4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CE291-8BBE-1519-E098-FEEE65A0F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34606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864F0-CAA0-F9F1-06C2-FF79EDB0E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C7422-B3DD-40A7-FA54-E9B742920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A7A87-38DB-5998-7FE1-CFE421323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F2185-F2B6-F020-FFA5-F2C642E28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43932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4ACBD-C838-69D1-9910-A72AEF51F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BFA6F-60E6-5E47-8893-ABD7EA31F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64D5E-E966-C6D0-EF4A-15636F7C0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7A915-13E9-4A69-B637-8F5834815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34332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75527-55BD-66CE-4888-D465EC3D9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F4DE4-39FF-ADA6-584E-B08091736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2E56B3-8D55-0E04-174C-B70204767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DE780-7DBE-DD2A-8967-2E855986C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56798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DF510-B793-A7C1-0A00-49D267338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F0BFC-39B2-74C0-7A67-D8F40CC89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6A0C-0527-C1EF-7607-5641009AB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B07B5-5ED8-DA64-1201-7E243875F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97168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3623C-B860-CDB2-FC41-082FEFE96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A3F1A-D11D-5B16-3339-F7268389E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482CA1-1B66-6D68-7F06-AC36E3838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5D555-A044-514E-136D-E8CBF27B5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47754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4DA0-4C62-0C2F-AC16-12FE42773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A672D-9020-BBE1-EB65-B3996C15A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1A418-3882-A25B-93EB-00E2EAF35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80A87-D5FA-C2A5-C8A4-BACE2B690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48374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DC520-E064-F723-AAB6-6147245B2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ED708-7928-4AE0-919A-93A45D977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A0796-AC7C-E7C9-E0A6-14731DF59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20BB3-DA12-B14B-C786-DE2B5FD9F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51065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B9DDC-077B-F4A7-3B0D-1FECE5CAF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78979A-3C59-24EF-609E-48B5A933E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8ABFA-CAD9-336D-3146-E6774AC41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8FABE-A7AB-D5A1-75C2-B36BE95F0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98902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8DBB2-365B-24F7-07D5-B00745761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CC590-4936-B653-1C49-6340492D8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89DB21-5F9E-25BD-7851-4C2CA4A50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AFAC9-2F70-416C-794B-6F2D14050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31019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EBA21-37EA-3685-0D8E-5F43EB09C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74FED-BF7B-27EB-21F7-DD768E7BC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778E0-D92D-1F72-B37E-5FC0931D7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7C2C8-E107-0E29-DE15-82CE8B65D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97090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04D06-8674-C28E-90F4-6AB507730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C6100-29A4-9AB7-4091-114A24461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BBE66-CEDE-5D70-7C29-2925B5139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0022D-81E8-8FCE-D920-82B38068D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162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0885F-5689-F2B3-0BAB-C01F0DA96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6AD63-8E3F-BDE7-6DA8-8CAF1B19A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F60342-1618-A142-881E-F0F02819D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CE6C7-4546-05D6-F21E-EE0C48C5B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8356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E3B42-6643-5D7B-8E33-875226AC7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B6E08-F93E-6E79-2536-FB0C0507C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361AA-2E10-6FD8-AE2C-98DFE462F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185D0-786B-C1EF-A181-D120434FF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58919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4039B-92D3-6E54-33D9-CEEF1C69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7C3DC7-D0EF-39A6-5DB3-B9E4B9BE9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64D8B-39AB-33DD-DCC9-B7621EFDE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0A471-C4C2-591F-9F30-6DFA820AB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59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41959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17EDB-C38E-77DD-9F92-406ADF88A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ED7CD8-0C27-D9C7-8570-E2F139312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E4E52-AF35-E1AE-14C2-723D6690A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6A193-179A-485C-F403-252EE8684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60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48821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1201D-CABF-3E22-DB84-2BBEDEF07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0BD5F-C497-ACEC-A022-B3FD3B19C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1248E-1EAB-8283-8D24-DE0BF0A2C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AF5C3-1724-00B6-D647-F11E4CCCB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61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447830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CF14F-8BED-EB1E-D3BB-C645E450B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5B58AD-561E-3E45-2250-98A20DCDA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18C25-BC58-0AC1-B9EA-39F83F4D5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2A191-7F8A-0837-5A1B-0CAAA7331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62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5552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CD8A-2400-2C00-6F2C-9190B21E0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F36F3-3952-0133-0278-20C6F53FE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2343-E86A-8C0B-3B90-836BF68C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F993-8C17-4AA1-A568-B2EE0046F6BB}" type="datetime1">
              <a:rPr lang="en-AU" smtClean="0"/>
              <a:t>15/2/2026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854B-C511-D8BC-0994-D9860114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B54A2-AE0B-1668-59E8-E383EDFC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94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81CB-AB4A-925E-7597-0EABFE98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9CD2-5433-7357-4B3B-14319777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05232-1743-FEF0-6814-58C4BB84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3F544-1CF7-4940-8A71-C151BB078596}" type="datetime1">
              <a:rPr lang="en-AU" smtClean="0"/>
              <a:t>15/2/2026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15800-5861-AFF9-E5AF-DE6806CA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3E062-97C8-5008-312A-C67B6C7C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45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6FF2-3DA3-89BE-1658-5AE3BA06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10EF4-6A5F-800A-87E3-F2832E2AB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43256-7716-AE2D-06F1-F4AD4D13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A0B8-47BE-4EBE-895C-4C62B36C50AF}" type="datetime1">
              <a:rPr lang="en-AU" smtClean="0"/>
              <a:t>15/2/2026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E324F-A5F7-4E25-5FC6-AB38053C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6BDA5-F861-569B-F4BC-9F9206E7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01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4ED9-516B-04BC-DD47-08E42CB0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0AB43-7127-38D8-EBC3-A5FDA6868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D0094-E82C-80BC-B5E5-B5F423343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93F4A-D2C6-6C74-52CA-7E2860EC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89D-5032-4671-91C5-541D88033229}" type="datetime1">
              <a:rPr lang="en-AU" smtClean="0"/>
              <a:t>15/2/2026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25A6-C4CE-3CFD-B4DF-B60FC6A8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695D8-7E92-05EC-E0AA-B17C8963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049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5F26-DB6A-E18B-72E4-58A300DF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40866-3E32-3CE1-7436-F834AA16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B4D0E-C11C-C427-604D-4278845B0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F3FDC-6D83-F9F9-CB63-1FE6ADD15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E5395-6A27-69D5-410F-96074F072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B417F-E1AB-973C-D654-E47D70A8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3C3-44F2-41B6-ADB8-009D9A974BEC}" type="datetime1">
              <a:rPr lang="en-AU" smtClean="0"/>
              <a:t>15/2/2026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0E4D8-8355-AAC5-6E67-C4DA0E41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AED98-6E2A-2155-0BD1-0D8287C4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534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7E38-69D8-C4EE-DE3C-5696CFC9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E5530-6714-3CAA-A237-6FA35E6C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176C-6D36-44C4-8474-01BB2AF97904}" type="datetime1">
              <a:rPr lang="en-AU" smtClean="0"/>
              <a:t>15/2/2026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7EE88-A0F0-7D7B-4320-5B4CCBF3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B7C3F-6305-9FC7-AA11-F6BFE8E3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74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D3BAB-E3C9-4760-326D-4F49396B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4B4C-1DF1-4DDF-8F39-0671CF1075AF}" type="datetime1">
              <a:rPr lang="en-AU" smtClean="0"/>
              <a:t>15/2/2026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E3234-1395-F931-ED26-551D35D35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51403-1008-EF7A-234F-E31AA9D5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54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9620-5DFA-6923-FF3B-9E16804D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3061-0349-6DA2-FC5E-2E9ADCE7A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E0021-E475-AC83-B5E1-EFD885A8F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8A428-22B5-DF09-F753-14736147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63CD-B029-4C34-BC29-C1A363BBC9B9}" type="datetime1">
              <a:rPr lang="en-AU" smtClean="0"/>
              <a:t>15/2/2026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D4997-A974-A215-E061-68CF3420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DF231-3C4D-0EB8-B350-CAC3072E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24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E0A9-027D-D539-DB2D-883C0A26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47153-C891-A893-A30B-A82039C91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AA4B1-546F-6BE1-B72D-3DED5567C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BCB47-C75C-5ECA-9313-341F4889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F883F-65A2-4D24-B482-47EA72C1614F}" type="datetime1">
              <a:rPr lang="en-AU" smtClean="0"/>
              <a:t>15/2/2026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FCDEA-1AEB-2B86-8766-4759BFC0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920C5-5DD4-FCC5-B147-3E132132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48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111D-F52E-C6AB-6AB5-75792C5B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B63AC-66B2-C3D9-5F9B-0FE74B937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133F-4A43-D603-1902-8699F1E9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88EE-5698-4527-9DB2-ACD518686AB3}" type="datetime1">
              <a:rPr lang="en-AU" smtClean="0"/>
              <a:t>15/2/2026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ABFF-7114-0E6E-F699-476DEDB4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33E27-1DD4-4A74-4AE5-CEC262C6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162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9EDDC-35F9-651B-C758-222A4C63E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B0BCE-B8B5-E416-22A0-76CFC8EBA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114BC-A925-2C44-153F-7F644614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AEAFD-673C-49C9-9E87-345916F4966D}" type="datetime1">
              <a:rPr lang="en-AU" smtClean="0"/>
              <a:t>15/2/2026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2B30-89B8-7495-FB74-F99674BBD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7DB80-C397-B407-8682-2264DDA9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09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46106-232E-9C9F-A17C-1A1F64DC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ECC97-54D5-9DBE-2C28-6D223DA21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8168-8EB8-BBC6-8D20-3F5436EDF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482F6-BAC0-4446-873D-C3498BDB5CA0}" type="datetime1">
              <a:rPr lang="en-AU" smtClean="0"/>
              <a:t>15/2/2026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E1A4E-FDE6-0348-810F-99E3E87CF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29D13-3CF7-1E3C-5E2F-D830C4147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59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A570F83-8E57-E26A-C99C-D5EF56413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Chapter 7: More Loops, and Reading Files</a:t>
            </a:r>
            <a:endParaRPr lang="en-AU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F4D5479-D96B-1A4F-E8BD-BBBB7CC215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CMPT 120, Spring 2026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1978C-967C-20E4-35D0-B3C71602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2483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944C-5F21-8941-C892-90BC95AE0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BB7AF-536E-960D-5DBF-B13DCDB5A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loops</a:t>
            </a:r>
          </a:p>
          <a:p>
            <a:r>
              <a:rPr lang="en-US" dirty="0"/>
              <a:t>Looping over strings</a:t>
            </a:r>
          </a:p>
          <a:p>
            <a:r>
              <a:rPr lang="en-US" dirty="0"/>
              <a:t>Reading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1298B-10FF-2181-CE41-4517B35F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4231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11010" y="1674847"/>
            <a:ext cx="246086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What would you guess this code does?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0352C6-F5BE-E3C9-CA3C-283677BA85A6}"/>
              </a:ext>
            </a:extLst>
          </p:cNvPr>
          <p:cNvSpPr txBox="1"/>
          <p:nvPr/>
        </p:nvSpPr>
        <p:spPr>
          <a:xfrm>
            <a:off x="3272350" y="1674847"/>
            <a:ext cx="373371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while True: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print('hello')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print('world')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F2C4DB-946E-1805-ACEA-E990CBE59E01}"/>
              </a:ext>
            </a:extLst>
          </p:cNvPr>
          <p:cNvSpPr txBox="1"/>
          <p:nvPr/>
        </p:nvSpPr>
        <p:spPr>
          <a:xfrm>
            <a:off x="869622" y="2321178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195972-F651-208B-00D4-47D63C6CCCFC}"/>
              </a:ext>
            </a:extLst>
          </p:cNvPr>
          <p:cNvSpPr txBox="1"/>
          <p:nvPr/>
        </p:nvSpPr>
        <p:spPr>
          <a:xfrm>
            <a:off x="9353896" y="136525"/>
            <a:ext cx="2743200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Please see the chapter 7 lecture notes for an introduction to while loops. For some reason while loops are missing from the textbook.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0892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94C94-C152-4161-8EA6-8DE56C11E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793A-C4D4-8348-A2A2-1F0739A2A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472D7-AE5A-8627-C8C3-A8A5EEA2F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C3C55-59F8-7D1E-90AF-F1796B01A39C}"/>
              </a:ext>
            </a:extLst>
          </p:cNvPr>
          <p:cNvSpPr txBox="1"/>
          <p:nvPr/>
        </p:nvSpPr>
        <p:spPr>
          <a:xfrm>
            <a:off x="311010" y="1674847"/>
            <a:ext cx="246086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What would you guess this code does?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2181C-56E0-D722-0D71-1BFAA6FDD228}"/>
              </a:ext>
            </a:extLst>
          </p:cNvPr>
          <p:cNvSpPr txBox="1"/>
          <p:nvPr/>
        </p:nvSpPr>
        <p:spPr>
          <a:xfrm>
            <a:off x="3272350" y="1674847"/>
            <a:ext cx="373371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while True: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print('hello')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print('world')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541570-37F2-38E6-5B26-17F44C219914}"/>
              </a:ext>
            </a:extLst>
          </p:cNvPr>
          <p:cNvSpPr txBox="1"/>
          <p:nvPr/>
        </p:nvSpPr>
        <p:spPr>
          <a:xfrm>
            <a:off x="7790510" y="2920996"/>
            <a:ext cx="1269999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AU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418A62-CEFB-3864-43CA-AC49F54CDB28}"/>
              </a:ext>
            </a:extLst>
          </p:cNvPr>
          <p:cNvSpPr txBox="1"/>
          <p:nvPr/>
        </p:nvSpPr>
        <p:spPr>
          <a:xfrm>
            <a:off x="4197268" y="4122329"/>
            <a:ext cx="2743199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It’s an example of an </a:t>
            </a:r>
            <a:r>
              <a:rPr lang="en-CA" b="1" dirty="0"/>
              <a:t>infinite loop</a:t>
            </a:r>
            <a:r>
              <a:rPr lang="en-CA" dirty="0"/>
              <a:t>. The indented </a:t>
            </a:r>
            <a:r>
              <a:rPr lang="en-CA" dirty="0">
                <a:latin typeface="Consolas" panose="020B0609020204030204" pitchFamily="49" charset="0"/>
              </a:rPr>
              <a:t>print</a:t>
            </a:r>
            <a:r>
              <a:rPr lang="en-CA" dirty="0"/>
              <a:t> statements are run forever.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0862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EDD95-9011-7119-AF03-EAB576E02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9208-168A-1149-E100-BC2E5AA9C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8D468-1DD5-FA1C-665B-D3DBF3DE1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4311F-5E2A-2CD6-6E66-5E53F99BFF3E}"/>
              </a:ext>
            </a:extLst>
          </p:cNvPr>
          <p:cNvSpPr txBox="1"/>
          <p:nvPr/>
        </p:nvSpPr>
        <p:spPr>
          <a:xfrm>
            <a:off x="311010" y="1674847"/>
            <a:ext cx="246086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What would you guess this code does?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39B6AD-9500-77DF-BF00-DEDA020107CE}"/>
              </a:ext>
            </a:extLst>
          </p:cNvPr>
          <p:cNvSpPr txBox="1"/>
          <p:nvPr/>
        </p:nvSpPr>
        <p:spPr>
          <a:xfrm>
            <a:off x="3272350" y="1674847"/>
            <a:ext cx="373371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while True: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print('hello')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print('world')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84757B-5142-D93A-67BE-7504AB8599C8}"/>
              </a:ext>
            </a:extLst>
          </p:cNvPr>
          <p:cNvSpPr txBox="1"/>
          <p:nvPr/>
        </p:nvSpPr>
        <p:spPr>
          <a:xfrm>
            <a:off x="7790510" y="2920996"/>
            <a:ext cx="1269999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AU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8965C0-8566-DBC9-4556-7160D32CE3F4}"/>
              </a:ext>
            </a:extLst>
          </p:cNvPr>
          <p:cNvSpPr txBox="1"/>
          <p:nvPr/>
        </p:nvSpPr>
        <p:spPr>
          <a:xfrm>
            <a:off x="4197268" y="4122329"/>
            <a:ext cx="2743199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It’s an example of an </a:t>
            </a:r>
            <a:r>
              <a:rPr lang="en-CA" b="1" dirty="0"/>
              <a:t>infinite loop</a:t>
            </a:r>
            <a:r>
              <a:rPr lang="en-CA" dirty="0"/>
              <a:t>. The indented </a:t>
            </a:r>
            <a:r>
              <a:rPr lang="en-CA" dirty="0">
                <a:latin typeface="Consolas" panose="020B0609020204030204" pitchFamily="49" charset="0"/>
              </a:rPr>
              <a:t>print</a:t>
            </a:r>
            <a:r>
              <a:rPr lang="en-CA" dirty="0"/>
              <a:t> statements are run forever.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AB1375-A888-85A6-37D2-ED1758E51B20}"/>
              </a:ext>
            </a:extLst>
          </p:cNvPr>
          <p:cNvSpPr txBox="1"/>
          <p:nvPr/>
        </p:nvSpPr>
        <p:spPr>
          <a:xfrm>
            <a:off x="9060509" y="1613292"/>
            <a:ext cx="215956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print('hello')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print('world')</a:t>
            </a:r>
            <a:endParaRPr lang="en-AU" sz="2000" dirty="0">
              <a:latin typeface="Consolas" panose="020B0609020204030204" pitchFamily="49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FCA9988-AB42-C4B9-F5F4-DCCD01ED64E1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10140292" y="866774"/>
            <a:ext cx="0" cy="746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4858A08-8415-1794-5484-6E457AA56A63}"/>
              </a:ext>
            </a:extLst>
          </p:cNvPr>
          <p:cNvCxnSpPr>
            <a:stCxn id="16" idx="2"/>
            <a:endCxn id="16" idx="3"/>
          </p:cNvCxnSpPr>
          <p:nvPr/>
        </p:nvCxnSpPr>
        <p:spPr>
          <a:xfrm rot="5400000" flipH="1" flipV="1">
            <a:off x="10503211" y="1604315"/>
            <a:ext cx="353943" cy="1079783"/>
          </a:xfrm>
          <a:prstGeom prst="bentConnector4">
            <a:avLst>
              <a:gd name="adj1" fmla="val -136350"/>
              <a:gd name="adj2" fmla="val 1211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BD63983-5C6F-94E8-21E8-A591B79F9ABC}"/>
              </a:ext>
            </a:extLst>
          </p:cNvPr>
          <p:cNvSpPr txBox="1"/>
          <p:nvPr/>
        </p:nvSpPr>
        <p:spPr>
          <a:xfrm>
            <a:off x="6855742" y="405109"/>
            <a:ext cx="267889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a </a:t>
            </a:r>
            <a:r>
              <a:rPr lang="en-CA" b="1" dirty="0"/>
              <a:t>flow chart </a:t>
            </a:r>
            <a:r>
              <a:rPr lang="en-CA" dirty="0"/>
              <a:t>of the code that shows visually what’s happening.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007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971AB-F1CA-5930-AF22-CFCE7774B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FE41-14E3-35BC-D80B-086A6D7FA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88FE1-6259-1D66-0214-2605180DA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C619C-16E1-A07B-4D53-510758086256}"/>
              </a:ext>
            </a:extLst>
          </p:cNvPr>
          <p:cNvSpPr txBox="1"/>
          <p:nvPr/>
        </p:nvSpPr>
        <p:spPr>
          <a:xfrm>
            <a:off x="311010" y="1674847"/>
            <a:ext cx="246086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What would you guess this code does?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E58487-0240-1172-D3E6-9B4EA1296253}"/>
              </a:ext>
            </a:extLst>
          </p:cNvPr>
          <p:cNvSpPr txBox="1"/>
          <p:nvPr/>
        </p:nvSpPr>
        <p:spPr>
          <a:xfrm>
            <a:off x="3272350" y="1674847"/>
            <a:ext cx="373371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while True: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print('hello')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print('world')</a:t>
            </a:r>
          </a:p>
          <a:p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print('dead code!)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52A42C-95CA-7BFF-8937-EB6F905253F3}"/>
              </a:ext>
            </a:extLst>
          </p:cNvPr>
          <p:cNvSpPr txBox="1"/>
          <p:nvPr/>
        </p:nvSpPr>
        <p:spPr>
          <a:xfrm>
            <a:off x="7790510" y="2920996"/>
            <a:ext cx="1269999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CA" dirty="0">
                <a:latin typeface="Consolas" panose="020B0609020204030204" pitchFamily="49" charset="0"/>
              </a:rPr>
              <a:t>hello</a:t>
            </a:r>
          </a:p>
          <a:p>
            <a:r>
              <a:rPr lang="en-AU" dirty="0">
                <a:latin typeface="Consolas" panose="020B0609020204030204" pitchFamily="49" charset="0"/>
              </a:rPr>
              <a:t>world</a:t>
            </a:r>
          </a:p>
          <a:p>
            <a:r>
              <a:rPr lang="en-AU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ECBEAF-3BD4-2427-75F7-86ECABF99EA3}"/>
              </a:ext>
            </a:extLst>
          </p:cNvPr>
          <p:cNvSpPr txBox="1"/>
          <p:nvPr/>
        </p:nvSpPr>
        <p:spPr>
          <a:xfrm>
            <a:off x="4197268" y="412232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It’s an example of an </a:t>
            </a:r>
            <a:r>
              <a:rPr lang="en-CA" b="1" dirty="0"/>
              <a:t>infinite loop</a:t>
            </a:r>
            <a:r>
              <a:rPr lang="en-CA" dirty="0"/>
              <a:t>. The indented print statements are run forever.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A30D46-99DF-0D17-69CA-3781EAD1573F}"/>
              </a:ext>
            </a:extLst>
          </p:cNvPr>
          <p:cNvSpPr txBox="1"/>
          <p:nvPr/>
        </p:nvSpPr>
        <p:spPr>
          <a:xfrm>
            <a:off x="9060509" y="1613292"/>
            <a:ext cx="215956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print('hello')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print('world')</a:t>
            </a:r>
            <a:endParaRPr lang="en-AU" sz="2000" dirty="0">
              <a:latin typeface="Consolas" panose="020B0609020204030204" pitchFamily="49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7978D5-2E8F-73F4-316F-6AAFFE4A2A2A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10140292" y="866774"/>
            <a:ext cx="0" cy="746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8707AA6-C906-88A8-1988-BC018EC39590}"/>
              </a:ext>
            </a:extLst>
          </p:cNvPr>
          <p:cNvCxnSpPr>
            <a:stCxn id="16" idx="2"/>
            <a:endCxn id="16" idx="3"/>
          </p:cNvCxnSpPr>
          <p:nvPr/>
        </p:nvCxnSpPr>
        <p:spPr>
          <a:xfrm rot="5400000" flipH="1" flipV="1">
            <a:off x="10503211" y="1604315"/>
            <a:ext cx="353943" cy="1079783"/>
          </a:xfrm>
          <a:prstGeom prst="bentConnector4">
            <a:avLst>
              <a:gd name="adj1" fmla="val -136350"/>
              <a:gd name="adj2" fmla="val 1211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859BC8A-7DEA-F8A6-2A59-0180239197A3}"/>
              </a:ext>
            </a:extLst>
          </p:cNvPr>
          <p:cNvSpPr txBox="1"/>
          <p:nvPr/>
        </p:nvSpPr>
        <p:spPr>
          <a:xfrm>
            <a:off x="6855742" y="405109"/>
            <a:ext cx="267889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a </a:t>
            </a:r>
            <a:r>
              <a:rPr lang="en-CA" b="1" dirty="0"/>
              <a:t>flow chart </a:t>
            </a:r>
            <a:r>
              <a:rPr lang="en-CA" dirty="0"/>
              <a:t>of the code that shows visually what’s happening.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2C001F-82BD-D8C2-5B67-5C84736643DD}"/>
              </a:ext>
            </a:extLst>
          </p:cNvPr>
          <p:cNvSpPr txBox="1"/>
          <p:nvPr/>
        </p:nvSpPr>
        <p:spPr>
          <a:xfrm>
            <a:off x="311010" y="3429000"/>
            <a:ext cx="246086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Any code after the loop never runs.</a:t>
            </a:r>
            <a:endParaRPr lang="en-AU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EA5E28-C3C5-C867-B3B2-9CC087A7D42C}"/>
              </a:ext>
            </a:extLst>
          </p:cNvPr>
          <p:cNvCxnSpPr>
            <a:stCxn id="7" idx="3"/>
          </p:cNvCxnSpPr>
          <p:nvPr/>
        </p:nvCxnSpPr>
        <p:spPr>
          <a:xfrm flipV="1">
            <a:off x="2771872" y="3613666"/>
            <a:ext cx="589395" cy="138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996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A7733-5022-71B6-B444-96C9AF1D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61102-A94C-0AB6-FD2A-90E74A3CB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7277D-E110-A29E-FE73-18F881B70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A55929-FAC0-7BD2-6EE4-AC6EA66E09C2}"/>
              </a:ext>
            </a:extLst>
          </p:cNvPr>
          <p:cNvSpPr txBox="1"/>
          <p:nvPr/>
        </p:nvSpPr>
        <p:spPr>
          <a:xfrm>
            <a:off x="311010" y="1674847"/>
            <a:ext cx="246086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While-loops are used when you need a loop but don’t know ahead of time how many times it will execute.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7D7374-E875-7768-2AC6-F496C4A4231F}"/>
              </a:ext>
            </a:extLst>
          </p:cNvPr>
          <p:cNvSpPr txBox="1"/>
          <p:nvPr/>
        </p:nvSpPr>
        <p:spPr>
          <a:xfrm>
            <a:off x="3678750" y="1674847"/>
            <a:ext cx="70855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''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!= 'swordfish':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input('Enter password: ')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F4541D-29DC-1535-D05D-3233D477C8A4}"/>
              </a:ext>
            </a:extLst>
          </p:cNvPr>
          <p:cNvSpPr txBox="1"/>
          <p:nvPr/>
        </p:nvSpPr>
        <p:spPr>
          <a:xfrm>
            <a:off x="7981810" y="396380"/>
            <a:ext cx="246086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code repeatedly asks the user to enter a password, stopping only when the enter </a:t>
            </a:r>
            <a:r>
              <a:rPr lang="en-CA" dirty="0">
                <a:latin typeface="Consolas" panose="020B0609020204030204" pitchFamily="49" charset="0"/>
              </a:rPr>
              <a:t>'swordfish’</a:t>
            </a:r>
            <a:r>
              <a:rPr lang="en-CA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64327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F8AB3-DA75-C5D2-3124-1F696FAC5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EC3FC-4E13-080E-FAE6-3A0CC7196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7F034-292C-C1E0-EA6B-A921A47B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3D9820-EFD6-C654-BAA3-720DC275D4D6}"/>
              </a:ext>
            </a:extLst>
          </p:cNvPr>
          <p:cNvSpPr txBox="1"/>
          <p:nvPr/>
        </p:nvSpPr>
        <p:spPr>
          <a:xfrm>
            <a:off x="311010" y="1674847"/>
            <a:ext cx="246086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While-loops are used when you need a loop but don’t know ahead of time how many times it will execute.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F489C9-F6C4-5CE0-0149-7F9BFA34A670}"/>
              </a:ext>
            </a:extLst>
          </p:cNvPr>
          <p:cNvSpPr txBox="1"/>
          <p:nvPr/>
        </p:nvSpPr>
        <p:spPr>
          <a:xfrm>
            <a:off x="3678750" y="1674847"/>
            <a:ext cx="70855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''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!= 'swordfish':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input('Enter password: ')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1BEC4-796D-3CF9-55F6-B16D42A7C81E}"/>
              </a:ext>
            </a:extLst>
          </p:cNvPr>
          <p:cNvSpPr txBox="1"/>
          <p:nvPr/>
        </p:nvSpPr>
        <p:spPr>
          <a:xfrm>
            <a:off x="4842933" y="909516"/>
            <a:ext cx="298026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the while-loop </a:t>
            </a:r>
            <a:r>
              <a:rPr lang="en-CA" b="1" dirty="0"/>
              <a:t>header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48710-6A23-7FCA-F6DF-B84B3E9CF21E}"/>
              </a:ext>
            </a:extLst>
          </p:cNvPr>
          <p:cNvSpPr txBox="1"/>
          <p:nvPr/>
        </p:nvSpPr>
        <p:spPr>
          <a:xfrm>
            <a:off x="5892799" y="3688732"/>
            <a:ext cx="3141133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the while-loop </a:t>
            </a:r>
            <a:r>
              <a:rPr lang="en-CA" b="1" dirty="0"/>
              <a:t>body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It can have as many statements as needed. </a:t>
            </a:r>
            <a:br>
              <a:rPr lang="en-CA" dirty="0"/>
            </a:br>
            <a:r>
              <a:rPr lang="en-CA" dirty="0"/>
              <a:t>They should be consistently indented under the header.</a:t>
            </a:r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4A783D-C3E4-A095-132F-C32862DFD44C}"/>
              </a:ext>
            </a:extLst>
          </p:cNvPr>
          <p:cNvSpPr/>
          <p:nvPr/>
        </p:nvSpPr>
        <p:spPr>
          <a:xfrm>
            <a:off x="3766242" y="2185310"/>
            <a:ext cx="4844358" cy="36406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86CE5E-7F83-F348-4A4C-34510A8B5C61}"/>
              </a:ext>
            </a:extLst>
          </p:cNvPr>
          <p:cNvSpPr/>
          <p:nvPr/>
        </p:nvSpPr>
        <p:spPr>
          <a:xfrm>
            <a:off x="4502841" y="2624844"/>
            <a:ext cx="6148225" cy="36406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BE4486-AF4C-3859-AEAC-EC47A55D1932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6188421" y="1278848"/>
            <a:ext cx="144646" cy="906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4D0430-6DDC-3F16-D60E-EC697A2E7D24}"/>
              </a:ext>
            </a:extLst>
          </p:cNvPr>
          <p:cNvCxnSpPr>
            <a:cxnSpLocks/>
            <a:stCxn id="7" idx="0"/>
            <a:endCxn id="9" idx="2"/>
          </p:cNvCxnSpPr>
          <p:nvPr/>
        </p:nvCxnSpPr>
        <p:spPr>
          <a:xfrm flipV="1">
            <a:off x="7463366" y="2988911"/>
            <a:ext cx="113588" cy="699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980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775C-1CED-00D2-B073-C88258704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4AB3-DADC-E141-980A-1942B9D99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D8858-F6F4-B07E-D8C4-CD86B8B97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2C30D-7543-DFE4-AD0C-6915C91F9691}"/>
              </a:ext>
            </a:extLst>
          </p:cNvPr>
          <p:cNvSpPr txBox="1"/>
          <p:nvPr/>
        </p:nvSpPr>
        <p:spPr>
          <a:xfrm>
            <a:off x="311010" y="1674847"/>
            <a:ext cx="246086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While-loops are used when you need a loop but don’t know ahead of time how many times it will execute.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DA5FF-DB69-6B86-5EAE-BF36BF4A6F77}"/>
              </a:ext>
            </a:extLst>
          </p:cNvPr>
          <p:cNvSpPr txBox="1"/>
          <p:nvPr/>
        </p:nvSpPr>
        <p:spPr>
          <a:xfrm>
            <a:off x="3678750" y="1674847"/>
            <a:ext cx="70855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''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!= 'swordfish':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input('Enter password: ')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700993-58D6-AD66-AF76-F4F8061A02DB}"/>
              </a:ext>
            </a:extLst>
          </p:cNvPr>
          <p:cNvSpPr txBox="1"/>
          <p:nvPr/>
        </p:nvSpPr>
        <p:spPr>
          <a:xfrm>
            <a:off x="5808133" y="1160224"/>
            <a:ext cx="238760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header starts with the keyword </a:t>
            </a:r>
            <a:r>
              <a:rPr lang="en-CA" b="1" dirty="0">
                <a:latin typeface="Consolas" panose="020B0609020204030204" pitchFamily="49" charset="0"/>
              </a:rPr>
              <a:t>while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956FAC-59C9-8072-DDC4-2441EA8C5DAD}"/>
              </a:ext>
            </a:extLst>
          </p:cNvPr>
          <p:cNvSpPr/>
          <p:nvPr/>
        </p:nvSpPr>
        <p:spPr>
          <a:xfrm>
            <a:off x="3766243" y="2185310"/>
            <a:ext cx="1008958" cy="36406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81BCFCC-6472-B938-122B-8D1E70528583}"/>
              </a:ext>
            </a:extLst>
          </p:cNvPr>
          <p:cNvCxnSpPr>
            <a:cxnSpLocks/>
          </p:cNvCxnSpPr>
          <p:nvPr/>
        </p:nvCxnSpPr>
        <p:spPr>
          <a:xfrm flipH="1">
            <a:off x="4775201" y="1806555"/>
            <a:ext cx="1008958" cy="378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6383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DA3D9-5FFE-C5A9-5130-DA174F0B0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1E87-ED7C-7BB1-1822-67CAFA27B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5A534-C8B8-0296-0889-DC7D61EE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5FEF7-4A24-98D7-0A79-73036DF69DE3}"/>
              </a:ext>
            </a:extLst>
          </p:cNvPr>
          <p:cNvSpPr txBox="1"/>
          <p:nvPr/>
        </p:nvSpPr>
        <p:spPr>
          <a:xfrm>
            <a:off x="311010" y="1674847"/>
            <a:ext cx="246086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While-loops are used when you need a loop but don’t know ahead of time how many times it will execute.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61F525-D365-5A58-D857-5142251D81FE}"/>
              </a:ext>
            </a:extLst>
          </p:cNvPr>
          <p:cNvSpPr txBox="1"/>
          <p:nvPr/>
        </p:nvSpPr>
        <p:spPr>
          <a:xfrm>
            <a:off x="3678750" y="1674847"/>
            <a:ext cx="70855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''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!= 'swordfish':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input('Enter password: ')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8BA53D-12A9-3850-7424-00B8F5B1CB5C}"/>
              </a:ext>
            </a:extLst>
          </p:cNvPr>
          <p:cNvSpPr txBox="1"/>
          <p:nvPr/>
        </p:nvSpPr>
        <p:spPr>
          <a:xfrm>
            <a:off x="5071533" y="777996"/>
            <a:ext cx="396240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</a:t>
            </a:r>
            <a:r>
              <a:rPr lang="en-CA" b="1" dirty="0"/>
              <a:t>while loop condition </a:t>
            </a:r>
            <a:r>
              <a:rPr lang="en-CA" dirty="0"/>
              <a:t>comes next.</a:t>
            </a:r>
            <a:br>
              <a:rPr lang="en-CA" dirty="0"/>
            </a:br>
            <a:r>
              <a:rPr lang="en-CA" dirty="0"/>
              <a:t>It must be a Boolean expression.</a:t>
            </a:r>
            <a:endParaRPr lang="en-A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7682A6-17DC-C8A7-731E-B8A2BA20BC31}"/>
              </a:ext>
            </a:extLst>
          </p:cNvPr>
          <p:cNvSpPr/>
          <p:nvPr/>
        </p:nvSpPr>
        <p:spPr>
          <a:xfrm>
            <a:off x="4903092" y="2175887"/>
            <a:ext cx="3527079" cy="36406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36F6D17-1FAB-7458-0AF0-24FC046CEF8A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6666632" y="1424327"/>
            <a:ext cx="386101" cy="751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662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F76BA-B530-88A0-83D3-F6F5C52E0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19EFB-4018-4DCC-FF0F-9A6938BC2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2A3D4-A761-4B2D-7952-28EF4763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48979-E797-5A79-80F4-204F53597894}"/>
              </a:ext>
            </a:extLst>
          </p:cNvPr>
          <p:cNvSpPr txBox="1"/>
          <p:nvPr/>
        </p:nvSpPr>
        <p:spPr>
          <a:xfrm>
            <a:off x="311010" y="1674847"/>
            <a:ext cx="246086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While-loops are used when you need a loop but don’t know ahead of time how many times it will execute.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719A55-307A-A6FD-DCF8-4D975BC55B82}"/>
              </a:ext>
            </a:extLst>
          </p:cNvPr>
          <p:cNvSpPr txBox="1"/>
          <p:nvPr/>
        </p:nvSpPr>
        <p:spPr>
          <a:xfrm>
            <a:off x="3678750" y="1674847"/>
            <a:ext cx="70855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''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!= 'swordfish':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input('Enter password: ')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E9BCEF-E222-5F7E-EA5E-3880AD0C724D}"/>
              </a:ext>
            </a:extLst>
          </p:cNvPr>
          <p:cNvSpPr txBox="1"/>
          <p:nvPr/>
        </p:nvSpPr>
        <p:spPr>
          <a:xfrm>
            <a:off x="6265333" y="791032"/>
            <a:ext cx="330057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header ends with a colon, </a:t>
            </a:r>
            <a:r>
              <a:rPr lang="en-CA" b="1" dirty="0">
                <a:latin typeface="Consolas" panose="020B0609020204030204" pitchFamily="49" charset="0"/>
              </a:rPr>
              <a:t>:</a:t>
            </a:r>
            <a:endParaRPr lang="en-AU" b="1" dirty="0"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608887-7814-3F00-DA67-3DB7BE0E9988}"/>
              </a:ext>
            </a:extLst>
          </p:cNvPr>
          <p:cNvSpPr/>
          <p:nvPr/>
        </p:nvSpPr>
        <p:spPr>
          <a:xfrm>
            <a:off x="8433692" y="2185310"/>
            <a:ext cx="236175" cy="36406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1F9838-D4BC-0E21-8082-C488111E0E4E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7915622" y="1160364"/>
            <a:ext cx="636158" cy="10249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592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B359D-E86C-A9FF-36E7-76ACB0CDD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E419C-2FB6-52BD-F1E3-D28834B2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832DB-D9D2-7726-D576-BB871E79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BF001-A8F6-EA61-1C05-377E6B57814E}"/>
              </a:ext>
            </a:extLst>
          </p:cNvPr>
          <p:cNvSpPr txBox="1"/>
          <p:nvPr/>
        </p:nvSpPr>
        <p:spPr>
          <a:xfrm>
            <a:off x="311010" y="1674847"/>
            <a:ext cx="246086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While-loops are used when you need a loop but don’t know ahead of time how many times it will execute.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157897-DD5F-28B8-23F2-86B9A6CE8AD3}"/>
              </a:ext>
            </a:extLst>
          </p:cNvPr>
          <p:cNvSpPr txBox="1"/>
          <p:nvPr/>
        </p:nvSpPr>
        <p:spPr>
          <a:xfrm>
            <a:off x="3678750" y="1674847"/>
            <a:ext cx="70855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''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!= 'swordfish':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input('Enter password: ')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913099-631A-7846-A3D7-EDDF37DD2DF6}"/>
              </a:ext>
            </a:extLst>
          </p:cNvPr>
          <p:cNvSpPr txBox="1"/>
          <p:nvPr/>
        </p:nvSpPr>
        <p:spPr>
          <a:xfrm>
            <a:off x="5650980" y="3564467"/>
            <a:ext cx="3628487" cy="25853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When a while loop runs, Python first checks the </a:t>
            </a:r>
            <a:r>
              <a:rPr lang="en-CA" i="1" dirty="0"/>
              <a:t>condition</a:t>
            </a:r>
            <a:r>
              <a:rPr lang="en-CA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If </a:t>
            </a:r>
            <a:r>
              <a:rPr lang="en-AU" i="1" dirty="0"/>
              <a:t>condition</a:t>
            </a:r>
            <a:r>
              <a:rPr lang="en-AU" dirty="0"/>
              <a:t> is </a:t>
            </a:r>
            <a:r>
              <a:rPr lang="en-AU" b="1" dirty="0">
                <a:latin typeface="Consolas" panose="020B0609020204030204" pitchFamily="49" charset="0"/>
              </a:rPr>
              <a:t>True</a:t>
            </a:r>
            <a:br>
              <a:rPr lang="en-AU" b="1" dirty="0">
                <a:latin typeface="Consolas" panose="020B0609020204030204" pitchFamily="49" charset="0"/>
              </a:rPr>
            </a:br>
            <a:r>
              <a:rPr lang="en-AU" dirty="0"/>
              <a:t>Run the body, and then afterwards check the condition again.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If </a:t>
            </a:r>
            <a:r>
              <a:rPr lang="en-AU" i="1" dirty="0"/>
              <a:t>condition</a:t>
            </a:r>
            <a:r>
              <a:rPr lang="en-AU" dirty="0"/>
              <a:t> is </a:t>
            </a:r>
            <a:r>
              <a:rPr lang="en-AU" b="1" dirty="0">
                <a:latin typeface="Consolas" panose="020B0609020204030204" pitchFamily="49" charset="0"/>
              </a:rPr>
              <a:t>False</a:t>
            </a:r>
            <a:br>
              <a:rPr lang="en-AU" b="1" dirty="0">
                <a:latin typeface="Consolas" panose="020B0609020204030204" pitchFamily="49" charset="0"/>
              </a:rPr>
            </a:br>
            <a:r>
              <a:rPr lang="en-AU" dirty="0"/>
              <a:t>Jump out of the while-loop and run the statement after it.</a:t>
            </a:r>
          </a:p>
        </p:txBody>
      </p:sp>
    </p:spTree>
    <p:extLst>
      <p:ext uri="{BB962C8B-B14F-4D97-AF65-F5344CB8AC3E}">
        <p14:creationId xmlns:p14="http://schemas.microsoft.com/office/powerpoint/2010/main" val="1074488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8491A-C953-5BD5-3A0B-4C81573DD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17FD1-4978-ACA5-8289-16D7141D7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FE027-508C-AD3E-1DDA-19EA32AD9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13</a:t>
            </a:fld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B2983-EE8A-C379-E2BB-617F774F8C05}"/>
              </a:ext>
            </a:extLst>
          </p:cNvPr>
          <p:cNvSpPr txBox="1"/>
          <p:nvPr/>
        </p:nvSpPr>
        <p:spPr>
          <a:xfrm>
            <a:off x="3856550" y="744812"/>
            <a:ext cx="70855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''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!= 'swordfish':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input('Enter password: ')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6E3023-84B4-C907-8032-FDD67CEC06EA}"/>
              </a:ext>
            </a:extLst>
          </p:cNvPr>
          <p:cNvSpPr txBox="1"/>
          <p:nvPr/>
        </p:nvSpPr>
        <p:spPr>
          <a:xfrm>
            <a:off x="9060720" y="3263860"/>
            <a:ext cx="170866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Consolas" panose="020B0609020204030204" pitchFamily="49" charset="0"/>
              </a:rPr>
              <a:t>pwd</a:t>
            </a:r>
            <a:r>
              <a:rPr lang="en-US" sz="1400" dirty="0">
                <a:latin typeface="Consolas" panose="020B0609020204030204" pitchFamily="49" charset="0"/>
              </a:rPr>
              <a:t> = ''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44315E-DCE1-8ECD-4A92-D7A17B15765C}"/>
              </a:ext>
            </a:extLst>
          </p:cNvPr>
          <p:cNvGrpSpPr/>
          <p:nvPr/>
        </p:nvGrpSpPr>
        <p:grpSpPr>
          <a:xfrm>
            <a:off x="8733951" y="4277410"/>
            <a:ext cx="2362200" cy="846171"/>
            <a:chOff x="7831667" y="4207932"/>
            <a:chExt cx="2362200" cy="84617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0C09535-9BAE-F955-20A0-F8C6E187EE74}"/>
                </a:ext>
              </a:extLst>
            </p:cNvPr>
            <p:cNvSpPr txBox="1"/>
            <p:nvPr/>
          </p:nvSpPr>
          <p:spPr>
            <a:xfrm>
              <a:off x="8046374" y="4449873"/>
              <a:ext cx="19736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Consolas" panose="020B0609020204030204" pitchFamily="49" charset="0"/>
                </a:rPr>
                <a:t>pwd</a:t>
              </a:r>
              <a:r>
                <a:rPr lang="en-US" sz="1400" dirty="0">
                  <a:latin typeface="Consolas" panose="020B0609020204030204" pitchFamily="49" charset="0"/>
                </a:rPr>
                <a:t> != 'swordfish'</a:t>
              </a:r>
            </a:p>
          </p:txBody>
        </p:sp>
        <p:sp>
          <p:nvSpPr>
            <p:cNvPr id="14" name="Flowchart: Decision 13">
              <a:extLst>
                <a:ext uri="{FF2B5EF4-FFF2-40B4-BE49-F238E27FC236}">
                  <a16:creationId xmlns:a16="http://schemas.microsoft.com/office/drawing/2014/main" id="{95031F4F-1236-3164-B571-7EFA4DE9B77B}"/>
                </a:ext>
              </a:extLst>
            </p:cNvPr>
            <p:cNvSpPr/>
            <p:nvPr/>
          </p:nvSpPr>
          <p:spPr>
            <a:xfrm>
              <a:off x="7831667" y="4207932"/>
              <a:ext cx="2362200" cy="846171"/>
            </a:xfrm>
            <a:prstGeom prst="flowChartDecision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8F76FA0-066F-BDEE-2054-CC24DDCA6AD9}"/>
              </a:ext>
            </a:extLst>
          </p:cNvPr>
          <p:cNvSpPr txBox="1"/>
          <p:nvPr/>
        </p:nvSpPr>
        <p:spPr>
          <a:xfrm>
            <a:off x="4668782" y="4546606"/>
            <a:ext cx="330755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Consolas" panose="020B0609020204030204" pitchFamily="49" charset="0"/>
              </a:rPr>
              <a:t>pwd</a:t>
            </a:r>
            <a:r>
              <a:rPr lang="en-US" sz="1400" dirty="0">
                <a:latin typeface="Consolas" panose="020B0609020204030204" pitchFamily="49" charset="0"/>
              </a:rPr>
              <a:t> = input('Enter password: ')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5AD949-AF69-3443-1434-8D6EEFAFA01B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 flipH="1">
            <a:off x="9915051" y="3571637"/>
            <a:ext cx="1" cy="705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83E118A-0B5F-3506-97E8-737942404A51}"/>
              </a:ext>
            </a:extLst>
          </p:cNvPr>
          <p:cNvSpPr txBox="1"/>
          <p:nvPr/>
        </p:nvSpPr>
        <p:spPr>
          <a:xfrm>
            <a:off x="8257443" y="436194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</a:rPr>
              <a:t>True</a:t>
            </a:r>
            <a:endParaRPr lang="en-AU" dirty="0">
              <a:latin typeface="Consolas" panose="020B0609020204030204" pitchFamily="49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1DC13AD-6511-FCDA-75D2-C1880EC0A49A}"/>
              </a:ext>
            </a:extLst>
          </p:cNvPr>
          <p:cNvCxnSpPr>
            <a:stCxn id="14" idx="1"/>
            <a:endCxn id="18" idx="3"/>
          </p:cNvCxnSpPr>
          <p:nvPr/>
        </p:nvCxnSpPr>
        <p:spPr>
          <a:xfrm flipH="1" flipV="1">
            <a:off x="7976336" y="4700495"/>
            <a:ext cx="75761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79BD92B3-2EC4-2021-AEC1-A134DF59084E}"/>
              </a:ext>
            </a:extLst>
          </p:cNvPr>
          <p:cNvCxnSpPr>
            <a:stCxn id="18" idx="0"/>
          </p:cNvCxnSpPr>
          <p:nvPr/>
        </p:nvCxnSpPr>
        <p:spPr>
          <a:xfrm rot="5400000" flipH="1" flipV="1">
            <a:off x="7817971" y="2429112"/>
            <a:ext cx="622083" cy="36129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CB27755-136C-7EB1-520F-9C11FE47BAB5}"/>
              </a:ext>
            </a:extLst>
          </p:cNvPr>
          <p:cNvCxnSpPr>
            <a:cxnSpLocks/>
          </p:cNvCxnSpPr>
          <p:nvPr/>
        </p:nvCxnSpPr>
        <p:spPr>
          <a:xfrm flipH="1">
            <a:off x="9898752" y="5123581"/>
            <a:ext cx="16299" cy="7184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EDDE0F9-360E-9C2F-5E8C-B4EC6ED7251E}"/>
              </a:ext>
            </a:extLst>
          </p:cNvPr>
          <p:cNvSpPr txBox="1"/>
          <p:nvPr/>
        </p:nvSpPr>
        <p:spPr>
          <a:xfrm>
            <a:off x="9898752" y="5069069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</a:rPr>
              <a:t>False</a:t>
            </a:r>
            <a:endParaRPr lang="en-AU" dirty="0">
              <a:latin typeface="Consolas" panose="020B0609020204030204" pitchFamily="49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7F7443A-8275-EA63-635D-65075611AA0D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9915052" y="2641600"/>
            <a:ext cx="0" cy="622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8B1A846-F6CB-3E4B-A33A-67421E183C89}"/>
              </a:ext>
            </a:extLst>
          </p:cNvPr>
          <p:cNvSpPr txBox="1"/>
          <p:nvPr/>
        </p:nvSpPr>
        <p:spPr>
          <a:xfrm>
            <a:off x="367716" y="1905946"/>
            <a:ext cx="3628487" cy="25853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When a while loop is run, Python first checks the condition: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/>
              <a:t>condition</a:t>
            </a:r>
            <a:r>
              <a:rPr lang="en-AU" dirty="0"/>
              <a:t> is </a:t>
            </a:r>
            <a:r>
              <a:rPr lang="en-AU" b="1" dirty="0">
                <a:latin typeface="Consolas" panose="020B0609020204030204" pitchFamily="49" charset="0"/>
              </a:rPr>
              <a:t>True</a:t>
            </a:r>
            <a:br>
              <a:rPr lang="en-AU" b="1" dirty="0">
                <a:latin typeface="Consolas" panose="020B0609020204030204" pitchFamily="49" charset="0"/>
              </a:rPr>
            </a:br>
            <a:r>
              <a:rPr lang="en-AU" dirty="0"/>
              <a:t>Run the body, and then afterwards check the condition again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/>
              <a:t>condition</a:t>
            </a:r>
            <a:r>
              <a:rPr lang="en-AU" dirty="0"/>
              <a:t> is </a:t>
            </a:r>
            <a:r>
              <a:rPr lang="en-AU" b="1" dirty="0">
                <a:latin typeface="Consolas" panose="020B0609020204030204" pitchFamily="49" charset="0"/>
              </a:rPr>
              <a:t>False</a:t>
            </a:r>
            <a:br>
              <a:rPr lang="en-AU" b="1" dirty="0">
                <a:latin typeface="Consolas" panose="020B0609020204030204" pitchFamily="49" charset="0"/>
              </a:rPr>
            </a:br>
            <a:r>
              <a:rPr lang="en-AU" dirty="0"/>
              <a:t>Jump out of the while-loop and run the statement after it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99CCC1-6679-93C1-2DAF-6E95644AE53F}"/>
              </a:ext>
            </a:extLst>
          </p:cNvPr>
          <p:cNvSpPr txBox="1"/>
          <p:nvPr/>
        </p:nvSpPr>
        <p:spPr>
          <a:xfrm>
            <a:off x="6924893" y="2384810"/>
            <a:ext cx="17086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flow chart </a:t>
            </a:r>
            <a:r>
              <a:rPr lang="en-CA" dirty="0"/>
              <a:t>showing how the code runs.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8777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203F4-5E7D-FB47-F40F-F998B4D47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0AAC5-5443-8F35-2D61-AECBF39C0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BEA7D-4931-E290-B1B7-7D0EA2DB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14</a:t>
            </a:fld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CC6B7-0767-B379-0E84-424D10CFF9B8}"/>
              </a:ext>
            </a:extLst>
          </p:cNvPr>
          <p:cNvSpPr txBox="1"/>
          <p:nvPr/>
        </p:nvSpPr>
        <p:spPr>
          <a:xfrm>
            <a:off x="3856550" y="744812"/>
            <a:ext cx="70855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''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!= 'swordfish':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input('Enter password: ')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CB95ED9-6BEC-1AEC-AD4A-1ED68C665C4D}"/>
              </a:ext>
            </a:extLst>
          </p:cNvPr>
          <p:cNvGrpSpPr/>
          <p:nvPr/>
        </p:nvGrpSpPr>
        <p:grpSpPr>
          <a:xfrm>
            <a:off x="4668782" y="2899460"/>
            <a:ext cx="6427369" cy="2694632"/>
            <a:chOff x="3866613" y="2283768"/>
            <a:chExt cx="6427369" cy="26946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4EBEABC-D3C1-C834-5CEB-C39780E25693}"/>
                </a:ext>
              </a:extLst>
            </p:cNvPr>
            <p:cNvSpPr txBox="1"/>
            <p:nvPr/>
          </p:nvSpPr>
          <p:spPr>
            <a:xfrm>
              <a:off x="8258551" y="2648168"/>
              <a:ext cx="170866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latin typeface="Consolas" panose="020B0609020204030204" pitchFamily="49" charset="0"/>
                </a:rPr>
                <a:t>pwd</a:t>
              </a:r>
              <a:r>
                <a:rPr lang="en-US" sz="1400" dirty="0">
                  <a:latin typeface="Consolas" panose="020B0609020204030204" pitchFamily="49" charset="0"/>
                </a:rPr>
                <a:t> = ''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9762010-760B-8C28-5249-EB880A4B145D}"/>
                </a:ext>
              </a:extLst>
            </p:cNvPr>
            <p:cNvGrpSpPr/>
            <p:nvPr/>
          </p:nvGrpSpPr>
          <p:grpSpPr>
            <a:xfrm>
              <a:off x="7931782" y="3661718"/>
              <a:ext cx="2362200" cy="846171"/>
              <a:chOff x="7831667" y="4207932"/>
              <a:chExt cx="2362200" cy="846171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138FBB9-923F-FCE2-8570-4B2CCAA0EF7C}"/>
                  </a:ext>
                </a:extLst>
              </p:cNvPr>
              <p:cNvSpPr txBox="1"/>
              <p:nvPr/>
            </p:nvSpPr>
            <p:spPr>
              <a:xfrm>
                <a:off x="8046374" y="4449873"/>
                <a:ext cx="197361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err="1">
                    <a:latin typeface="Consolas" panose="020B0609020204030204" pitchFamily="49" charset="0"/>
                  </a:rPr>
                  <a:t>pwd</a:t>
                </a:r>
                <a:r>
                  <a:rPr lang="en-US" sz="1400" dirty="0">
                    <a:latin typeface="Consolas" panose="020B0609020204030204" pitchFamily="49" charset="0"/>
                  </a:rPr>
                  <a:t> != 'swordfish'</a:t>
                </a:r>
              </a:p>
            </p:txBody>
          </p:sp>
          <p:sp>
            <p:nvSpPr>
              <p:cNvPr id="14" name="Flowchart: Decision 13">
                <a:extLst>
                  <a:ext uri="{FF2B5EF4-FFF2-40B4-BE49-F238E27FC236}">
                    <a16:creationId xmlns:a16="http://schemas.microsoft.com/office/drawing/2014/main" id="{38BE76E4-5F82-FE32-ACEB-3250659916A5}"/>
                  </a:ext>
                </a:extLst>
              </p:cNvPr>
              <p:cNvSpPr/>
              <p:nvPr/>
            </p:nvSpPr>
            <p:spPr>
              <a:xfrm>
                <a:off x="7831667" y="4207932"/>
                <a:ext cx="2362200" cy="846171"/>
              </a:xfrm>
              <a:prstGeom prst="flowChartDecision">
                <a:avLst/>
              </a:prstGeom>
              <a:noFill/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6D5B3D1-B538-DAA4-3A4E-1781684652E8}"/>
                </a:ext>
              </a:extLst>
            </p:cNvPr>
            <p:cNvSpPr txBox="1"/>
            <p:nvPr/>
          </p:nvSpPr>
          <p:spPr>
            <a:xfrm>
              <a:off x="3866613" y="3930914"/>
              <a:ext cx="3307554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latin typeface="Consolas" panose="020B0609020204030204" pitchFamily="49" charset="0"/>
                </a:rPr>
                <a:t>pwd</a:t>
              </a:r>
              <a:r>
                <a:rPr lang="en-US" sz="1400" dirty="0">
                  <a:latin typeface="Consolas" panose="020B0609020204030204" pitchFamily="49" charset="0"/>
                </a:rPr>
                <a:t> = input('Enter password: ')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F011272-12FF-2232-B985-4EBBC2C726A5}"/>
                </a:ext>
              </a:extLst>
            </p:cNvPr>
            <p:cNvCxnSpPr>
              <a:stCxn id="10" idx="2"/>
              <a:endCxn id="14" idx="0"/>
            </p:cNvCxnSpPr>
            <p:nvPr/>
          </p:nvCxnSpPr>
          <p:spPr>
            <a:xfrm flipH="1">
              <a:off x="9112882" y="2955945"/>
              <a:ext cx="1" cy="7057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0C51428-A25E-416D-4FAC-A52495061A1B}"/>
                </a:ext>
              </a:extLst>
            </p:cNvPr>
            <p:cNvSpPr txBox="1"/>
            <p:nvPr/>
          </p:nvSpPr>
          <p:spPr>
            <a:xfrm>
              <a:off x="7455274" y="3746248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latin typeface="Consolas" panose="020B0609020204030204" pitchFamily="49" charset="0"/>
                </a:rPr>
                <a:t>True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7E5AB34-FCA5-F9E4-7E26-E53D99041D29}"/>
                </a:ext>
              </a:extLst>
            </p:cNvPr>
            <p:cNvCxnSpPr>
              <a:stCxn id="14" idx="1"/>
              <a:endCxn id="18" idx="3"/>
            </p:cNvCxnSpPr>
            <p:nvPr/>
          </p:nvCxnSpPr>
          <p:spPr>
            <a:xfrm flipH="1" flipV="1">
              <a:off x="7174167" y="4084803"/>
              <a:ext cx="75761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C5ECC1A9-C513-DE38-0E10-59C8C4771980}"/>
                </a:ext>
              </a:extLst>
            </p:cNvPr>
            <p:cNvCxnSpPr>
              <a:stCxn id="18" idx="0"/>
            </p:cNvCxnSpPr>
            <p:nvPr/>
          </p:nvCxnSpPr>
          <p:spPr>
            <a:xfrm rot="5400000" flipH="1" flipV="1">
              <a:off x="7015802" y="1813420"/>
              <a:ext cx="622083" cy="3612907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2AED9E7-74C2-4C14-D039-65D401A8F68D}"/>
                </a:ext>
              </a:extLst>
            </p:cNvPr>
            <p:cNvCxnSpPr>
              <a:stCxn id="14" idx="2"/>
            </p:cNvCxnSpPr>
            <p:nvPr/>
          </p:nvCxnSpPr>
          <p:spPr>
            <a:xfrm>
              <a:off x="9112882" y="4507889"/>
              <a:ext cx="0" cy="4705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604F6E1-620C-F59C-1517-B150B1E84E58}"/>
                </a:ext>
              </a:extLst>
            </p:cNvPr>
            <p:cNvSpPr txBox="1"/>
            <p:nvPr/>
          </p:nvSpPr>
          <p:spPr>
            <a:xfrm>
              <a:off x="9096583" y="4453377"/>
              <a:ext cx="817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latin typeface="Consolas" panose="020B0609020204030204" pitchFamily="49" charset="0"/>
                </a:rPr>
                <a:t>False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D55C768-000D-E556-CD91-563D8EF8112F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9112883" y="2283768"/>
              <a:ext cx="0" cy="3644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3D41F81-D2BB-FC66-4F87-031CBCB0727D}"/>
              </a:ext>
            </a:extLst>
          </p:cNvPr>
          <p:cNvSpPr txBox="1"/>
          <p:nvPr/>
        </p:nvSpPr>
        <p:spPr>
          <a:xfrm>
            <a:off x="367716" y="1905946"/>
            <a:ext cx="3628487" cy="25853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When a while loop is run, Python first checks the condition: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/>
              <a:t>condition</a:t>
            </a:r>
            <a:r>
              <a:rPr lang="en-AU" dirty="0"/>
              <a:t> is </a:t>
            </a:r>
            <a:r>
              <a:rPr lang="en-AU" b="1" dirty="0">
                <a:latin typeface="Consolas" panose="020B0609020204030204" pitchFamily="49" charset="0"/>
              </a:rPr>
              <a:t>True</a:t>
            </a:r>
            <a:br>
              <a:rPr lang="en-AU" b="1" dirty="0">
                <a:latin typeface="Consolas" panose="020B0609020204030204" pitchFamily="49" charset="0"/>
              </a:rPr>
            </a:br>
            <a:r>
              <a:rPr lang="en-AU" dirty="0"/>
              <a:t>Run the body, and then afterwards check the condition again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/>
              <a:t>condition</a:t>
            </a:r>
            <a:r>
              <a:rPr lang="en-AU" dirty="0"/>
              <a:t> is </a:t>
            </a:r>
            <a:r>
              <a:rPr lang="en-AU" b="1" dirty="0">
                <a:latin typeface="Consolas" panose="020B0609020204030204" pitchFamily="49" charset="0"/>
              </a:rPr>
              <a:t>False</a:t>
            </a:r>
            <a:br>
              <a:rPr lang="en-AU" b="1" dirty="0">
                <a:latin typeface="Consolas" panose="020B0609020204030204" pitchFamily="49" charset="0"/>
              </a:rPr>
            </a:br>
            <a:r>
              <a:rPr lang="en-AU" dirty="0"/>
              <a:t>Jump out of the while-loop and run the statement after it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CBE02D-89B2-6D60-189D-FC0E58776964}"/>
              </a:ext>
            </a:extLst>
          </p:cNvPr>
          <p:cNvSpPr txBox="1"/>
          <p:nvPr/>
        </p:nvSpPr>
        <p:spPr>
          <a:xfrm>
            <a:off x="4360270" y="5123581"/>
            <a:ext cx="191995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many execution paths are there through this code?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F50EB-4B29-7D07-113A-F35AB7BF8168}"/>
              </a:ext>
            </a:extLst>
          </p:cNvPr>
          <p:cNvSpPr txBox="1"/>
          <p:nvPr/>
        </p:nvSpPr>
        <p:spPr>
          <a:xfrm>
            <a:off x="6588760" y="5097525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912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292CD-2591-4D9C-7274-7ED30A397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17FD-2B7E-9947-53D4-646A58C5D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45DD7-C4B0-B3A7-33F4-575D08109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15</a:t>
            </a:fld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4810CA-800F-57C5-F25F-66857E325C81}"/>
              </a:ext>
            </a:extLst>
          </p:cNvPr>
          <p:cNvSpPr txBox="1"/>
          <p:nvPr/>
        </p:nvSpPr>
        <p:spPr>
          <a:xfrm>
            <a:off x="3856550" y="744812"/>
            <a:ext cx="70855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''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!= 'swordfish':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pwd</a:t>
            </a:r>
            <a:r>
              <a:rPr lang="en-US" sz="2800" dirty="0">
                <a:latin typeface="Consolas" panose="020B0609020204030204" pitchFamily="49" charset="0"/>
              </a:rPr>
              <a:t> = input('Enter password: ')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8F0180A-0AE6-7B37-02D9-0810B0EABCE4}"/>
              </a:ext>
            </a:extLst>
          </p:cNvPr>
          <p:cNvGrpSpPr/>
          <p:nvPr/>
        </p:nvGrpSpPr>
        <p:grpSpPr>
          <a:xfrm>
            <a:off x="4668782" y="2899460"/>
            <a:ext cx="6427369" cy="2694632"/>
            <a:chOff x="3866613" y="2283768"/>
            <a:chExt cx="6427369" cy="26946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81C7D33-3AA1-315C-A519-6D4217795E6D}"/>
                </a:ext>
              </a:extLst>
            </p:cNvPr>
            <p:cNvSpPr txBox="1"/>
            <p:nvPr/>
          </p:nvSpPr>
          <p:spPr>
            <a:xfrm>
              <a:off x="8258551" y="2648168"/>
              <a:ext cx="170866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latin typeface="Consolas" panose="020B0609020204030204" pitchFamily="49" charset="0"/>
                </a:rPr>
                <a:t>pwd</a:t>
              </a:r>
              <a:r>
                <a:rPr lang="en-US" sz="1400" dirty="0">
                  <a:latin typeface="Consolas" panose="020B0609020204030204" pitchFamily="49" charset="0"/>
                </a:rPr>
                <a:t> = ''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967B005-7889-05BC-37B6-EEF256CC5AC8}"/>
                </a:ext>
              </a:extLst>
            </p:cNvPr>
            <p:cNvGrpSpPr/>
            <p:nvPr/>
          </p:nvGrpSpPr>
          <p:grpSpPr>
            <a:xfrm>
              <a:off x="7931782" y="3661718"/>
              <a:ext cx="2362200" cy="846171"/>
              <a:chOff x="7831667" y="4207932"/>
              <a:chExt cx="2362200" cy="846171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1B499D9-F225-0B58-7915-3B3A0954D65B}"/>
                  </a:ext>
                </a:extLst>
              </p:cNvPr>
              <p:cNvSpPr txBox="1"/>
              <p:nvPr/>
            </p:nvSpPr>
            <p:spPr>
              <a:xfrm>
                <a:off x="8046374" y="4449873"/>
                <a:ext cx="197361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err="1">
                    <a:latin typeface="Consolas" panose="020B0609020204030204" pitchFamily="49" charset="0"/>
                  </a:rPr>
                  <a:t>pwd</a:t>
                </a:r>
                <a:r>
                  <a:rPr lang="en-US" sz="1400" dirty="0">
                    <a:latin typeface="Consolas" panose="020B0609020204030204" pitchFamily="49" charset="0"/>
                  </a:rPr>
                  <a:t> != 'swordfish'</a:t>
                </a:r>
              </a:p>
            </p:txBody>
          </p:sp>
          <p:sp>
            <p:nvSpPr>
              <p:cNvPr id="14" name="Flowchart: Decision 13">
                <a:extLst>
                  <a:ext uri="{FF2B5EF4-FFF2-40B4-BE49-F238E27FC236}">
                    <a16:creationId xmlns:a16="http://schemas.microsoft.com/office/drawing/2014/main" id="{CA616FA0-4BEB-8A17-554E-A974737F376E}"/>
                  </a:ext>
                </a:extLst>
              </p:cNvPr>
              <p:cNvSpPr/>
              <p:nvPr/>
            </p:nvSpPr>
            <p:spPr>
              <a:xfrm>
                <a:off x="7831667" y="4207932"/>
                <a:ext cx="2362200" cy="846171"/>
              </a:xfrm>
              <a:prstGeom prst="flowChartDecision">
                <a:avLst/>
              </a:prstGeom>
              <a:noFill/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7B91BC1-0FDD-9AB3-0C50-5D8BAF22A468}"/>
                </a:ext>
              </a:extLst>
            </p:cNvPr>
            <p:cNvSpPr txBox="1"/>
            <p:nvPr/>
          </p:nvSpPr>
          <p:spPr>
            <a:xfrm>
              <a:off x="3866613" y="3930914"/>
              <a:ext cx="3307554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latin typeface="Consolas" panose="020B0609020204030204" pitchFamily="49" charset="0"/>
                </a:rPr>
                <a:t>pwd</a:t>
              </a:r>
              <a:r>
                <a:rPr lang="en-US" sz="1400" dirty="0">
                  <a:latin typeface="Consolas" panose="020B0609020204030204" pitchFamily="49" charset="0"/>
                </a:rPr>
                <a:t> = input('Enter password: ')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F443205-76CA-53B4-0A52-48AB5375EFC4}"/>
                </a:ext>
              </a:extLst>
            </p:cNvPr>
            <p:cNvCxnSpPr>
              <a:stCxn id="10" idx="2"/>
              <a:endCxn id="14" idx="0"/>
            </p:cNvCxnSpPr>
            <p:nvPr/>
          </p:nvCxnSpPr>
          <p:spPr>
            <a:xfrm flipH="1">
              <a:off x="9112882" y="2955945"/>
              <a:ext cx="1" cy="7057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5D3E76-2C82-896B-1736-C629992ABCC7}"/>
                </a:ext>
              </a:extLst>
            </p:cNvPr>
            <p:cNvSpPr txBox="1"/>
            <p:nvPr/>
          </p:nvSpPr>
          <p:spPr>
            <a:xfrm>
              <a:off x="7455274" y="3746248"/>
              <a:ext cx="6912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latin typeface="Consolas" panose="020B0609020204030204" pitchFamily="49" charset="0"/>
                </a:rPr>
                <a:t>True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3998A57-810F-19A7-539E-B8C35ADBD0A7}"/>
                </a:ext>
              </a:extLst>
            </p:cNvPr>
            <p:cNvCxnSpPr>
              <a:stCxn id="14" idx="1"/>
              <a:endCxn id="18" idx="3"/>
            </p:cNvCxnSpPr>
            <p:nvPr/>
          </p:nvCxnSpPr>
          <p:spPr>
            <a:xfrm flipH="1" flipV="1">
              <a:off x="7174167" y="4084803"/>
              <a:ext cx="75761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3B03DE96-DD71-1604-7043-5D3C6225E391}"/>
                </a:ext>
              </a:extLst>
            </p:cNvPr>
            <p:cNvCxnSpPr>
              <a:stCxn id="18" idx="0"/>
            </p:cNvCxnSpPr>
            <p:nvPr/>
          </p:nvCxnSpPr>
          <p:spPr>
            <a:xfrm rot="5400000" flipH="1" flipV="1">
              <a:off x="7015802" y="1813420"/>
              <a:ext cx="622083" cy="3612907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45A7223-A7F0-BF4D-382E-490FB8E70A1C}"/>
                </a:ext>
              </a:extLst>
            </p:cNvPr>
            <p:cNvCxnSpPr>
              <a:stCxn id="14" idx="2"/>
            </p:cNvCxnSpPr>
            <p:nvPr/>
          </p:nvCxnSpPr>
          <p:spPr>
            <a:xfrm>
              <a:off x="9112882" y="4507889"/>
              <a:ext cx="0" cy="4705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999FAED-4D14-F89F-A491-B9AD67A50746}"/>
                </a:ext>
              </a:extLst>
            </p:cNvPr>
            <p:cNvSpPr txBox="1"/>
            <p:nvPr/>
          </p:nvSpPr>
          <p:spPr>
            <a:xfrm>
              <a:off x="9096583" y="4453377"/>
              <a:ext cx="817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latin typeface="Consolas" panose="020B0609020204030204" pitchFamily="49" charset="0"/>
                </a:rPr>
                <a:t>False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F44D534-BC38-7BED-19A3-6B1B48A64238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9112883" y="2283768"/>
              <a:ext cx="0" cy="3644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630B307-951B-CC43-37FA-4890843192A0}"/>
              </a:ext>
            </a:extLst>
          </p:cNvPr>
          <p:cNvSpPr txBox="1"/>
          <p:nvPr/>
        </p:nvSpPr>
        <p:spPr>
          <a:xfrm>
            <a:off x="367716" y="1905946"/>
            <a:ext cx="3628487" cy="25853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When a while loop is run, Python first checks the condition: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/>
              <a:t>condition</a:t>
            </a:r>
            <a:r>
              <a:rPr lang="en-AU" dirty="0"/>
              <a:t> is </a:t>
            </a:r>
            <a:r>
              <a:rPr lang="en-AU" b="1" dirty="0">
                <a:latin typeface="Consolas" panose="020B0609020204030204" pitchFamily="49" charset="0"/>
              </a:rPr>
              <a:t>True</a:t>
            </a:r>
            <a:br>
              <a:rPr lang="en-AU" b="1" dirty="0">
                <a:latin typeface="Consolas" panose="020B0609020204030204" pitchFamily="49" charset="0"/>
              </a:rPr>
            </a:br>
            <a:r>
              <a:rPr lang="en-AU" dirty="0"/>
              <a:t>Run the body, and then afterwards check the condition again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i="1" dirty="0"/>
              <a:t>condition</a:t>
            </a:r>
            <a:r>
              <a:rPr lang="en-AU" dirty="0"/>
              <a:t> is </a:t>
            </a:r>
            <a:r>
              <a:rPr lang="en-AU" b="1" dirty="0">
                <a:latin typeface="Consolas" panose="020B0609020204030204" pitchFamily="49" charset="0"/>
              </a:rPr>
              <a:t>False</a:t>
            </a:r>
            <a:br>
              <a:rPr lang="en-AU" b="1" dirty="0">
                <a:latin typeface="Consolas" panose="020B0609020204030204" pitchFamily="49" charset="0"/>
              </a:rPr>
            </a:br>
            <a:r>
              <a:rPr lang="en-AU" dirty="0"/>
              <a:t>Jump out of the while-loop and run the statement after it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AD9B95-9D1B-5CEE-C1E6-EE5CF0935786}"/>
              </a:ext>
            </a:extLst>
          </p:cNvPr>
          <p:cNvSpPr txBox="1"/>
          <p:nvPr/>
        </p:nvSpPr>
        <p:spPr>
          <a:xfrm>
            <a:off x="4360270" y="5123581"/>
            <a:ext cx="191995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many </a:t>
            </a:r>
            <a:r>
              <a:rPr lang="en-CA" b="1" dirty="0"/>
              <a:t>execution paths </a:t>
            </a:r>
            <a:r>
              <a:rPr lang="en-CA" dirty="0"/>
              <a:t>are there through this code?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CBB2E0-FBFF-9440-DA85-7BFE1FF4EA1D}"/>
              </a:ext>
            </a:extLst>
          </p:cNvPr>
          <p:cNvSpPr txBox="1"/>
          <p:nvPr/>
        </p:nvSpPr>
        <p:spPr>
          <a:xfrm>
            <a:off x="6756733" y="5123580"/>
            <a:ext cx="21919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Arbitrarily many!</a:t>
            </a:r>
            <a:br>
              <a:rPr lang="en-CA" dirty="0"/>
            </a:br>
            <a:r>
              <a:rPr lang="en-CA" dirty="0"/>
              <a:t>You can go “around the loop” any number of times.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98669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B5288-E942-6CB0-4D7D-F80E66DED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5691-27FD-0627-CD99-D8BAB2BF3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18305-FF70-E4F3-DAED-760DAF204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56AC98-2EFB-4B0D-D76A-50C6803E8738}"/>
              </a:ext>
            </a:extLst>
          </p:cNvPr>
          <p:cNvSpPr txBox="1"/>
          <p:nvPr/>
        </p:nvSpPr>
        <p:spPr>
          <a:xfrm>
            <a:off x="4349610" y="1683314"/>
            <a:ext cx="24608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ranged for-loop can be converted to a while-loop …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ECC2D1-B6FE-6E24-50E2-A4379A6187AF}"/>
              </a:ext>
            </a:extLst>
          </p:cNvPr>
          <p:cNvSpPr txBox="1"/>
          <p:nvPr/>
        </p:nvSpPr>
        <p:spPr>
          <a:xfrm>
            <a:off x="465665" y="3429000"/>
            <a:ext cx="41280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for i in range(100):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F401F5E1-5B64-55B1-504D-FE6D710C86F7}"/>
              </a:ext>
            </a:extLst>
          </p:cNvPr>
          <p:cNvSpPr/>
          <p:nvPr/>
        </p:nvSpPr>
        <p:spPr>
          <a:xfrm>
            <a:off x="4859866" y="3815840"/>
            <a:ext cx="1236134" cy="5672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75307A-41A1-7041-17FD-0972CEC30F7A}"/>
              </a:ext>
            </a:extLst>
          </p:cNvPr>
          <p:cNvSpPr txBox="1"/>
          <p:nvPr/>
        </p:nvSpPr>
        <p:spPr>
          <a:xfrm>
            <a:off x="7045960" y="3429000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613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6655E-503C-2854-7B20-0EDB6BC97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2EE30-8EBF-34DC-6570-BD77E686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57852-F53C-3C0B-DBB0-447B0D87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95C4A-02C5-19C5-F31E-EDD3D778DC0F}"/>
              </a:ext>
            </a:extLst>
          </p:cNvPr>
          <p:cNvSpPr txBox="1"/>
          <p:nvPr/>
        </p:nvSpPr>
        <p:spPr>
          <a:xfrm>
            <a:off x="4349610" y="1683314"/>
            <a:ext cx="24608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ranged for-loop can be converted to a while-loop …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76D040-3024-4C21-5F0A-D74CF510949D}"/>
              </a:ext>
            </a:extLst>
          </p:cNvPr>
          <p:cNvSpPr txBox="1"/>
          <p:nvPr/>
        </p:nvSpPr>
        <p:spPr>
          <a:xfrm>
            <a:off x="465665" y="3429000"/>
            <a:ext cx="41280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for i in range(100):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69C2FD-07FA-11BB-0D07-6D3889CC0590}"/>
              </a:ext>
            </a:extLst>
          </p:cNvPr>
          <p:cNvSpPr txBox="1"/>
          <p:nvPr/>
        </p:nvSpPr>
        <p:spPr>
          <a:xfrm>
            <a:off x="6654799" y="3429000"/>
            <a:ext cx="333937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i = 0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i &lt; 100: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i += 1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DDFC69DD-0D35-EB8D-3BD9-2D73C3A49DDB}"/>
              </a:ext>
            </a:extLst>
          </p:cNvPr>
          <p:cNvSpPr/>
          <p:nvPr/>
        </p:nvSpPr>
        <p:spPr>
          <a:xfrm>
            <a:off x="4859866" y="3815840"/>
            <a:ext cx="1236134" cy="5672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9766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043CE-EB5D-520E-2696-902F64259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F9CE5-01D1-2AEA-8E62-FC8C9933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40894-0F80-6C09-F86C-43683B184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CCA122-E15F-FFD1-70C1-18BBB16FB885}"/>
              </a:ext>
            </a:extLst>
          </p:cNvPr>
          <p:cNvSpPr txBox="1"/>
          <p:nvPr/>
        </p:nvSpPr>
        <p:spPr>
          <a:xfrm>
            <a:off x="4349610" y="1683314"/>
            <a:ext cx="24608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ranged for-loop can be converted to a while-loop …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05EE39-7115-2017-43D7-59CBAE917EA5}"/>
              </a:ext>
            </a:extLst>
          </p:cNvPr>
          <p:cNvSpPr txBox="1"/>
          <p:nvPr/>
        </p:nvSpPr>
        <p:spPr>
          <a:xfrm>
            <a:off x="465665" y="3429000"/>
            <a:ext cx="41280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for i in range(100):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0E6646-D316-AE62-4AC7-D1062C0B9553}"/>
              </a:ext>
            </a:extLst>
          </p:cNvPr>
          <p:cNvSpPr txBox="1"/>
          <p:nvPr/>
        </p:nvSpPr>
        <p:spPr>
          <a:xfrm>
            <a:off x="6654799" y="3429000"/>
            <a:ext cx="333937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i = 0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i &lt; 100: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i += 1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8C1681E4-C8C8-0046-8A43-DE9752531D02}"/>
              </a:ext>
            </a:extLst>
          </p:cNvPr>
          <p:cNvSpPr/>
          <p:nvPr/>
        </p:nvSpPr>
        <p:spPr>
          <a:xfrm>
            <a:off x="4859866" y="3815840"/>
            <a:ext cx="1236134" cy="5672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863DFC-40D9-3BC5-6BBF-25AC55608504}"/>
              </a:ext>
            </a:extLst>
          </p:cNvPr>
          <p:cNvSpPr txBox="1"/>
          <p:nvPr/>
        </p:nvSpPr>
        <p:spPr>
          <a:xfrm>
            <a:off x="8483600" y="2283478"/>
            <a:ext cx="189032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Initialization</a:t>
            </a:r>
            <a:r>
              <a:rPr lang="en-CA" dirty="0"/>
              <a:t> of loop variable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E093E-3C1B-D097-27E5-AD656C76CDFE}"/>
              </a:ext>
            </a:extLst>
          </p:cNvPr>
          <p:cNvSpPr txBox="1"/>
          <p:nvPr/>
        </p:nvSpPr>
        <p:spPr>
          <a:xfrm>
            <a:off x="10164932" y="3164015"/>
            <a:ext cx="18903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Loop condition </a:t>
            </a:r>
            <a:r>
              <a:rPr lang="en-CA" dirty="0"/>
              <a:t>(execute body as long as it’s </a:t>
            </a:r>
            <a:r>
              <a:rPr lang="en-CA" dirty="0">
                <a:latin typeface="Consolas" panose="020B0609020204030204" pitchFamily="49" charset="0"/>
              </a:rPr>
              <a:t>True</a:t>
            </a:r>
            <a:r>
              <a:rPr lang="en-CA" dirty="0"/>
              <a:t>)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FE06EA-DB9C-2DB8-AF61-BECBE4D293E2}"/>
              </a:ext>
            </a:extLst>
          </p:cNvPr>
          <p:cNvSpPr txBox="1"/>
          <p:nvPr/>
        </p:nvSpPr>
        <p:spPr>
          <a:xfrm>
            <a:off x="9852942" y="5244882"/>
            <a:ext cx="150085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Increment</a:t>
            </a:r>
            <a:r>
              <a:rPr lang="en-CA" dirty="0"/>
              <a:t> loop variable</a:t>
            </a:r>
            <a:endParaRPr lang="en-AU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933FDF-7373-D0C8-6063-409FB4EB1FC9}"/>
              </a:ext>
            </a:extLst>
          </p:cNvPr>
          <p:cNvCxnSpPr>
            <a:stCxn id="6" idx="1"/>
          </p:cNvCxnSpPr>
          <p:nvPr/>
        </p:nvCxnSpPr>
        <p:spPr>
          <a:xfrm flipH="1">
            <a:off x="7442200" y="2606644"/>
            <a:ext cx="1041400" cy="859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D912C6-E561-F04F-AC0F-9FA1104E87A1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9135533" y="3625680"/>
            <a:ext cx="1029399" cy="302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2B38B65-B8F2-E8AC-4C55-FF0458427CD3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8763000" y="5113867"/>
            <a:ext cx="1089942" cy="454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097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B8A12-17C2-C52E-F21E-BFF96B87C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C55F7-293F-E81D-0B98-8F3460FE4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3ACC4-42F4-0CAD-C9C0-CC817155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30CC66-DFDB-9A37-7F2E-5AABA143149E}"/>
              </a:ext>
            </a:extLst>
          </p:cNvPr>
          <p:cNvSpPr txBox="1"/>
          <p:nvPr/>
        </p:nvSpPr>
        <p:spPr>
          <a:xfrm>
            <a:off x="3766242" y="1683313"/>
            <a:ext cx="24608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most general ranged for-loop can be re-written like this …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43B764-4706-0014-BD25-4A3CF8D44015}"/>
              </a:ext>
            </a:extLst>
          </p:cNvPr>
          <p:cNvSpPr txBox="1"/>
          <p:nvPr/>
        </p:nvSpPr>
        <p:spPr>
          <a:xfrm>
            <a:off x="183981" y="3493642"/>
            <a:ext cx="55082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for i in range(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step</a:t>
            </a:r>
            <a:r>
              <a:rPr lang="en-US" sz="2800" dirty="0">
                <a:latin typeface="Consolas" panose="020B0609020204030204" pitchFamily="49" charset="0"/>
              </a:rPr>
              <a:t>):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6E2E20-37CC-C89E-21D9-257CD0B8BBE9}"/>
              </a:ext>
            </a:extLst>
          </p:cNvPr>
          <p:cNvSpPr txBox="1"/>
          <p:nvPr/>
        </p:nvSpPr>
        <p:spPr>
          <a:xfrm>
            <a:off x="6654799" y="3429000"/>
            <a:ext cx="333937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i =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i &lt;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i +=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step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B8BF20C8-A403-F3E8-7153-87B86874CC4D}"/>
              </a:ext>
            </a:extLst>
          </p:cNvPr>
          <p:cNvSpPr/>
          <p:nvPr/>
        </p:nvSpPr>
        <p:spPr>
          <a:xfrm>
            <a:off x="5295174" y="4164115"/>
            <a:ext cx="1236134" cy="5672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176723-E25B-1AF0-1100-3A22E7E2FF07}"/>
              </a:ext>
            </a:extLst>
          </p:cNvPr>
          <p:cNvSpPr txBox="1"/>
          <p:nvPr/>
        </p:nvSpPr>
        <p:spPr>
          <a:xfrm>
            <a:off x="8483600" y="2283478"/>
            <a:ext cx="189032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Initialization</a:t>
            </a:r>
            <a:r>
              <a:rPr lang="en-CA" dirty="0"/>
              <a:t> of loop variable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3C3AF8-0C78-E852-E10A-FE2A707ABBAA}"/>
              </a:ext>
            </a:extLst>
          </p:cNvPr>
          <p:cNvSpPr txBox="1"/>
          <p:nvPr/>
        </p:nvSpPr>
        <p:spPr>
          <a:xfrm>
            <a:off x="10164932" y="3466527"/>
            <a:ext cx="18903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Loop condition </a:t>
            </a:r>
            <a:r>
              <a:rPr lang="en-CA" dirty="0"/>
              <a:t>(execute body as long as it’s </a:t>
            </a:r>
            <a:r>
              <a:rPr lang="en-CA" dirty="0">
                <a:latin typeface="Consolas" panose="020B0609020204030204" pitchFamily="49" charset="0"/>
              </a:rPr>
              <a:t>True</a:t>
            </a:r>
            <a:r>
              <a:rPr lang="en-CA" dirty="0"/>
              <a:t>)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1A1E2B-8E53-2BD0-3E32-F7D8ACAFC5E4}"/>
              </a:ext>
            </a:extLst>
          </p:cNvPr>
          <p:cNvSpPr txBox="1"/>
          <p:nvPr/>
        </p:nvSpPr>
        <p:spPr>
          <a:xfrm>
            <a:off x="9852942" y="5244882"/>
            <a:ext cx="150085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Increment</a:t>
            </a:r>
            <a:r>
              <a:rPr lang="en-CA" dirty="0"/>
              <a:t> loop variable</a:t>
            </a:r>
            <a:endParaRPr lang="en-AU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297BA0-DDF1-9BA8-566E-DB3C3B68F1F4}"/>
              </a:ext>
            </a:extLst>
          </p:cNvPr>
          <p:cNvCxnSpPr>
            <a:stCxn id="6" idx="1"/>
          </p:cNvCxnSpPr>
          <p:nvPr/>
        </p:nvCxnSpPr>
        <p:spPr>
          <a:xfrm flipH="1">
            <a:off x="7442200" y="2606644"/>
            <a:ext cx="1041400" cy="859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1B0751-D78A-CC11-51FA-2530A93E3869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8923867" y="3928192"/>
            <a:ext cx="1241065" cy="85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12F13B-DF60-E594-4DB7-A7C79E31CEF9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9203267" y="5156200"/>
            <a:ext cx="649675" cy="411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704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0D4DF-E160-5827-98FB-765726F6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33FE0-D2E1-4A31-7468-9658914FA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BC38D-AC37-1710-8F80-618156F8B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C4982-0F78-BB1A-6EB8-8A3709BBA781}"/>
              </a:ext>
            </a:extLst>
          </p:cNvPr>
          <p:cNvSpPr txBox="1"/>
          <p:nvPr/>
        </p:nvSpPr>
        <p:spPr>
          <a:xfrm>
            <a:off x="821265" y="1558983"/>
            <a:ext cx="398780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The for-loop is shorter and simpler. </a:t>
            </a:r>
            <a:br>
              <a:rPr lang="en-CA" dirty="0"/>
            </a:br>
            <a:r>
              <a:rPr lang="en-CA" dirty="0"/>
              <a:t>The loop variable is initialized and incremented automatically.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975072-06F0-4E73-01FE-F4434C8378AD}"/>
              </a:ext>
            </a:extLst>
          </p:cNvPr>
          <p:cNvSpPr txBox="1"/>
          <p:nvPr/>
        </p:nvSpPr>
        <p:spPr>
          <a:xfrm>
            <a:off x="268648" y="2611597"/>
            <a:ext cx="55082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for i in range(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step</a:t>
            </a:r>
            <a:r>
              <a:rPr lang="en-US" sz="2800" dirty="0">
                <a:latin typeface="Consolas" panose="020B0609020204030204" pitchFamily="49" charset="0"/>
              </a:rPr>
              <a:t>):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B6119D-5D69-035A-9B90-D566D1C30ED3}"/>
              </a:ext>
            </a:extLst>
          </p:cNvPr>
          <p:cNvSpPr txBox="1"/>
          <p:nvPr/>
        </p:nvSpPr>
        <p:spPr>
          <a:xfrm>
            <a:off x="6739466" y="2546955"/>
            <a:ext cx="333937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i =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i &lt;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i +=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step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221215A4-44CF-CE78-A95F-E620638585DC}"/>
              </a:ext>
            </a:extLst>
          </p:cNvPr>
          <p:cNvSpPr/>
          <p:nvPr/>
        </p:nvSpPr>
        <p:spPr>
          <a:xfrm>
            <a:off x="5379841" y="3282070"/>
            <a:ext cx="1236134" cy="5672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5CE64-8C6A-FD18-753E-7DA0B4C18575}"/>
              </a:ext>
            </a:extLst>
          </p:cNvPr>
          <p:cNvSpPr txBox="1"/>
          <p:nvPr/>
        </p:nvSpPr>
        <p:spPr>
          <a:xfrm>
            <a:off x="6415253" y="1529556"/>
            <a:ext cx="427814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The while-loop is a little more involved. </a:t>
            </a:r>
            <a:br>
              <a:rPr lang="en-CA" dirty="0"/>
            </a:br>
            <a:r>
              <a:rPr lang="en-CA" dirty="0"/>
              <a:t>The loop variable must be initialized and incremented by the programmer.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FDC11D-8170-8D79-62C7-35459FFC25C1}"/>
              </a:ext>
            </a:extLst>
          </p:cNvPr>
          <p:cNvSpPr txBox="1"/>
          <p:nvPr/>
        </p:nvSpPr>
        <p:spPr>
          <a:xfrm>
            <a:off x="6739466" y="4482430"/>
            <a:ext cx="3953934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The while loop is more general-purpose than the ranged for-loop.</a:t>
            </a:r>
            <a:br>
              <a:rPr lang="en-CA" b="1" dirty="0"/>
            </a:br>
            <a:r>
              <a:rPr lang="en-CA" dirty="0"/>
              <a:t>You can code any kind of loop with a while-loop, e.g. loops where you don’t know ahead of time how many times they’ll loop.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09845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9077C-5C24-8AA6-FAA2-BF808A66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4F29C-D284-C199-59E6-C9EF1A125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While-loops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7BC55-34AB-5FB4-4EC1-C11136A0E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8955B3-EE17-C5C8-2FB5-D5F474F6A40B}"/>
              </a:ext>
            </a:extLst>
          </p:cNvPr>
          <p:cNvSpPr txBox="1"/>
          <p:nvPr/>
        </p:nvSpPr>
        <p:spPr>
          <a:xfrm>
            <a:off x="821265" y="1558983"/>
            <a:ext cx="398780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The for-loop is shorter and simpler. </a:t>
            </a:r>
            <a:br>
              <a:rPr lang="en-CA" dirty="0"/>
            </a:br>
            <a:r>
              <a:rPr lang="en-CA" dirty="0"/>
              <a:t>The loop variable is initialized and incremented automatically.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862FE1-CEB5-B22C-194A-58973202A50C}"/>
              </a:ext>
            </a:extLst>
          </p:cNvPr>
          <p:cNvSpPr txBox="1"/>
          <p:nvPr/>
        </p:nvSpPr>
        <p:spPr>
          <a:xfrm>
            <a:off x="268648" y="2611597"/>
            <a:ext cx="55082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for i in range(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sz="2800" dirty="0"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step</a:t>
            </a:r>
            <a:r>
              <a:rPr lang="en-US" sz="2800" dirty="0">
                <a:latin typeface="Consolas" panose="020B0609020204030204" pitchFamily="49" charset="0"/>
              </a:rPr>
              <a:t>):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6FA9CA-58D4-E12B-38B5-47219EA052BC}"/>
              </a:ext>
            </a:extLst>
          </p:cNvPr>
          <p:cNvSpPr txBox="1"/>
          <p:nvPr/>
        </p:nvSpPr>
        <p:spPr>
          <a:xfrm>
            <a:off x="6739466" y="2546955"/>
            <a:ext cx="333937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i =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while i &lt;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b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print(i + 1)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i +=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step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1E4DF829-68E1-A945-EC2D-6569C87F08CB}"/>
              </a:ext>
            </a:extLst>
          </p:cNvPr>
          <p:cNvSpPr/>
          <p:nvPr/>
        </p:nvSpPr>
        <p:spPr>
          <a:xfrm>
            <a:off x="5379841" y="3282070"/>
            <a:ext cx="1236134" cy="5672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30882-8E30-5400-389E-368B2B8600A3}"/>
              </a:ext>
            </a:extLst>
          </p:cNvPr>
          <p:cNvSpPr txBox="1"/>
          <p:nvPr/>
        </p:nvSpPr>
        <p:spPr>
          <a:xfrm>
            <a:off x="6415253" y="1529556"/>
            <a:ext cx="427814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The while-loop is a little more involved. </a:t>
            </a:r>
            <a:br>
              <a:rPr lang="en-CA" dirty="0"/>
            </a:br>
            <a:r>
              <a:rPr lang="en-CA" dirty="0"/>
              <a:t>The loop variable must be initialized and incremented by the programmer.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F89DA7-1965-A601-F1DC-5B021719E2D8}"/>
              </a:ext>
            </a:extLst>
          </p:cNvPr>
          <p:cNvSpPr txBox="1"/>
          <p:nvPr/>
        </p:nvSpPr>
        <p:spPr>
          <a:xfrm>
            <a:off x="6739466" y="4482430"/>
            <a:ext cx="3953934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The while loop is more general-purpose than the ranged for-loop.</a:t>
            </a:r>
            <a:br>
              <a:rPr lang="en-CA" b="1" dirty="0"/>
            </a:br>
            <a:r>
              <a:rPr lang="en-CA" dirty="0"/>
              <a:t>You can code any kind of loop with a while-loop, e.g. loops where you don’t know ahead of time how many times they’ll loop.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FC3F0-6035-89BB-73A5-6565F497EF82}"/>
              </a:ext>
            </a:extLst>
          </p:cNvPr>
          <p:cNvSpPr txBox="1"/>
          <p:nvPr/>
        </p:nvSpPr>
        <p:spPr>
          <a:xfrm>
            <a:off x="1032933" y="4647745"/>
            <a:ext cx="405305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Rule of Thumb</a:t>
            </a:r>
            <a:br>
              <a:rPr lang="en-CA" b="1" dirty="0"/>
            </a:br>
            <a:r>
              <a:rPr lang="en-CA" dirty="0"/>
              <a:t>Use ranged for-loops when you know ahead of time how many times the loop runs. Otherwise, use a while-loop.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45005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4626A-2476-32DB-4D3B-BD0A0DD38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880E8-C565-2136-3375-BA9E38CF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BB909-5068-029B-A2DF-80570FD9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B7CE7-E9D3-4A00-A213-D9FEB1575027}"/>
              </a:ext>
            </a:extLst>
          </p:cNvPr>
          <p:cNvSpPr txBox="1"/>
          <p:nvPr/>
        </p:nvSpPr>
        <p:spPr>
          <a:xfrm>
            <a:off x="1027405" y="1647662"/>
            <a:ext cx="303760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Python lets you loop over the characters of a string …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57887-74B0-44D8-AA29-B33C4C7D50D7}"/>
              </a:ext>
            </a:extLst>
          </p:cNvPr>
          <p:cNvSpPr txBox="1"/>
          <p:nvPr/>
        </p:nvSpPr>
        <p:spPr>
          <a:xfrm>
            <a:off x="692315" y="2474893"/>
            <a:ext cx="471956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letter in 'hello!':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print(letter)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D4A7BA-9514-7E18-7EA5-1C0DF171FCC4}"/>
              </a:ext>
            </a:extLst>
          </p:cNvPr>
          <p:cNvSpPr txBox="1"/>
          <p:nvPr/>
        </p:nvSpPr>
        <p:spPr>
          <a:xfrm>
            <a:off x="8272733" y="2293993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845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86006-7AD5-9526-E853-CE4CE824D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F5B63-270B-BD35-21D3-9850D7A5C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D70D3-3609-6F41-60F5-3B95C9AF0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23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7C446-6B2D-2E75-5509-E4558C644F23}"/>
              </a:ext>
            </a:extLst>
          </p:cNvPr>
          <p:cNvSpPr txBox="1"/>
          <p:nvPr/>
        </p:nvSpPr>
        <p:spPr>
          <a:xfrm>
            <a:off x="692315" y="2474893"/>
            <a:ext cx="471956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letter in 'hello!':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print(letter)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8F8C7F-72E0-EFFC-863B-B8482C45DF37}"/>
              </a:ext>
            </a:extLst>
          </p:cNvPr>
          <p:cNvSpPr txBox="1"/>
          <p:nvPr/>
        </p:nvSpPr>
        <p:spPr>
          <a:xfrm>
            <a:off x="6780125" y="1964602"/>
            <a:ext cx="38183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h</a:t>
            </a:r>
          </a:p>
          <a:p>
            <a:r>
              <a:rPr lang="en-AU" sz="2800" dirty="0">
                <a:latin typeface="Consolas" panose="020B0609020204030204" pitchFamily="49" charset="0"/>
              </a:rPr>
              <a:t>e</a:t>
            </a:r>
          </a:p>
          <a:p>
            <a:r>
              <a:rPr lang="en-AU" sz="2800" dirty="0">
                <a:latin typeface="Consolas" panose="020B0609020204030204" pitchFamily="49" charset="0"/>
              </a:rPr>
              <a:t>l</a:t>
            </a:r>
          </a:p>
          <a:p>
            <a:r>
              <a:rPr lang="en-AU" sz="2800" dirty="0">
                <a:latin typeface="Consolas" panose="020B0609020204030204" pitchFamily="49" charset="0"/>
              </a:rPr>
              <a:t>l</a:t>
            </a:r>
          </a:p>
          <a:p>
            <a:r>
              <a:rPr lang="en-AU" sz="2800" dirty="0">
                <a:latin typeface="Consolas" panose="020B0609020204030204" pitchFamily="49" charset="0"/>
              </a:rPr>
              <a:t>o</a:t>
            </a:r>
          </a:p>
          <a:p>
            <a:r>
              <a:rPr lang="en-AU" sz="2800" dirty="0">
                <a:latin typeface="Consolas" panose="020B0609020204030204" pitchFamily="49" charset="0"/>
              </a:rPr>
              <a:t>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728A71-2FB4-205B-428A-2E7E351374AC}"/>
              </a:ext>
            </a:extLst>
          </p:cNvPr>
          <p:cNvSpPr txBox="1"/>
          <p:nvPr/>
        </p:nvSpPr>
        <p:spPr>
          <a:xfrm>
            <a:off x="1027405" y="1647662"/>
            <a:ext cx="303760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Python lets you loop over the characters of a string …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5977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35BFE-8381-89F0-CB3E-F1255D3E3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E6E44-B82E-D7CA-0856-EF3420FD5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E41A3-1101-3379-FB54-47D38ECB7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24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7DBFDA-E9B1-3AAE-B122-D4423B777687}"/>
              </a:ext>
            </a:extLst>
          </p:cNvPr>
          <p:cNvSpPr txBox="1"/>
          <p:nvPr/>
        </p:nvSpPr>
        <p:spPr>
          <a:xfrm>
            <a:off x="692315" y="2474893"/>
            <a:ext cx="53110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letter in 'hello!':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print(letter, end='-')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EB87F0-1EA1-5CB2-580A-C3D91B8A8C5A}"/>
              </a:ext>
            </a:extLst>
          </p:cNvPr>
          <p:cNvSpPr txBox="1"/>
          <p:nvPr/>
        </p:nvSpPr>
        <p:spPr>
          <a:xfrm>
            <a:off x="1027405" y="1647662"/>
            <a:ext cx="303760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Python lets you loop over the characters of a string …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66E63-81BF-7BE1-976D-16DA530A55F8}"/>
              </a:ext>
            </a:extLst>
          </p:cNvPr>
          <p:cNvSpPr txBox="1"/>
          <p:nvPr/>
        </p:nvSpPr>
        <p:spPr>
          <a:xfrm>
            <a:off x="8272733" y="2293993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314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E262C-DA3A-905B-031D-920140C08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E1182-34A7-688C-8748-EFC749634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3919C-7BF7-471F-28E7-19085BB2F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25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380316-5940-1D49-E2C2-2459BD078F79}"/>
              </a:ext>
            </a:extLst>
          </p:cNvPr>
          <p:cNvSpPr txBox="1"/>
          <p:nvPr/>
        </p:nvSpPr>
        <p:spPr>
          <a:xfrm>
            <a:off x="692315" y="2474893"/>
            <a:ext cx="53110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for letter in 'hello!':</a:t>
            </a:r>
          </a:p>
          <a:p>
            <a:r>
              <a:rPr lang="en-CA" sz="2800" dirty="0">
                <a:latin typeface="Consolas" panose="020B0609020204030204" pitchFamily="49" charset="0"/>
              </a:rPr>
              <a:t>    print(letter, end='-')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CEA971-BE46-F7C5-3FF3-F3AF603E9A55}"/>
              </a:ext>
            </a:extLst>
          </p:cNvPr>
          <p:cNvSpPr txBox="1"/>
          <p:nvPr/>
        </p:nvSpPr>
        <p:spPr>
          <a:xfrm>
            <a:off x="7335251" y="2690336"/>
            <a:ext cx="2550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h-e-l-l-o-!-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381C23-5F9C-747B-D46A-1B60D8043991}"/>
              </a:ext>
            </a:extLst>
          </p:cNvPr>
          <p:cNvSpPr txBox="1"/>
          <p:nvPr/>
        </p:nvSpPr>
        <p:spPr>
          <a:xfrm>
            <a:off x="1027405" y="1647662"/>
            <a:ext cx="303760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Python lets you loop over the characters of a string …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5128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45ED9-C33E-F983-0780-54C8C784C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DD827-86EF-356F-F0F3-76102228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4949C-8EBF-8924-EB18-D1F29806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26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C634E-2821-6A6E-BBD0-1B332EF06B85}"/>
              </a:ext>
            </a:extLst>
          </p:cNvPr>
          <p:cNvSpPr txBox="1"/>
          <p:nvPr/>
        </p:nvSpPr>
        <p:spPr>
          <a:xfrm>
            <a:off x="692315" y="2474893"/>
            <a:ext cx="688842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 = 'hello!'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if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'lo' in s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print('contains "lo"') 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if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elo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 in s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print('contains "</a:t>
            </a:r>
            <a:r>
              <a:rPr lang="en-US" sz="2800" dirty="0" err="1">
                <a:latin typeface="Consolas" panose="020B0609020204030204" pitchFamily="49" charset="0"/>
              </a:rPr>
              <a:t>elo</a:t>
            </a:r>
            <a:r>
              <a:rPr lang="en-US" sz="2800" dirty="0">
                <a:latin typeface="Consolas" panose="020B0609020204030204" pitchFamily="49" charset="0"/>
              </a:rPr>
              <a:t>"')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if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'?' not in s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print('does not contain "?"')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C5FA2D-4C0D-B277-ABEB-92D2BB8F4A48}"/>
              </a:ext>
            </a:extLst>
          </p:cNvPr>
          <p:cNvSpPr txBox="1"/>
          <p:nvPr/>
        </p:nvSpPr>
        <p:spPr>
          <a:xfrm>
            <a:off x="3641209" y="1682168"/>
            <a:ext cx="303760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</a:t>
            </a:r>
            <a:r>
              <a:rPr lang="en-CA" b="1" dirty="0">
                <a:latin typeface="Consolas" panose="020B0609020204030204" pitchFamily="49" charset="0"/>
              </a:rPr>
              <a:t>in</a:t>
            </a:r>
            <a:r>
              <a:rPr lang="en-CA" dirty="0"/>
              <a:t> operator tests if a string appears in another string as a </a:t>
            </a:r>
            <a:r>
              <a:rPr lang="en-CA" b="1" dirty="0"/>
              <a:t>substring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8C9D98-35CD-552E-7DC5-E34699CC7F8E}"/>
              </a:ext>
            </a:extLst>
          </p:cNvPr>
          <p:cNvSpPr txBox="1"/>
          <p:nvPr/>
        </p:nvSpPr>
        <p:spPr>
          <a:xfrm>
            <a:off x="8721307" y="2921168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930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C4829-5866-CC7F-AB72-3FD551DFC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C96E7-D898-151A-36D4-9B83A20D4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46D19-F255-1490-3EC2-3AF42C65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27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6251F9-DD3A-76B2-DB86-118B0AFEC53A}"/>
              </a:ext>
            </a:extLst>
          </p:cNvPr>
          <p:cNvSpPr txBox="1"/>
          <p:nvPr/>
        </p:nvSpPr>
        <p:spPr>
          <a:xfrm>
            <a:off x="692315" y="2474893"/>
            <a:ext cx="688842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 = 'hello!'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if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'lo' in s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print('contains "lo"') 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if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elo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 in s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print('contains "</a:t>
            </a:r>
            <a:r>
              <a:rPr lang="en-US" sz="2800" dirty="0" err="1">
                <a:latin typeface="Consolas" panose="020B0609020204030204" pitchFamily="49" charset="0"/>
              </a:rPr>
              <a:t>elo</a:t>
            </a:r>
            <a:r>
              <a:rPr lang="en-US" sz="2800" dirty="0">
                <a:latin typeface="Consolas" panose="020B0609020204030204" pitchFamily="49" charset="0"/>
              </a:rPr>
              <a:t>"')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if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'?' not in s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print('does not contain "?"')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0DAC6-19AD-D7BF-E075-25722D2C0BDF}"/>
              </a:ext>
            </a:extLst>
          </p:cNvPr>
          <p:cNvSpPr txBox="1"/>
          <p:nvPr/>
        </p:nvSpPr>
        <p:spPr>
          <a:xfrm>
            <a:off x="8055155" y="3300882"/>
            <a:ext cx="35830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contains "lo"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does not contain "?"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E06168-84F9-C1D5-F6F8-6EBE97F901CA}"/>
              </a:ext>
            </a:extLst>
          </p:cNvPr>
          <p:cNvSpPr txBox="1"/>
          <p:nvPr/>
        </p:nvSpPr>
        <p:spPr>
          <a:xfrm>
            <a:off x="3641209" y="1682168"/>
            <a:ext cx="303760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</a:t>
            </a:r>
            <a:r>
              <a:rPr lang="en-CA" b="1" dirty="0">
                <a:latin typeface="Consolas" panose="020B0609020204030204" pitchFamily="49" charset="0"/>
              </a:rPr>
              <a:t>in</a:t>
            </a:r>
            <a:r>
              <a:rPr lang="en-CA" dirty="0"/>
              <a:t> operator tests if a string appears in another string as a </a:t>
            </a:r>
            <a:r>
              <a:rPr lang="en-CA" b="1" dirty="0"/>
              <a:t>substring</a:t>
            </a:r>
            <a:r>
              <a:rPr lang="en-CA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432626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61CF6-70E5-62EF-8527-BD0AC8C54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09858-0FC9-9A59-2D3D-BF3838B8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D43E7-9386-9196-D446-F91C39BE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28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7A16E-BE9A-9143-3D3D-2D1455C50038}"/>
              </a:ext>
            </a:extLst>
          </p:cNvPr>
          <p:cNvSpPr txBox="1"/>
          <p:nvPr/>
        </p:nvSpPr>
        <p:spPr>
          <a:xfrm>
            <a:off x="445461" y="3052174"/>
            <a:ext cx="66415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for letter in 'mumble':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print('this word has an "m"')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8AD7C-0FA9-5131-A14D-AD6BB03A6E1D}"/>
              </a:ext>
            </a:extLst>
          </p:cNvPr>
          <p:cNvSpPr txBox="1"/>
          <p:nvPr/>
        </p:nvSpPr>
        <p:spPr>
          <a:xfrm>
            <a:off x="2828410" y="1973255"/>
            <a:ext cx="220079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We can search for a letter in s string using a for-loop: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59329C-FD46-CECB-CA6C-D6369BA5B619}"/>
              </a:ext>
            </a:extLst>
          </p:cNvPr>
          <p:cNvSpPr txBox="1"/>
          <p:nvPr/>
        </p:nvSpPr>
        <p:spPr>
          <a:xfrm>
            <a:off x="8721307" y="2921168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186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30DAB-2A77-72E0-552D-1EFF9EC0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B153F-C0CA-8798-AB64-383BA99F5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75F2F-2F61-88F4-5333-2D6F06952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29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065B0-E8E0-8585-EEDC-8DE5A61DCB91}"/>
              </a:ext>
            </a:extLst>
          </p:cNvPr>
          <p:cNvSpPr txBox="1"/>
          <p:nvPr/>
        </p:nvSpPr>
        <p:spPr>
          <a:xfrm>
            <a:off x="445461" y="3052174"/>
            <a:ext cx="66415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for letter in 'mumble':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print('this word has an "m"')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81EB5-0CD9-AB50-1E2A-64FFDDB5F974}"/>
              </a:ext>
            </a:extLst>
          </p:cNvPr>
          <p:cNvSpPr txBox="1"/>
          <p:nvPr/>
        </p:nvSpPr>
        <p:spPr>
          <a:xfrm>
            <a:off x="8055155" y="3300882"/>
            <a:ext cx="35830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this word has an "m"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this word has an "m"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0BA537-43A2-8C00-28EC-3D389EC015E6}"/>
              </a:ext>
            </a:extLst>
          </p:cNvPr>
          <p:cNvSpPr txBox="1"/>
          <p:nvPr/>
        </p:nvSpPr>
        <p:spPr>
          <a:xfrm>
            <a:off x="2828410" y="1973255"/>
            <a:ext cx="220079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We can search for a letter in s string using a for-loop: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73164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A774F-DB89-7264-0D83-4BACAAD4B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62DA-F434-608C-E269-A0702CC2B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05AC0-27AC-9A8C-224E-CC697D43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30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2AA7DE-00D1-7762-B57F-D2A264A02DEF}"/>
              </a:ext>
            </a:extLst>
          </p:cNvPr>
          <p:cNvSpPr txBox="1"/>
          <p:nvPr/>
        </p:nvSpPr>
        <p:spPr>
          <a:xfrm>
            <a:off x="2775219" y="2228671"/>
            <a:ext cx="66415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for letter in 'mumble':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print('this word has an "m"')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CE9A66-49C7-27C1-6733-D15438D7DAB2}"/>
              </a:ext>
            </a:extLst>
          </p:cNvPr>
          <p:cNvSpPr txBox="1"/>
          <p:nvPr/>
        </p:nvSpPr>
        <p:spPr>
          <a:xfrm>
            <a:off x="601676" y="3244733"/>
            <a:ext cx="18875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Let’s put this in a function …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35553-AABD-85FE-DBDB-1484C459FAF9}"/>
              </a:ext>
            </a:extLst>
          </p:cNvPr>
          <p:cNvSpPr txBox="1"/>
          <p:nvPr/>
        </p:nvSpPr>
        <p:spPr>
          <a:xfrm>
            <a:off x="2775219" y="4082871"/>
            <a:ext cx="7321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has_m_print</a:t>
            </a:r>
            <a:r>
              <a:rPr lang="en-US" sz="24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    print('this word has an "m"')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80A0B3E7-B934-2FB4-6596-6E75000B89A3}"/>
              </a:ext>
            </a:extLst>
          </p:cNvPr>
          <p:cNvSpPr/>
          <p:nvPr/>
        </p:nvSpPr>
        <p:spPr>
          <a:xfrm>
            <a:off x="5427133" y="3496733"/>
            <a:ext cx="397934" cy="5861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55926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43605-508B-0463-6301-DAF59199F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44ADB-EBE6-2B33-6BE4-77445D105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C69DA-4701-E46E-6841-F2570B81B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31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EE7C45-4280-5D9E-C409-74C8D4BC1E94}"/>
              </a:ext>
            </a:extLst>
          </p:cNvPr>
          <p:cNvSpPr txBox="1"/>
          <p:nvPr/>
        </p:nvSpPr>
        <p:spPr>
          <a:xfrm>
            <a:off x="2775219" y="2228671"/>
            <a:ext cx="66415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for letter in 'mumble':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print('this word has an "m"')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7A8882-D3E3-674E-68CD-8474EB7DA63F}"/>
              </a:ext>
            </a:extLst>
          </p:cNvPr>
          <p:cNvSpPr txBox="1"/>
          <p:nvPr/>
        </p:nvSpPr>
        <p:spPr>
          <a:xfrm>
            <a:off x="372534" y="4946533"/>
            <a:ext cx="250428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function is more useful if we made it a Boolean function …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79D3ED-6B75-AD46-D088-8638B268DF7B}"/>
              </a:ext>
            </a:extLst>
          </p:cNvPr>
          <p:cNvSpPr txBox="1"/>
          <p:nvPr/>
        </p:nvSpPr>
        <p:spPr>
          <a:xfrm>
            <a:off x="2775219" y="4082871"/>
            <a:ext cx="7321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has_m_print</a:t>
            </a:r>
            <a:r>
              <a:rPr lang="en-US" sz="24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    print('this word has an "m"')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A256F549-13BD-4646-9D25-0DF3E15EE1D1}"/>
              </a:ext>
            </a:extLst>
          </p:cNvPr>
          <p:cNvSpPr/>
          <p:nvPr/>
        </p:nvSpPr>
        <p:spPr>
          <a:xfrm>
            <a:off x="5427133" y="3496733"/>
            <a:ext cx="397934" cy="5861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36253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21231-216B-1F14-6817-D1DDCBFE7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481DD-2223-67E6-B9AC-E290D5B1B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FAD72-CB4B-AF22-65BA-40DEE5939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32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FF1DC-4246-518A-8136-BC562D2907A8}"/>
              </a:ext>
            </a:extLst>
          </p:cNvPr>
          <p:cNvSpPr txBox="1"/>
          <p:nvPr/>
        </p:nvSpPr>
        <p:spPr>
          <a:xfrm>
            <a:off x="169331" y="4198882"/>
            <a:ext cx="249766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Boolean function is more flexible … it doesn’t print anything.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7DAAFC-8AD4-8EEA-4DDA-B4920174E64B}"/>
              </a:ext>
            </a:extLst>
          </p:cNvPr>
          <p:cNvSpPr txBox="1"/>
          <p:nvPr/>
        </p:nvSpPr>
        <p:spPr>
          <a:xfrm>
            <a:off x="2969951" y="1529556"/>
            <a:ext cx="73212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has_m_print</a:t>
            </a:r>
            <a:r>
              <a:rPr lang="en-US" sz="24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    print('this word has an "m"')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5E3D9C-3E36-EF3D-681B-4C1A7CD1CBBF}"/>
              </a:ext>
            </a:extLst>
          </p:cNvPr>
          <p:cNvSpPr txBox="1"/>
          <p:nvPr/>
        </p:nvSpPr>
        <p:spPr>
          <a:xfrm>
            <a:off x="2969950" y="3758784"/>
            <a:ext cx="73212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has_m</a:t>
            </a:r>
            <a:r>
              <a:rPr lang="en-US" sz="24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    return True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    return False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A7DCF312-9291-8BF9-E7B9-C6905917BFA9}"/>
              </a:ext>
            </a:extLst>
          </p:cNvPr>
          <p:cNvSpPr/>
          <p:nvPr/>
        </p:nvSpPr>
        <p:spPr>
          <a:xfrm>
            <a:off x="4512733" y="3099216"/>
            <a:ext cx="397934" cy="5861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27130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AB8E0-6B8D-9F86-1861-F9B3C0C2E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2C2B2-57D4-B83A-D541-9485D7E3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F7FBE-63E7-B2C0-4714-7096ED81C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33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E37E92-F3B7-37BD-FA88-1E0ED65BEC0C}"/>
              </a:ext>
            </a:extLst>
          </p:cNvPr>
          <p:cNvSpPr txBox="1"/>
          <p:nvPr/>
        </p:nvSpPr>
        <p:spPr>
          <a:xfrm>
            <a:off x="338714" y="1735082"/>
            <a:ext cx="22690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We can re-write </a:t>
            </a:r>
            <a:r>
              <a:rPr lang="en-CA" dirty="0" err="1">
                <a:latin typeface="Consolas" panose="020B0609020204030204" pitchFamily="49" charset="0"/>
              </a:rPr>
              <a:t>has_m_print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using </a:t>
            </a:r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/>
              <a:t> …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111911-A4DA-4338-B256-2CC3B41A8F91}"/>
              </a:ext>
            </a:extLst>
          </p:cNvPr>
          <p:cNvSpPr txBox="1"/>
          <p:nvPr/>
        </p:nvSpPr>
        <p:spPr>
          <a:xfrm>
            <a:off x="3283216" y="1430450"/>
            <a:ext cx="73212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has_m</a:t>
            </a:r>
            <a:r>
              <a:rPr lang="en-US" sz="24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    return True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    return False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2B802B-332C-4F42-0FF7-475BCFAE0F05}"/>
              </a:ext>
            </a:extLst>
          </p:cNvPr>
          <p:cNvSpPr txBox="1"/>
          <p:nvPr/>
        </p:nvSpPr>
        <p:spPr>
          <a:xfrm>
            <a:off x="3901012" y="4724396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C14423-E61F-1922-C372-712C6927C8FF}"/>
              </a:ext>
            </a:extLst>
          </p:cNvPr>
          <p:cNvSpPr txBox="1"/>
          <p:nvPr/>
        </p:nvSpPr>
        <p:spPr>
          <a:xfrm>
            <a:off x="3283216" y="4262731"/>
            <a:ext cx="3922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has_m_print</a:t>
            </a:r>
            <a:r>
              <a:rPr lang="en-US" sz="2400" dirty="0">
                <a:latin typeface="Consolas" panose="020B0609020204030204" pitchFamily="49" charset="0"/>
              </a:rPr>
              <a:t>(word):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A18D1480-BD70-4C7E-D16A-F2C2EF014E22}"/>
              </a:ext>
            </a:extLst>
          </p:cNvPr>
          <p:cNvSpPr/>
          <p:nvPr/>
        </p:nvSpPr>
        <p:spPr>
          <a:xfrm>
            <a:off x="6096000" y="3488559"/>
            <a:ext cx="321733" cy="51617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00645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AAA53-FCE7-FDF5-4FFB-7ED789267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666E7-820F-3DC2-4195-75218FF69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3A2B2-1C8A-C37E-0371-FD0465C2C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34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02F04B-A947-DF5A-E287-A614B38EE3F3}"/>
              </a:ext>
            </a:extLst>
          </p:cNvPr>
          <p:cNvSpPr txBox="1"/>
          <p:nvPr/>
        </p:nvSpPr>
        <p:spPr>
          <a:xfrm>
            <a:off x="338714" y="1735082"/>
            <a:ext cx="22690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We can re-write </a:t>
            </a:r>
            <a:r>
              <a:rPr lang="en-CA" dirty="0" err="1">
                <a:latin typeface="Consolas" panose="020B0609020204030204" pitchFamily="49" charset="0"/>
              </a:rPr>
              <a:t>has_m_print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using </a:t>
            </a:r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/>
              <a:t> …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52524-A5A6-C2E4-3F53-E201C8E55D83}"/>
              </a:ext>
            </a:extLst>
          </p:cNvPr>
          <p:cNvSpPr txBox="1"/>
          <p:nvPr/>
        </p:nvSpPr>
        <p:spPr>
          <a:xfrm>
            <a:off x="3283216" y="4262731"/>
            <a:ext cx="64716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has_m_print</a:t>
            </a:r>
            <a:r>
              <a:rPr lang="en-US" sz="24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has_m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(word)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print('this word has an "m"')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F7799-B760-906A-E9F9-0E9768AF8F02}"/>
              </a:ext>
            </a:extLst>
          </p:cNvPr>
          <p:cNvSpPr txBox="1"/>
          <p:nvPr/>
        </p:nvSpPr>
        <p:spPr>
          <a:xfrm>
            <a:off x="3283216" y="1430450"/>
            <a:ext cx="73212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def </a:t>
            </a:r>
            <a:r>
              <a:rPr lang="en-US" sz="2400" dirty="0" err="1">
                <a:latin typeface="Consolas" panose="020B0609020204030204" pitchFamily="49" charset="0"/>
              </a:rPr>
              <a:t>has_m</a:t>
            </a:r>
            <a:r>
              <a:rPr lang="en-US" sz="24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if letter == 'm' or letter == 'M':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    return True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    return False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34860359-E73E-1AF2-106E-8A6C3618737C}"/>
              </a:ext>
            </a:extLst>
          </p:cNvPr>
          <p:cNvSpPr/>
          <p:nvPr/>
        </p:nvSpPr>
        <p:spPr>
          <a:xfrm>
            <a:off x="6096000" y="3488559"/>
            <a:ext cx="321733" cy="51617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83438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D9ABE-5941-63C6-5A0B-66897DEEE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4A25D-9ED9-85FC-5969-702D36801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8069D-7FA0-F327-47A6-EA216B83C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35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E5B17-BA4C-5026-B057-CBA5D95EBEA1}"/>
              </a:ext>
            </a:extLst>
          </p:cNvPr>
          <p:cNvSpPr txBox="1"/>
          <p:nvPr/>
        </p:nvSpPr>
        <p:spPr>
          <a:xfrm>
            <a:off x="4047114" y="231677"/>
            <a:ext cx="204888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can be written in a few different ways …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70111-B059-72CC-B0E4-D6B5EEAF4706}"/>
              </a:ext>
            </a:extLst>
          </p:cNvPr>
          <p:cNvSpPr txBox="1"/>
          <p:nvPr/>
        </p:nvSpPr>
        <p:spPr>
          <a:xfrm>
            <a:off x="177799" y="2031584"/>
            <a:ext cx="5503430" cy="14773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letter == 'm' or letter == 'M'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F47C4-F0DD-6CB6-EDE9-590F98045FF6}"/>
              </a:ext>
            </a:extLst>
          </p:cNvPr>
          <p:cNvSpPr txBox="1"/>
          <p:nvPr/>
        </p:nvSpPr>
        <p:spPr>
          <a:xfrm>
            <a:off x="6519333" y="416343"/>
            <a:ext cx="4363695" cy="14773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letter.lower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() == 'm'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116D67-CD6F-A15C-FEFE-BD06FFEB5027}"/>
              </a:ext>
            </a:extLst>
          </p:cNvPr>
          <p:cNvSpPr txBox="1"/>
          <p:nvPr/>
        </p:nvSpPr>
        <p:spPr>
          <a:xfrm>
            <a:off x="6510773" y="2136659"/>
            <a:ext cx="4363695" cy="14773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letter in 'mM'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093AF8-3C65-028C-9839-09B5C5E93872}"/>
              </a:ext>
            </a:extLst>
          </p:cNvPr>
          <p:cNvSpPr txBox="1"/>
          <p:nvPr/>
        </p:nvSpPr>
        <p:spPr>
          <a:xfrm>
            <a:off x="6510772" y="3897370"/>
            <a:ext cx="4363695" cy="6463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return 'm' in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word.lower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endParaRPr lang="en-AU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DDBA58-0280-4BBF-B4A5-AA0CBEF8356E}"/>
              </a:ext>
            </a:extLst>
          </p:cNvPr>
          <p:cNvSpPr txBox="1"/>
          <p:nvPr/>
        </p:nvSpPr>
        <p:spPr>
          <a:xfrm>
            <a:off x="7544246" y="5017520"/>
            <a:ext cx="274320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version is nice and short, but converting the entire word to lowercase may not be necessary.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1373BE-B27B-928B-7EF8-35003CF2CCFB}"/>
              </a:ext>
            </a:extLst>
          </p:cNvPr>
          <p:cNvSpPr txBox="1"/>
          <p:nvPr/>
        </p:nvSpPr>
        <p:spPr>
          <a:xfrm>
            <a:off x="2556956" y="4769027"/>
            <a:ext cx="4363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>
                <a:latin typeface="Consolas" panose="020B0609020204030204" pitchFamily="49" charset="0"/>
              </a:rPr>
              <a:t>('MANY PEOPLE LIKE PYTHON')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3F5D9317-D9C5-27B7-EC42-D9184F7D3450}"/>
              </a:ext>
            </a:extLst>
          </p:cNvPr>
          <p:cNvSpPr/>
          <p:nvPr/>
        </p:nvSpPr>
        <p:spPr>
          <a:xfrm rot="16200000">
            <a:off x="4909114" y="3712806"/>
            <a:ext cx="228553" cy="299188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824CD7-76AE-0D73-752B-40AEB3B3B27B}"/>
              </a:ext>
            </a:extLst>
          </p:cNvPr>
          <p:cNvSpPr txBox="1"/>
          <p:nvPr/>
        </p:nvSpPr>
        <p:spPr>
          <a:xfrm>
            <a:off x="3117569" y="5373008"/>
            <a:ext cx="339320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</a:rPr>
              <a:t>M</a:t>
            </a:r>
            <a:r>
              <a:rPr lang="en-CA" dirty="0"/>
              <a:t> is the first character of the string. No need to convert all the other letters to lower case.</a:t>
            </a:r>
            <a:endParaRPr lang="en-AU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5F443D6B-4ECB-532D-F089-20D48C7E25A7}"/>
              </a:ext>
            </a:extLst>
          </p:cNvPr>
          <p:cNvSpPr/>
          <p:nvPr/>
        </p:nvSpPr>
        <p:spPr>
          <a:xfrm rot="10800000">
            <a:off x="6976956" y="5477647"/>
            <a:ext cx="364066" cy="2785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6AB6A7-6B9A-8838-F300-2306A0449B92}"/>
              </a:ext>
            </a:extLst>
          </p:cNvPr>
          <p:cNvSpPr txBox="1"/>
          <p:nvPr/>
        </p:nvSpPr>
        <p:spPr>
          <a:xfrm>
            <a:off x="6920651" y="5152203"/>
            <a:ext cx="543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e.g.</a:t>
            </a:r>
            <a:endParaRPr lang="en-AU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2ADE662-A66F-D281-0F4C-8E750392AFE0}"/>
              </a:ext>
            </a:extLst>
          </p:cNvPr>
          <p:cNvSpPr/>
          <p:nvPr/>
        </p:nvSpPr>
        <p:spPr>
          <a:xfrm rot="16200000">
            <a:off x="8658416" y="4641341"/>
            <a:ext cx="364066" cy="2785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88C1D-F3E5-FD2F-F7CD-30883642F284}"/>
              </a:ext>
            </a:extLst>
          </p:cNvPr>
          <p:cNvSpPr txBox="1"/>
          <p:nvPr/>
        </p:nvSpPr>
        <p:spPr>
          <a:xfrm>
            <a:off x="157567" y="1670719"/>
            <a:ext cx="308098" cy="369332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1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4D4C3-6D53-6E7F-AA84-28DEB98BE84A}"/>
              </a:ext>
            </a:extLst>
          </p:cNvPr>
          <p:cNvSpPr txBox="1"/>
          <p:nvPr/>
        </p:nvSpPr>
        <p:spPr>
          <a:xfrm>
            <a:off x="6222823" y="402499"/>
            <a:ext cx="308098" cy="369332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2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A5D173-8047-BC65-C524-3B2DB27ACCB6}"/>
              </a:ext>
            </a:extLst>
          </p:cNvPr>
          <p:cNvSpPr txBox="1"/>
          <p:nvPr/>
        </p:nvSpPr>
        <p:spPr>
          <a:xfrm>
            <a:off x="6222823" y="2136659"/>
            <a:ext cx="308098" cy="369332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3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0EABD3-A674-E6B1-C327-CF8900625BD4}"/>
              </a:ext>
            </a:extLst>
          </p:cNvPr>
          <p:cNvSpPr txBox="1"/>
          <p:nvPr/>
        </p:nvSpPr>
        <p:spPr>
          <a:xfrm>
            <a:off x="6211235" y="3897370"/>
            <a:ext cx="308098" cy="369332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4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6675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16F96-AE33-6B0E-B340-DFCC4C6B0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F688-F5EF-A67E-93AB-67EC095B1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D5145-1D16-9A51-6E8A-5464B8E22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36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037023-74C5-979E-057A-898BE45EEF1A}"/>
              </a:ext>
            </a:extLst>
          </p:cNvPr>
          <p:cNvSpPr txBox="1"/>
          <p:nvPr/>
        </p:nvSpPr>
        <p:spPr>
          <a:xfrm>
            <a:off x="4047114" y="231677"/>
            <a:ext cx="204888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can be written in a few different ways …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80D0F-1ED9-2F1E-DE5B-CA1169970FF2}"/>
              </a:ext>
            </a:extLst>
          </p:cNvPr>
          <p:cNvSpPr txBox="1"/>
          <p:nvPr/>
        </p:nvSpPr>
        <p:spPr>
          <a:xfrm>
            <a:off x="177799" y="2031584"/>
            <a:ext cx="5503430" cy="14773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letter == 'm' or letter == 'M'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BF65C-FCE1-6EF9-F6E8-851CBB940DAC}"/>
              </a:ext>
            </a:extLst>
          </p:cNvPr>
          <p:cNvSpPr txBox="1"/>
          <p:nvPr/>
        </p:nvSpPr>
        <p:spPr>
          <a:xfrm>
            <a:off x="6519333" y="416343"/>
            <a:ext cx="4363695" cy="14773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letter.lower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() == 'm'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6331BA-2618-7CBF-ED65-298C2459A5A7}"/>
              </a:ext>
            </a:extLst>
          </p:cNvPr>
          <p:cNvSpPr txBox="1"/>
          <p:nvPr/>
        </p:nvSpPr>
        <p:spPr>
          <a:xfrm>
            <a:off x="6510773" y="2136659"/>
            <a:ext cx="4363695" cy="14773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letter in 'mM'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66A282-DCF5-6C58-8FFD-C7FBF64DE128}"/>
              </a:ext>
            </a:extLst>
          </p:cNvPr>
          <p:cNvSpPr txBox="1"/>
          <p:nvPr/>
        </p:nvSpPr>
        <p:spPr>
          <a:xfrm>
            <a:off x="6510772" y="3897370"/>
            <a:ext cx="4363695" cy="6463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return 'm' in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word.lower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endParaRPr lang="en-AU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8CE8ED-02FE-697A-96F6-1A9A53DFA619}"/>
              </a:ext>
            </a:extLst>
          </p:cNvPr>
          <p:cNvSpPr txBox="1"/>
          <p:nvPr/>
        </p:nvSpPr>
        <p:spPr>
          <a:xfrm>
            <a:off x="625843" y="3751022"/>
            <a:ext cx="298022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</a:t>
            </a:r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/>
              <a:t> function is an example of a </a:t>
            </a:r>
            <a:r>
              <a:rPr lang="en-CA" b="1" dirty="0"/>
              <a:t>pure function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87726D-0277-5095-0691-5C32A652DD5C}"/>
              </a:ext>
            </a:extLst>
          </p:cNvPr>
          <p:cNvSpPr txBox="1"/>
          <p:nvPr/>
        </p:nvSpPr>
        <p:spPr>
          <a:xfrm>
            <a:off x="601180" y="4899681"/>
            <a:ext cx="3445933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pure function </a:t>
            </a:r>
            <a:r>
              <a:rPr lang="en-CA" dirty="0"/>
              <a:t>is a function whose output only depends upon its input, and </a:t>
            </a:r>
            <a:r>
              <a:rPr lang="en-CA" b="1" dirty="0"/>
              <a:t>doesn’t</a:t>
            </a:r>
            <a:r>
              <a:rPr lang="en-CA" dirty="0"/>
              <a:t> have any side-effects like printing, reading/writing a file, …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F4B539-4DD0-2F94-C5D1-EC9D32FE3C37}"/>
              </a:ext>
            </a:extLst>
          </p:cNvPr>
          <p:cNvSpPr txBox="1"/>
          <p:nvPr/>
        </p:nvSpPr>
        <p:spPr>
          <a:xfrm>
            <a:off x="4753688" y="4899681"/>
            <a:ext cx="3531289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All functions in math are pure!</a:t>
            </a:r>
            <a:br>
              <a:rPr lang="en-CA" dirty="0"/>
            </a:br>
            <a:r>
              <a:rPr lang="en-CA" dirty="0"/>
              <a:t>In general, it is good to make functions pure if possible. Pure functions  tend to be easier to use and reason about.</a:t>
            </a:r>
            <a:endParaRPr lang="en-AU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822C9E7-8CDB-2D52-F214-D387B2718CE9}"/>
              </a:ext>
            </a:extLst>
          </p:cNvPr>
          <p:cNvSpPr/>
          <p:nvPr/>
        </p:nvSpPr>
        <p:spPr>
          <a:xfrm rot="5400000">
            <a:off x="1955086" y="4556545"/>
            <a:ext cx="321733" cy="2599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DB9E9B7-ECC5-D5F8-DE02-841F20196FBA}"/>
              </a:ext>
            </a:extLst>
          </p:cNvPr>
          <p:cNvSpPr/>
          <p:nvPr/>
        </p:nvSpPr>
        <p:spPr>
          <a:xfrm>
            <a:off x="4267198" y="5508371"/>
            <a:ext cx="321733" cy="2599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70051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5E3C3-CC29-3B40-2068-2F5BA3522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EAC3E-D917-ABF2-1CA3-15537CC6F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7B678-1812-24A8-739E-7A703121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37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852F0-BCBD-D5D3-75D5-90E0024878D5}"/>
              </a:ext>
            </a:extLst>
          </p:cNvPr>
          <p:cNvSpPr txBox="1"/>
          <p:nvPr/>
        </p:nvSpPr>
        <p:spPr>
          <a:xfrm>
            <a:off x="4999590" y="541824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Here is an example of a </a:t>
            </a:r>
            <a:r>
              <a:rPr lang="en-CA" b="1" dirty="0"/>
              <a:t>wrong</a:t>
            </a:r>
            <a:r>
              <a:rPr lang="en-CA" dirty="0"/>
              <a:t> way to write </a:t>
            </a:r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/>
              <a:t> …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1C209-5D22-0AE8-7432-32EBE4162219}"/>
              </a:ext>
            </a:extLst>
          </p:cNvPr>
          <p:cNvSpPr txBox="1"/>
          <p:nvPr/>
        </p:nvSpPr>
        <p:spPr>
          <a:xfrm>
            <a:off x="3979333" y="2082384"/>
            <a:ext cx="4363694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b="1" dirty="0" err="1">
                <a:latin typeface="Consolas" panose="020B0609020204030204" pitchFamily="49" charset="0"/>
              </a:rPr>
              <a:t>bad_has_m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 err="1">
                <a:latin typeface="Consolas" panose="020B0609020204030204" pitchFamily="49" charset="0"/>
              </a:rPr>
              <a:t>letter.lower</a:t>
            </a:r>
            <a:r>
              <a:rPr lang="en-US" dirty="0">
                <a:latin typeface="Consolas" panose="020B0609020204030204" pitchFamily="49" charset="0"/>
              </a:rPr>
              <a:t>() == 'm':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</a:p>
          <a:p>
            <a:r>
              <a:rPr lang="en-US" dirty="0">
                <a:latin typeface="Consolas" panose="020B0609020204030204" pitchFamily="49" charset="0"/>
              </a:rPr>
              <a:t>        else: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B2C2B9-FCEF-75EC-3EF9-BEDF46F0EFEB}"/>
              </a:ext>
            </a:extLst>
          </p:cNvPr>
          <p:cNvSpPr txBox="1"/>
          <p:nvPr/>
        </p:nvSpPr>
        <p:spPr>
          <a:xfrm>
            <a:off x="8638562" y="2209968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4954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387D8-EB1F-7CD0-B7FE-DBA0FF396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589C-DD42-3F6C-6279-0CBC7818C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95592-872A-3BC5-18C5-C72C18371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38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A0E88E-B040-9A3F-7569-57D554DB8BF4}"/>
              </a:ext>
            </a:extLst>
          </p:cNvPr>
          <p:cNvSpPr txBox="1"/>
          <p:nvPr/>
        </p:nvSpPr>
        <p:spPr>
          <a:xfrm>
            <a:off x="4999590" y="541824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Here is an example of a </a:t>
            </a:r>
            <a:r>
              <a:rPr lang="en-CA" b="1" dirty="0"/>
              <a:t>wrong</a:t>
            </a:r>
            <a:r>
              <a:rPr lang="en-CA" dirty="0"/>
              <a:t> way to write </a:t>
            </a:r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/>
              <a:t> …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2C0C8-821C-BD1C-874C-5E21672E62AB}"/>
              </a:ext>
            </a:extLst>
          </p:cNvPr>
          <p:cNvSpPr txBox="1"/>
          <p:nvPr/>
        </p:nvSpPr>
        <p:spPr>
          <a:xfrm>
            <a:off x="3979333" y="2082384"/>
            <a:ext cx="4363694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b="1" dirty="0" err="1">
                <a:latin typeface="Consolas" panose="020B0609020204030204" pitchFamily="49" charset="0"/>
              </a:rPr>
              <a:t>bad_has_m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</a:t>
            </a:r>
            <a:r>
              <a:rPr lang="en-US" dirty="0" err="1">
                <a:latin typeface="Consolas" panose="020B0609020204030204" pitchFamily="49" charset="0"/>
              </a:rPr>
              <a:t>letter.lower</a:t>
            </a:r>
            <a:r>
              <a:rPr lang="en-US" dirty="0">
                <a:latin typeface="Consolas" panose="020B0609020204030204" pitchFamily="49" charset="0"/>
              </a:rPr>
              <a:t>() == 'm':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True</a:t>
            </a:r>
          </a:p>
          <a:p>
            <a:r>
              <a:rPr lang="en-US" dirty="0">
                <a:latin typeface="Consolas" panose="020B0609020204030204" pitchFamily="49" charset="0"/>
              </a:rPr>
              <a:t>        else: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False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2B690C7-2EE4-29EA-EBF7-1CE549EF58FB}"/>
              </a:ext>
            </a:extLst>
          </p:cNvPr>
          <p:cNvSpPr/>
          <p:nvPr/>
        </p:nvSpPr>
        <p:spPr>
          <a:xfrm>
            <a:off x="4999590" y="3251199"/>
            <a:ext cx="2192819" cy="58551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252DFB-4B6F-A24C-7DD6-09F928C95964}"/>
              </a:ext>
            </a:extLst>
          </p:cNvPr>
          <p:cNvSpPr txBox="1"/>
          <p:nvPr/>
        </p:nvSpPr>
        <p:spPr>
          <a:xfrm>
            <a:off x="7680098" y="3251199"/>
            <a:ext cx="247647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Error!</a:t>
            </a:r>
            <a:br>
              <a:rPr lang="en-CA" dirty="0"/>
            </a:br>
            <a:r>
              <a:rPr lang="en-CA" dirty="0"/>
              <a:t>Putting the </a:t>
            </a:r>
            <a:r>
              <a:rPr lang="en-CA" dirty="0">
                <a:latin typeface="Consolas" panose="020B0609020204030204" pitchFamily="49" charset="0"/>
              </a:rPr>
              <a:t>else</a:t>
            </a:r>
            <a:r>
              <a:rPr lang="en-CA" dirty="0"/>
              <a:t> here causes the function to exit after checking just the first character.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96506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7067-7BD3-3C0E-38D6-5F0F26E92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6FD8-50CD-E49C-5478-68BB5E597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F48EC-B795-4395-AB9E-BE6D6C51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39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7C9955-0993-4F5F-BB94-585AE76A7E2F}"/>
              </a:ext>
            </a:extLst>
          </p:cNvPr>
          <p:cNvSpPr txBox="1"/>
          <p:nvPr/>
        </p:nvSpPr>
        <p:spPr>
          <a:xfrm>
            <a:off x="4999590" y="541824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Here is an example of a </a:t>
            </a:r>
            <a:r>
              <a:rPr lang="en-CA" b="1" dirty="0"/>
              <a:t>wrong</a:t>
            </a:r>
            <a:r>
              <a:rPr lang="en-CA" dirty="0"/>
              <a:t> way to write </a:t>
            </a:r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/>
              <a:t> …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0F348-3D07-C9AD-5AE6-4C2CE540B599}"/>
              </a:ext>
            </a:extLst>
          </p:cNvPr>
          <p:cNvSpPr txBox="1"/>
          <p:nvPr/>
        </p:nvSpPr>
        <p:spPr>
          <a:xfrm>
            <a:off x="3979332" y="2082384"/>
            <a:ext cx="5037667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b="1" dirty="0" err="1">
                <a:latin typeface="Consolas" panose="020B0609020204030204" pitchFamily="49" charset="0"/>
              </a:rPr>
              <a:t>another_bad_has_m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</a:t>
            </a:r>
            <a:r>
              <a:rPr lang="en-US" dirty="0" err="1">
                <a:latin typeface="Consolas" panose="020B0609020204030204" pitchFamily="49" charset="0"/>
              </a:rPr>
              <a:t>letter.lower</a:t>
            </a:r>
            <a:r>
              <a:rPr lang="en-US" dirty="0">
                <a:latin typeface="Consolas" panose="020B0609020204030204" pitchFamily="49" charset="0"/>
              </a:rPr>
              <a:t>() == 'm'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2B391E-247E-A181-0CFB-5BD33C49B993}"/>
              </a:ext>
            </a:extLst>
          </p:cNvPr>
          <p:cNvSpPr txBox="1"/>
          <p:nvPr/>
        </p:nvSpPr>
        <p:spPr>
          <a:xfrm>
            <a:off x="8638562" y="2209968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0390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1F506-1CAE-018B-E9B9-67A29B2A3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87597-5CE5-2ED6-D52D-198947A77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Looping Over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E07E5-875D-785C-FFFF-6594844B9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40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63818-9699-0BCE-9BD5-5EA7EE36DF11}"/>
              </a:ext>
            </a:extLst>
          </p:cNvPr>
          <p:cNvSpPr txBox="1"/>
          <p:nvPr/>
        </p:nvSpPr>
        <p:spPr>
          <a:xfrm>
            <a:off x="4999590" y="541824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Here is an example of a </a:t>
            </a:r>
            <a:r>
              <a:rPr lang="en-CA" b="1" dirty="0"/>
              <a:t>wrong</a:t>
            </a:r>
            <a:r>
              <a:rPr lang="en-CA" dirty="0"/>
              <a:t> way to write </a:t>
            </a:r>
            <a:r>
              <a:rPr lang="en-CA" dirty="0" err="1">
                <a:latin typeface="Consolas" panose="020B0609020204030204" pitchFamily="49" charset="0"/>
              </a:rPr>
              <a:t>has_m</a:t>
            </a:r>
            <a:r>
              <a:rPr lang="en-CA" dirty="0"/>
              <a:t> …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11135-56E1-3583-1BC5-59CFF10FD204}"/>
              </a:ext>
            </a:extLst>
          </p:cNvPr>
          <p:cNvSpPr txBox="1"/>
          <p:nvPr/>
        </p:nvSpPr>
        <p:spPr>
          <a:xfrm>
            <a:off x="3979332" y="2082384"/>
            <a:ext cx="5037667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b="1" dirty="0" err="1">
                <a:latin typeface="Consolas" panose="020B0609020204030204" pitchFamily="49" charset="0"/>
              </a:rPr>
              <a:t>another_bad_has_m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letter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</a:t>
            </a:r>
            <a:r>
              <a:rPr lang="en-US" dirty="0" err="1">
                <a:latin typeface="Consolas" panose="020B0609020204030204" pitchFamily="49" charset="0"/>
              </a:rPr>
              <a:t>letter.lower</a:t>
            </a:r>
            <a:r>
              <a:rPr lang="en-US" dirty="0">
                <a:latin typeface="Consolas" panose="020B0609020204030204" pitchFamily="49" charset="0"/>
              </a:rPr>
              <a:t>() == 'm'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1D9312-E33D-0A7F-61B8-81E67105AD66}"/>
              </a:ext>
            </a:extLst>
          </p:cNvPr>
          <p:cNvSpPr txBox="1"/>
          <p:nvPr/>
        </p:nvSpPr>
        <p:spPr>
          <a:xfrm>
            <a:off x="8877323" y="2374959"/>
            <a:ext cx="247647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Error!</a:t>
            </a:r>
            <a:br>
              <a:rPr lang="en-CA" dirty="0"/>
            </a:br>
            <a:r>
              <a:rPr lang="en-CA" dirty="0"/>
              <a:t>This only checks the first character in the word, and then immediately returns.</a:t>
            </a:r>
            <a:endParaRPr lang="en-AU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69030B-2C6E-670F-D7AD-7A75416E83D5}"/>
              </a:ext>
            </a:extLst>
          </p:cNvPr>
          <p:cNvSpPr/>
          <p:nvPr/>
        </p:nvSpPr>
        <p:spPr>
          <a:xfrm>
            <a:off x="4999589" y="2636758"/>
            <a:ext cx="3611011" cy="3689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47771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731EF-F01E-BF1F-D61C-10CD7204A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E22D2-4AA1-32C8-529C-CA811C25E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B694B-DFF8-6DAB-75F4-B06E1E849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41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7F67E3-FAC0-3711-CC18-D7EBBEAB5FC8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8CCE517-0642-8FDA-F218-E93414E210B8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C276263-C0D7-6166-292A-9741D18F8BA4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2297B3D-7CE4-C9A4-91B0-BDB474B7883D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</p:spTree>
    <p:extLst>
      <p:ext uri="{BB962C8B-B14F-4D97-AF65-F5344CB8AC3E}">
        <p14:creationId xmlns:p14="http://schemas.microsoft.com/office/powerpoint/2010/main" val="3077098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8F0C5-DE63-74B3-63D7-FBE18060B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F377A-7D77-3E19-AAA4-5FA165785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34DE8-D270-1CE5-9832-21238193C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42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1E5478-A2A6-8697-C65A-DD687D9B62F7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D2B5822-C43F-E03B-7ADC-E76F8B5D46BE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38C74CC-F384-A4CD-0B2D-1F1CEB4C4051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D7E3CA8-4B05-6E1D-8656-D57920E8D6A6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C17B7AD-6948-89E1-07C5-75292A3B2D6B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0C4047D-F3DE-C354-198C-A89E7D756709}"/>
              </a:ext>
            </a:extLst>
          </p:cNvPr>
          <p:cNvSpPr/>
          <p:nvPr/>
        </p:nvSpPr>
        <p:spPr>
          <a:xfrm>
            <a:off x="9070181" y="2968423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514C44-EF69-F1EF-D9CC-B5BDEC69B19C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303913" cy="977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CB3667-548A-2856-9EAE-8FF7EFAA9CAB}"/>
              </a:ext>
            </a:extLst>
          </p:cNvPr>
          <p:cNvSpPr txBox="1"/>
          <p:nvPr/>
        </p:nvSpPr>
        <p:spPr>
          <a:xfrm>
            <a:off x="203478" y="3167390"/>
            <a:ext cx="6296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open('story.txt')</a:t>
            </a:r>
          </a:p>
        </p:txBody>
      </p:sp>
    </p:spTree>
    <p:extLst>
      <p:ext uri="{BB962C8B-B14F-4D97-AF65-F5344CB8AC3E}">
        <p14:creationId xmlns:p14="http://schemas.microsoft.com/office/powerpoint/2010/main" val="11951249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33170-FC8D-A14E-B50C-9FBD4E313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DFCA2-1EBB-BDA3-3806-66B65772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A06A4-79D0-BD5F-DD18-3F3AFE423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43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B10C7-DD6C-64E7-AF46-48F9D6F7E512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DF4CBC0-CE91-F0C2-62D9-EDAE22646B2C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E99E60A-86FC-1A39-66AE-F1DC646FD793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07ADDFE-9AFB-9450-7CE4-4CC755FCFFDA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6C29811-D649-9F03-6B05-68ADDEA58B2E}"/>
              </a:ext>
            </a:extLst>
          </p:cNvPr>
          <p:cNvSpPr txBox="1"/>
          <p:nvPr/>
        </p:nvSpPr>
        <p:spPr>
          <a:xfrm>
            <a:off x="203478" y="3167390"/>
            <a:ext cx="9648795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open('story.txt')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 err="1">
                <a:latin typeface="Consolas" panose="020B0609020204030204" pitchFamily="49" charset="0"/>
              </a:rPr>
              <a:t>first_line</a:t>
            </a:r>
            <a:r>
              <a:rPr lang="en-US" sz="2800" dirty="0"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first_line</a:t>
            </a:r>
            <a:r>
              <a:rPr lang="en-US" sz="2800" dirty="0">
                <a:latin typeface="Consolas" panose="020B0609020204030204" pitchFamily="49" charset="0"/>
              </a:rPr>
              <a:t>) # </a:t>
            </a:r>
            <a:r>
              <a:rPr lang="en-US" sz="2800" i="1" dirty="0">
                <a:latin typeface="Consolas" panose="020B0609020204030204" pitchFamily="49" charset="0"/>
              </a:rPr>
              <a:t>Once upon a time,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 err="1">
                <a:latin typeface="Consolas" panose="020B0609020204030204" pitchFamily="49" charset="0"/>
              </a:rPr>
              <a:t>second_line</a:t>
            </a:r>
            <a:r>
              <a:rPr lang="en-US" sz="2800" dirty="0"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second_line</a:t>
            </a:r>
            <a:r>
              <a:rPr lang="en-US" sz="2800" dirty="0">
                <a:latin typeface="Consolas" panose="020B0609020204030204" pitchFamily="49" charset="0"/>
              </a:rPr>
              <a:t>) # </a:t>
            </a:r>
            <a:r>
              <a:rPr lang="en-US" sz="2800" i="1" dirty="0">
                <a:latin typeface="Consolas" panose="020B0609020204030204" pitchFamily="49" charset="0"/>
              </a:rPr>
              <a:t>the world was full of magic</a:t>
            </a:r>
            <a:endParaRPr lang="en-AU" sz="2800" i="1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60FC80-FE7B-E1CE-0071-41C5626910E3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3FD91F2-A321-15C9-0888-452B1034CA4D}"/>
              </a:ext>
            </a:extLst>
          </p:cNvPr>
          <p:cNvSpPr/>
          <p:nvPr/>
        </p:nvSpPr>
        <p:spPr>
          <a:xfrm>
            <a:off x="9070181" y="2968423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A36749-1E34-E892-E39A-C9BCE7091CAC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303913" cy="977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5086AB1-A204-EB06-7737-E89040012A29}"/>
              </a:ext>
            </a:extLst>
          </p:cNvPr>
          <p:cNvSpPr txBox="1"/>
          <p:nvPr/>
        </p:nvSpPr>
        <p:spPr>
          <a:xfrm>
            <a:off x="8643248" y="4459354"/>
            <a:ext cx="219281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Python reads the contents of the file a line at a time using the file object.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237474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58B19-D8F7-B3CB-A755-1147291B2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8C8D8-A13E-4A99-6FD5-5E315F830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40C9E-9D74-B949-E064-60A8ECDCC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44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1BBE5-B319-C6F6-186E-B114BD65479D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FF9F40E-B7F5-700E-6E25-A9771B0AB293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0487E11-C955-1A5C-BE8D-CFDB49CE2DA8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3CEA4E2-A378-AB2D-4248-079D142AD8D5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64409EA-2074-23B6-91F5-395E5C627A62}"/>
              </a:ext>
            </a:extLst>
          </p:cNvPr>
          <p:cNvSpPr txBox="1"/>
          <p:nvPr/>
        </p:nvSpPr>
        <p:spPr>
          <a:xfrm>
            <a:off x="203478" y="3167390"/>
            <a:ext cx="9648795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open('story.txt')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 err="1">
                <a:latin typeface="Consolas" panose="020B0609020204030204" pitchFamily="49" charset="0"/>
              </a:rPr>
              <a:t>first_line</a:t>
            </a:r>
            <a:r>
              <a:rPr lang="en-US" sz="2800" dirty="0"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first_line</a:t>
            </a:r>
            <a:r>
              <a:rPr lang="en-US" sz="2800" dirty="0">
                <a:latin typeface="Consolas" panose="020B0609020204030204" pitchFamily="49" charset="0"/>
              </a:rPr>
              <a:t>) # </a:t>
            </a:r>
            <a:r>
              <a:rPr lang="en-US" sz="2800" i="1" dirty="0">
                <a:latin typeface="Consolas" panose="020B0609020204030204" pitchFamily="49" charset="0"/>
              </a:rPr>
              <a:t>Once upon a time,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 err="1">
                <a:latin typeface="Consolas" panose="020B0609020204030204" pitchFamily="49" charset="0"/>
              </a:rPr>
              <a:t>second_line</a:t>
            </a:r>
            <a:r>
              <a:rPr lang="en-US" sz="2800" dirty="0"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second_line</a:t>
            </a:r>
            <a:r>
              <a:rPr lang="en-US" sz="2800" dirty="0">
                <a:latin typeface="Consolas" panose="020B0609020204030204" pitchFamily="49" charset="0"/>
              </a:rPr>
              <a:t>) # </a:t>
            </a:r>
            <a:r>
              <a:rPr lang="en-US" sz="2800" i="1" dirty="0">
                <a:latin typeface="Consolas" panose="020B0609020204030204" pitchFamily="49" charset="0"/>
              </a:rPr>
              <a:t>the world was full of magic</a:t>
            </a:r>
            <a:endParaRPr lang="en-AU" sz="2800" i="1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3067F0-25E8-72FA-2519-B613818B3372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228578-7026-F524-AC42-E6E12CECDBC4}"/>
              </a:ext>
            </a:extLst>
          </p:cNvPr>
          <p:cNvSpPr/>
          <p:nvPr/>
        </p:nvSpPr>
        <p:spPr>
          <a:xfrm>
            <a:off x="9070181" y="2968423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891634-C45F-84BE-D625-25660475D76E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303913" cy="977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91319F6-E241-2A63-4D7E-4904D6264F93}"/>
              </a:ext>
            </a:extLst>
          </p:cNvPr>
          <p:cNvSpPr txBox="1"/>
          <p:nvPr/>
        </p:nvSpPr>
        <p:spPr>
          <a:xfrm>
            <a:off x="8939581" y="4302193"/>
            <a:ext cx="296455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Each time </a:t>
            </a:r>
            <a:r>
              <a:rPr lang="en-CA" dirty="0" err="1">
                <a:latin typeface="Consolas" panose="020B0609020204030204" pitchFamily="49" charset="0"/>
              </a:rPr>
              <a:t>file_object.readline</a:t>
            </a:r>
            <a:r>
              <a:rPr lang="en-CA" dirty="0">
                <a:latin typeface="Consolas" panose="020B0609020204030204" pitchFamily="49" charset="0"/>
              </a:rPr>
              <a:t>() </a:t>
            </a:r>
            <a:r>
              <a:rPr lang="en-CA" dirty="0"/>
              <a:t>is called it returns the next line of the file.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CEAF84-12CB-A527-262C-5A76E95D4CDF}"/>
              </a:ext>
            </a:extLst>
          </p:cNvPr>
          <p:cNvSpPr txBox="1"/>
          <p:nvPr/>
        </p:nvSpPr>
        <p:spPr>
          <a:xfrm>
            <a:off x="10774696" y="2968423"/>
            <a:ext cx="1310628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1400" dirty="0"/>
              <a:t>Example of a function that is </a:t>
            </a:r>
            <a:r>
              <a:rPr lang="en-CA" sz="1400" b="1" dirty="0"/>
              <a:t>not</a:t>
            </a:r>
            <a:r>
              <a:rPr lang="en-CA" sz="1400" dirty="0"/>
              <a:t> pure.</a:t>
            </a:r>
            <a:endParaRPr lang="en-AU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A4AE81-BF13-DB3F-AFAD-855A9A35E0CB}"/>
              </a:ext>
            </a:extLst>
          </p:cNvPr>
          <p:cNvCxnSpPr>
            <a:stCxn id="3" idx="2"/>
          </p:cNvCxnSpPr>
          <p:nvPr/>
        </p:nvCxnSpPr>
        <p:spPr>
          <a:xfrm flipH="1">
            <a:off x="11049000" y="3707087"/>
            <a:ext cx="381010" cy="932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8578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73897-36C3-68B1-EC87-3FA1FC086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04521-D476-976C-45A1-155CDFA9F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1FB5C-E289-5BA5-FD22-928492AE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45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7EBBEF-0BFF-92D1-27BD-68133F97973B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6D49BCE-2086-2407-C76D-A1F3CD74BF1E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838DE17-79CA-67F5-7734-743805622543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964F287-401E-4525-9222-FC0A805BE057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C4A0E57-30C3-8F62-95F7-84A8591E38DF}"/>
              </a:ext>
            </a:extLst>
          </p:cNvPr>
          <p:cNvSpPr txBox="1"/>
          <p:nvPr/>
        </p:nvSpPr>
        <p:spPr>
          <a:xfrm>
            <a:off x="203478" y="3167390"/>
            <a:ext cx="629691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open('story.txt')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D9A8D0-6837-A209-644B-1CC54869E2AA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A83BF50-21C2-4FFF-0EE9-02E89FC20785}"/>
              </a:ext>
            </a:extLst>
          </p:cNvPr>
          <p:cNvSpPr/>
          <p:nvPr/>
        </p:nvSpPr>
        <p:spPr>
          <a:xfrm>
            <a:off x="8939581" y="2543785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F5E453-52BE-0963-F281-9516D6B74BE9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173313" cy="55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504C9-00E6-79BE-9C1E-F61D67E40859}"/>
              </a:ext>
            </a:extLst>
          </p:cNvPr>
          <p:cNvSpPr txBox="1"/>
          <p:nvPr/>
        </p:nvSpPr>
        <p:spPr>
          <a:xfrm>
            <a:off x="6096000" y="3676331"/>
            <a:ext cx="296455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prints the entire file …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43C5A2-3545-0255-C663-61DB07284D38}"/>
              </a:ext>
            </a:extLst>
          </p:cNvPr>
          <p:cNvSpPr txBox="1"/>
          <p:nvPr/>
        </p:nvSpPr>
        <p:spPr>
          <a:xfrm>
            <a:off x="6096000" y="4122689"/>
            <a:ext cx="3730508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Once upon a time,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the world was full of magic.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Everyone was constantly 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doing card tricks.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EDFC6-BA65-D2A1-F3CE-87B96E127B1F}"/>
              </a:ext>
            </a:extLst>
          </p:cNvPr>
          <p:cNvSpPr txBox="1"/>
          <p:nvPr/>
        </p:nvSpPr>
        <p:spPr>
          <a:xfrm>
            <a:off x="9931904" y="4506218"/>
            <a:ext cx="2200829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It’s double-spaced because the first three lines end with a </a:t>
            </a:r>
            <a:r>
              <a:rPr lang="en-CA" dirty="0">
                <a:latin typeface="Consolas" panose="020B0609020204030204" pitchFamily="49" charset="0"/>
              </a:rPr>
              <a:t>\n</a:t>
            </a:r>
            <a:r>
              <a:rPr lang="en-CA" dirty="0"/>
              <a:t> character (the </a:t>
            </a:r>
            <a:r>
              <a:rPr lang="en-CA" b="1" dirty="0"/>
              <a:t>newline character</a:t>
            </a:r>
            <a:r>
              <a:rPr lang="en-CA" dirty="0"/>
              <a:t>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96143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2E98F-29E2-F33E-D52C-0DB094F6E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E2570-8DD0-F37C-FF10-A1DE91392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B4811-5DD5-99FA-D77C-7F241893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46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A7F8ED-2E74-6344-9E13-3772C380D6E9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6DB3E29-0C99-9B5B-2CE2-2D15D02D6189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0244546-2424-DD3A-D78B-972ED3BD2F8F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DE0E3D3-4F45-10A2-2801-50D0C316BEC2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7ED086A-F955-43F4-EE35-328925911F6D}"/>
              </a:ext>
            </a:extLst>
          </p:cNvPr>
          <p:cNvSpPr txBox="1"/>
          <p:nvPr/>
        </p:nvSpPr>
        <p:spPr>
          <a:xfrm>
            <a:off x="203478" y="3167390"/>
            <a:ext cx="767710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open('story.txt')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.strip()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.strip()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.strip()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.strip()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6013F8-A6E1-936D-25E1-E86F7D61E57E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DFFEF6-1200-A0B2-168A-AB31852E5010}"/>
              </a:ext>
            </a:extLst>
          </p:cNvPr>
          <p:cNvSpPr/>
          <p:nvPr/>
        </p:nvSpPr>
        <p:spPr>
          <a:xfrm>
            <a:off x="8939581" y="2543785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DCDE514-BAC8-45F7-D810-DD3A323BE13A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173313" cy="55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BB32F7F-AF0A-2673-C94C-DAF33E38ED59}"/>
              </a:ext>
            </a:extLst>
          </p:cNvPr>
          <p:cNvSpPr txBox="1"/>
          <p:nvPr/>
        </p:nvSpPr>
        <p:spPr>
          <a:xfrm>
            <a:off x="7812650" y="4033697"/>
            <a:ext cx="373050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Once upon a time,</a:t>
            </a:r>
          </a:p>
          <a:p>
            <a:r>
              <a:rPr lang="en-US" dirty="0">
                <a:latin typeface="Consolas" panose="020B0609020204030204" pitchFamily="49" charset="0"/>
              </a:rPr>
              <a:t>the world was full of magic.</a:t>
            </a:r>
          </a:p>
          <a:p>
            <a:r>
              <a:rPr lang="en-US" dirty="0">
                <a:latin typeface="Consolas" panose="020B0609020204030204" pitchFamily="49" charset="0"/>
              </a:rPr>
              <a:t>Everyone was constantly </a:t>
            </a:r>
          </a:p>
          <a:p>
            <a:r>
              <a:rPr lang="en-US" dirty="0">
                <a:latin typeface="Consolas" panose="020B0609020204030204" pitchFamily="49" charset="0"/>
              </a:rPr>
              <a:t>doing card tricks.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845491-55A6-77C1-9036-A1B5F861CCEB}"/>
              </a:ext>
            </a:extLst>
          </p:cNvPr>
          <p:cNvSpPr txBox="1"/>
          <p:nvPr/>
        </p:nvSpPr>
        <p:spPr>
          <a:xfrm>
            <a:off x="7789057" y="5433020"/>
            <a:ext cx="419946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Calling </a:t>
            </a:r>
            <a:r>
              <a:rPr lang="en-CA" dirty="0">
                <a:latin typeface="Consolas" panose="020B0609020204030204" pitchFamily="49" charset="0"/>
              </a:rPr>
              <a:t>.strip()</a:t>
            </a:r>
            <a:r>
              <a:rPr lang="en-CA" dirty="0"/>
              <a:t> on a string removes all </a:t>
            </a:r>
            <a:r>
              <a:rPr lang="en-CA" dirty="0">
                <a:latin typeface="Consolas" panose="020B0609020204030204" pitchFamily="49" charset="0"/>
              </a:rPr>
              <a:t>\n </a:t>
            </a:r>
            <a:r>
              <a:rPr lang="en-CA" dirty="0"/>
              <a:t>characters at the end and the start.</a:t>
            </a:r>
            <a:br>
              <a:rPr lang="en-CA" dirty="0"/>
            </a:br>
            <a:r>
              <a:rPr lang="en-CA" dirty="0"/>
              <a:t>It also removes tabs, spaces, …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378956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7FBAA-7CF4-D91A-9C5B-AA00428A7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57D0C-A45D-8562-9D2C-7C65C441E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EAB68-D8C3-8C42-8395-7694EFFF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47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BB2A41-8962-1506-4B13-F4875601ADD0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D854839-CC04-6469-D3C5-CA0A4719EE53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A63ED1-D06F-AE0D-9C6E-686D30DF5386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A77D9B7-7E96-F16D-3EDF-D78346FA8908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C65ABF3-61B1-1372-68AC-F6DFAA438DD5}"/>
              </a:ext>
            </a:extLst>
          </p:cNvPr>
          <p:cNvSpPr txBox="1"/>
          <p:nvPr/>
        </p:nvSpPr>
        <p:spPr>
          <a:xfrm>
            <a:off x="203478" y="3167390"/>
            <a:ext cx="747993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open('story.txt')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().strip())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9B8B69-8D1C-373B-0A78-2469B7522054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332373E-5E7E-8892-44C9-CFA6A3E53ACE}"/>
              </a:ext>
            </a:extLst>
          </p:cNvPr>
          <p:cNvSpPr/>
          <p:nvPr/>
        </p:nvSpPr>
        <p:spPr>
          <a:xfrm>
            <a:off x="8939581" y="2543785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7EB327-37B2-7100-23A7-AF8D883C6F08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173313" cy="55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B2C0C1B-BDC9-E8B6-417E-F0717BBC8650}"/>
              </a:ext>
            </a:extLst>
          </p:cNvPr>
          <p:cNvSpPr txBox="1"/>
          <p:nvPr/>
        </p:nvSpPr>
        <p:spPr>
          <a:xfrm>
            <a:off x="7743803" y="3767554"/>
            <a:ext cx="3730508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Once upon a time,</a:t>
            </a:r>
          </a:p>
          <a:p>
            <a:r>
              <a:rPr lang="en-US" dirty="0">
                <a:latin typeface="Consolas" panose="020B0609020204030204" pitchFamily="49" charset="0"/>
              </a:rPr>
              <a:t>the world was full of magic.</a:t>
            </a:r>
          </a:p>
          <a:p>
            <a:r>
              <a:rPr lang="en-US" dirty="0">
                <a:latin typeface="Consolas" panose="020B0609020204030204" pitchFamily="49" charset="0"/>
              </a:rPr>
              <a:t>Everyone was constantly </a:t>
            </a:r>
          </a:p>
          <a:p>
            <a:r>
              <a:rPr lang="en-US" dirty="0">
                <a:latin typeface="Consolas" panose="020B0609020204030204" pitchFamily="49" charset="0"/>
              </a:rPr>
              <a:t>doing card tricks.</a:t>
            </a:r>
          </a:p>
          <a:p>
            <a:endParaRPr lang="en-AU" dirty="0">
              <a:latin typeface="Consolas" panose="020B0609020204030204" pitchFamily="49" charset="0"/>
            </a:endParaRPr>
          </a:p>
          <a:p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E8DF5A-09A4-EE06-F9D3-21F26A80E6DA}"/>
              </a:ext>
            </a:extLst>
          </p:cNvPr>
          <p:cNvSpPr txBox="1"/>
          <p:nvPr/>
        </p:nvSpPr>
        <p:spPr>
          <a:xfrm>
            <a:off x="7743803" y="5710019"/>
            <a:ext cx="373050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Calling .</a:t>
            </a:r>
            <a:r>
              <a:rPr lang="en-CA" dirty="0" err="1">
                <a:latin typeface="Consolas" panose="020B0609020204030204" pitchFamily="49" charset="0"/>
              </a:rPr>
              <a:t>readline</a:t>
            </a:r>
            <a:r>
              <a:rPr lang="en-CA" dirty="0">
                <a:latin typeface="Consolas" panose="020B0609020204030204" pitchFamily="49" charset="0"/>
              </a:rPr>
              <a:t>()</a:t>
            </a:r>
            <a:r>
              <a:rPr lang="en-CA" dirty="0"/>
              <a:t> after the last line prints empty lines.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06286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F31DB-BB06-C2FB-9A64-807E580EF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D1A01-C160-7C1D-077B-D01F3884C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D2A6B-035F-6B7A-FFE1-4D2794ABA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48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EC0340-A959-2A2E-DE6F-ADDF74E226F8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236A63C-81F3-BC8C-229A-0114AFD9AE1D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98FB36C-6739-19CB-AB02-E5FECBB091FA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302D33F-4428-C482-74AE-F7906B13640C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730386C-B7DD-57A4-F7C4-E71D9F4D4A59}"/>
              </a:ext>
            </a:extLst>
          </p:cNvPr>
          <p:cNvSpPr txBox="1"/>
          <p:nvPr/>
        </p:nvSpPr>
        <p:spPr>
          <a:xfrm>
            <a:off x="203478" y="3167390"/>
            <a:ext cx="747993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open('story.txt')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().strip())</a:t>
            </a:r>
          </a:p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file_object.readline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().strip())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6E0234-FC5A-CB04-880B-CBA3E7E7A6D7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5C4639-50DB-0531-FCFF-4557A534393D}"/>
              </a:ext>
            </a:extLst>
          </p:cNvPr>
          <p:cNvSpPr/>
          <p:nvPr/>
        </p:nvSpPr>
        <p:spPr>
          <a:xfrm>
            <a:off x="8939581" y="2543785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7BA9FE-C415-C1F6-81B5-FF5DEB54361E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173313" cy="55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FAFDCF6-370A-DB06-DD41-C5C544C88BF4}"/>
              </a:ext>
            </a:extLst>
          </p:cNvPr>
          <p:cNvSpPr txBox="1"/>
          <p:nvPr/>
        </p:nvSpPr>
        <p:spPr>
          <a:xfrm>
            <a:off x="9259319" y="5559276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1838B0-0F34-AEB9-A431-C2D88AE576D7}"/>
              </a:ext>
            </a:extLst>
          </p:cNvPr>
          <p:cNvSpPr txBox="1"/>
          <p:nvPr/>
        </p:nvSpPr>
        <p:spPr>
          <a:xfrm>
            <a:off x="8508476" y="4153357"/>
            <a:ext cx="284532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many times should we call </a:t>
            </a:r>
            <a:r>
              <a:rPr lang="en-CA" dirty="0">
                <a:latin typeface="Consolas" panose="020B0609020204030204" pitchFamily="49" charset="0"/>
              </a:rPr>
              <a:t>.</a:t>
            </a:r>
            <a:r>
              <a:rPr lang="en-CA" dirty="0" err="1">
                <a:latin typeface="Consolas" panose="020B0609020204030204" pitchFamily="49" charset="0"/>
              </a:rPr>
              <a:t>readline</a:t>
            </a:r>
            <a:r>
              <a:rPr lang="en-CA" dirty="0">
                <a:latin typeface="Consolas" panose="020B0609020204030204" pitchFamily="49" charset="0"/>
              </a:rPr>
              <a:t>()</a:t>
            </a:r>
            <a:r>
              <a:rPr lang="en-CA" dirty="0"/>
              <a:t> to print the entire file?</a:t>
            </a:r>
            <a:br>
              <a:rPr lang="en-CA" dirty="0"/>
            </a:br>
            <a:r>
              <a:rPr lang="en-CA" dirty="0"/>
              <a:t>We don’t know the file length ahead of time.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983116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0D21A-EBE1-1AD4-B121-4668FD2D9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21754-8092-71AF-DAF0-B1E704FF0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4E829-A489-55EF-77AB-C649FB46F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49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6AB95E-45F9-5541-658A-35833AD1C3ED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A6CDA14-28B5-35E2-6563-D9C1CDC5D87D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F346A6F-1549-7433-92BD-64439DAC782D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88321A-38F8-4909-CA17-0898C228376E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B9DED66-71DD-8FC9-554B-6438B00D051D}"/>
              </a:ext>
            </a:extLst>
          </p:cNvPr>
          <p:cNvSpPr txBox="1"/>
          <p:nvPr/>
        </p:nvSpPr>
        <p:spPr>
          <a:xfrm>
            <a:off x="203478" y="3167390"/>
            <a:ext cx="629691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open('story.txt’)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for line in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  <a:b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   print(line)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686C7F-9C55-1938-B35B-A16DBCA44D62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7CDEDCC-DE80-B3BD-2F5C-B13B93422808}"/>
              </a:ext>
            </a:extLst>
          </p:cNvPr>
          <p:cNvSpPr/>
          <p:nvPr/>
        </p:nvSpPr>
        <p:spPr>
          <a:xfrm>
            <a:off x="8939581" y="2543785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123BD8-468C-0208-518E-0136606FD01D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173313" cy="55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5C02A6E-E6B9-DF48-5AC6-59A348BA9DC7}"/>
              </a:ext>
            </a:extLst>
          </p:cNvPr>
          <p:cNvSpPr txBox="1"/>
          <p:nvPr/>
        </p:nvSpPr>
        <p:spPr>
          <a:xfrm>
            <a:off x="8508476" y="4153357"/>
            <a:ext cx="284532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many times should we call </a:t>
            </a:r>
            <a:r>
              <a:rPr lang="en-CA" dirty="0">
                <a:latin typeface="Consolas" panose="020B0609020204030204" pitchFamily="49" charset="0"/>
              </a:rPr>
              <a:t>.</a:t>
            </a:r>
            <a:r>
              <a:rPr lang="en-CA" dirty="0" err="1">
                <a:latin typeface="Consolas" panose="020B0609020204030204" pitchFamily="49" charset="0"/>
              </a:rPr>
              <a:t>readline</a:t>
            </a:r>
            <a:r>
              <a:rPr lang="en-CA" dirty="0">
                <a:latin typeface="Consolas" panose="020B0609020204030204" pitchFamily="49" charset="0"/>
              </a:rPr>
              <a:t>()</a:t>
            </a:r>
            <a:r>
              <a:rPr lang="en-CA" dirty="0"/>
              <a:t> to print the entire file?</a:t>
            </a:r>
            <a:br>
              <a:rPr lang="en-CA" dirty="0"/>
            </a:br>
            <a:r>
              <a:rPr lang="en-CA" dirty="0"/>
              <a:t>We don’t know the file length ahead of time.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EF7D2B-6C23-C66A-3B9C-014CE2B918E5}"/>
              </a:ext>
            </a:extLst>
          </p:cNvPr>
          <p:cNvSpPr txBox="1"/>
          <p:nvPr/>
        </p:nvSpPr>
        <p:spPr>
          <a:xfrm>
            <a:off x="3581401" y="4879022"/>
            <a:ext cx="240453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loops through all the lines of the file.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5716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19568-E53A-CDBD-AC73-21E9FA1B0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3651-5F03-12CB-E100-A8F45AB22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882A1-E7F0-1076-920E-3E4E29B95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50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BEA7EA-922C-94EE-54D6-269EFA570358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B99E05B-31BC-AA4C-B16C-2D98ED595850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E59F6F0-5827-C800-E6C8-0040AA483B6B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01AC155-94E3-AD94-F81A-6D8939ECAFCE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92CB4F5-4CB1-5EEC-95C9-EA0A1D9C57AD}"/>
              </a:ext>
            </a:extLst>
          </p:cNvPr>
          <p:cNvSpPr txBox="1"/>
          <p:nvPr/>
        </p:nvSpPr>
        <p:spPr>
          <a:xfrm>
            <a:off x="203478" y="3167390"/>
            <a:ext cx="8071440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open('story.txt’)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num_lines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= 0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for line in </a:t>
            </a:r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num_lines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+= 1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</a:t>
            </a:r>
            <a:r>
              <a:rPr lang="en-US" sz="2800" dirty="0" err="1">
                <a:latin typeface="Consolas" panose="020B0609020204030204" pitchFamily="49" charset="0"/>
              </a:rPr>
              <a:t>line.strip</a:t>
            </a:r>
            <a:r>
              <a:rPr lang="en-US" sz="280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latin typeface="Consolas" panose="020B0609020204030204" pitchFamily="49" charset="0"/>
              </a:rPr>
              <a:t>f'The</a:t>
            </a:r>
            <a:r>
              <a:rPr lang="en-US" sz="2800" dirty="0">
                <a:latin typeface="Consolas" panose="020B0609020204030204" pitchFamily="49" charset="0"/>
              </a:rPr>
              <a:t> file has {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num_lines</a:t>
            </a:r>
            <a:r>
              <a:rPr lang="en-US" sz="2800" dirty="0">
                <a:latin typeface="Consolas" panose="020B0609020204030204" pitchFamily="49" charset="0"/>
              </a:rPr>
              <a:t>} lines')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2B9889-E7DC-3EB7-26DE-5749F9BA7FCB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B291453-AC2E-549E-8C81-6E39C35CFE9A}"/>
              </a:ext>
            </a:extLst>
          </p:cNvPr>
          <p:cNvSpPr/>
          <p:nvPr/>
        </p:nvSpPr>
        <p:spPr>
          <a:xfrm>
            <a:off x="8939581" y="2543785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726177-DB2E-FD03-5E1D-B02D37BC1A90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173313" cy="55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F385633-1B62-A9CF-754B-6C7CF7865C54}"/>
              </a:ext>
            </a:extLst>
          </p:cNvPr>
          <p:cNvSpPr txBox="1"/>
          <p:nvPr/>
        </p:nvSpPr>
        <p:spPr>
          <a:xfrm>
            <a:off x="8939581" y="4246714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prints and counts the number of lines in a file.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20176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E3C13-5274-E1D9-4044-6EDD5042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52C33-D99A-4606-33FE-29E7FDA15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2A2BB-603E-BCCD-45F5-DE5330FC6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51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82117-E3ED-78F4-418A-DBCF43D0DCAE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437B149-2C59-DAA5-72F9-A221CB2C0163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5855F3-DF46-2E47-1059-F0E87BBF0E3E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A8FCEB0-6E0D-8B6E-518D-9E9EAA68DB98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9D05729-CC84-0DEA-EA87-4919481CA92F}"/>
              </a:ext>
            </a:extLst>
          </p:cNvPr>
          <p:cNvSpPr txBox="1"/>
          <p:nvPr/>
        </p:nvSpPr>
        <p:spPr>
          <a:xfrm>
            <a:off x="203478" y="3167390"/>
            <a:ext cx="826861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open('story.txt’)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line_num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= 0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for line in </a:t>
            </a:r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line_num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+= 1</a:t>
            </a:r>
            <a:b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print(f'{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line_num</a:t>
            </a:r>
            <a:r>
              <a:rPr lang="en-US" sz="2800" dirty="0">
                <a:latin typeface="Consolas" panose="020B0609020204030204" pitchFamily="49" charset="0"/>
              </a:rPr>
              <a:t>}: ' + </a:t>
            </a:r>
            <a:r>
              <a:rPr lang="en-US" sz="2800" dirty="0" err="1">
                <a:latin typeface="Consolas" panose="020B0609020204030204" pitchFamily="49" charset="0"/>
              </a:rPr>
              <a:t>line.strip</a:t>
            </a:r>
            <a:r>
              <a:rPr lang="en-US" sz="2800" dirty="0"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56177A-99A6-2314-1CA0-0DF874AC2CD8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C7209B7-126E-D582-CEF7-F18C12B57465}"/>
              </a:ext>
            </a:extLst>
          </p:cNvPr>
          <p:cNvSpPr/>
          <p:nvPr/>
        </p:nvSpPr>
        <p:spPr>
          <a:xfrm>
            <a:off x="8939581" y="2543785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20B4E4-B735-D00C-4673-AA45BDC377EB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173313" cy="55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C9E5FFD-F60C-3057-FC9B-B7095D2ABF60}"/>
              </a:ext>
            </a:extLst>
          </p:cNvPr>
          <p:cNvSpPr txBox="1"/>
          <p:nvPr/>
        </p:nvSpPr>
        <p:spPr>
          <a:xfrm>
            <a:off x="7362197" y="4089568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947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F822-E8F5-7F41-45D6-2FACB75EA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919E7-2B1B-4812-4DE1-BCB0250E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49B7D-5755-D7BF-1EBD-A77469AC7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52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7208F9-631F-D9A8-388E-387BAFDED7FA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0278791-BC24-3FB8-BBF9-7BEFAF217382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B3F1142-37E1-5C3F-0658-F34FE564CB9A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1867212-2CA5-1DC4-A467-081B4699708A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91B5843-6A86-D764-CBD9-98399954623B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187E02C-D232-6CB1-607F-01A525D8590F}"/>
              </a:ext>
            </a:extLst>
          </p:cNvPr>
          <p:cNvSpPr/>
          <p:nvPr/>
        </p:nvSpPr>
        <p:spPr>
          <a:xfrm>
            <a:off x="8939581" y="2543785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D382B05-37C7-0A7B-C9E1-BBBA8A270F42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173313" cy="55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EE617A4-1AC4-DB48-7055-B33E07D2D1CA}"/>
              </a:ext>
            </a:extLst>
          </p:cNvPr>
          <p:cNvSpPr txBox="1"/>
          <p:nvPr/>
        </p:nvSpPr>
        <p:spPr>
          <a:xfrm>
            <a:off x="8001000" y="3955692"/>
            <a:ext cx="40894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1: Once upon a time,</a:t>
            </a:r>
          </a:p>
          <a:p>
            <a:r>
              <a:rPr lang="en-US" dirty="0">
                <a:latin typeface="Consolas" panose="020B0609020204030204" pitchFamily="49" charset="0"/>
              </a:rPr>
              <a:t>2: the world was full of magic.</a:t>
            </a:r>
          </a:p>
          <a:p>
            <a:r>
              <a:rPr lang="en-US" dirty="0">
                <a:latin typeface="Consolas" panose="020B0609020204030204" pitchFamily="49" charset="0"/>
              </a:rPr>
              <a:t>3: Everyone was constantly </a:t>
            </a:r>
          </a:p>
          <a:p>
            <a:r>
              <a:rPr lang="en-US" dirty="0">
                <a:latin typeface="Consolas" panose="020B0609020204030204" pitchFamily="49" charset="0"/>
              </a:rPr>
              <a:t>4: doing card tricks.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894CFE-31A3-CE1A-6C7B-865BC0C865B4}"/>
              </a:ext>
            </a:extLst>
          </p:cNvPr>
          <p:cNvSpPr txBox="1"/>
          <p:nvPr/>
        </p:nvSpPr>
        <p:spPr>
          <a:xfrm>
            <a:off x="203478" y="3167390"/>
            <a:ext cx="826861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open('story.txt’)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line_num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= 0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for line in </a:t>
            </a:r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line_num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 += 1</a:t>
            </a:r>
            <a:b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print(f'{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line_num</a:t>
            </a:r>
            <a:r>
              <a:rPr lang="en-US" sz="2800" dirty="0">
                <a:latin typeface="Consolas" panose="020B0609020204030204" pitchFamily="49" charset="0"/>
              </a:rPr>
              <a:t>}: ' + </a:t>
            </a:r>
            <a:r>
              <a:rPr lang="en-US" sz="2800" dirty="0" err="1">
                <a:latin typeface="Consolas" panose="020B0609020204030204" pitchFamily="49" charset="0"/>
              </a:rPr>
              <a:t>line.strip</a:t>
            </a:r>
            <a:r>
              <a:rPr lang="en-US" sz="2800" dirty="0">
                <a:latin typeface="Consolas" panose="020B060902020403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1107256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C4936-6554-4E46-4AB3-C4BF52BEE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B6AED-8256-DF5A-8793-72474C129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097D8-AFC9-CB87-73D1-78E6634E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53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6AAE0E-B93C-8B3F-0583-30782686473D}"/>
              </a:ext>
            </a:extLst>
          </p:cNvPr>
          <p:cNvSpPr txBox="1"/>
          <p:nvPr/>
        </p:nvSpPr>
        <p:spPr>
          <a:xfrm>
            <a:off x="4787923" y="47121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Suppose the text file </a:t>
            </a:r>
            <a:r>
              <a:rPr lang="en-CA" b="1" dirty="0"/>
              <a:t>story.txt </a:t>
            </a:r>
            <a:r>
              <a:rPr lang="en-CA" dirty="0"/>
              <a:t>is in on your computer …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EC113E3-96B9-A642-6C8B-AD655752C858}"/>
              </a:ext>
            </a:extLst>
          </p:cNvPr>
          <p:cNvGrpSpPr/>
          <p:nvPr/>
        </p:nvGrpSpPr>
        <p:grpSpPr>
          <a:xfrm>
            <a:off x="7517687" y="421560"/>
            <a:ext cx="3836113" cy="1569661"/>
            <a:chOff x="5629620" y="2156701"/>
            <a:chExt cx="3836113" cy="15696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0E33E4A-B18D-4388-ECE6-E115669832D7}"/>
                </a:ext>
              </a:extLst>
            </p:cNvPr>
            <p:cNvSpPr txBox="1"/>
            <p:nvPr/>
          </p:nvSpPr>
          <p:spPr>
            <a:xfrm>
              <a:off x="5629620" y="2526033"/>
              <a:ext cx="3836113" cy="120032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Once upon a time,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the world was full of magic.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Everyone was constantly 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doing card tricks.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95956B-7080-990C-1116-7C3D774383AE}"/>
                </a:ext>
              </a:extLst>
            </p:cNvPr>
            <p:cNvSpPr txBox="1"/>
            <p:nvPr/>
          </p:nvSpPr>
          <p:spPr>
            <a:xfrm>
              <a:off x="7051514" y="2156701"/>
              <a:ext cx="99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story.txt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0EE5F8C-F3CE-2299-9254-A981E2BCAD7D}"/>
              </a:ext>
            </a:extLst>
          </p:cNvPr>
          <p:cNvSpPr txBox="1"/>
          <p:nvPr/>
        </p:nvSpPr>
        <p:spPr>
          <a:xfrm>
            <a:off x="203478" y="3167390"/>
            <a:ext cx="747993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open('story.txt’)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 err="1">
                <a:latin typeface="Consolas" panose="020B0609020204030204" pitchFamily="49" charset="0"/>
              </a:rPr>
              <a:t>line_num</a:t>
            </a:r>
            <a:r>
              <a:rPr lang="en-US" sz="2800" dirty="0">
                <a:latin typeface="Consolas" panose="020B0609020204030204" pitchFamily="49" charset="0"/>
              </a:rPr>
              <a:t> = 0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for line in </a:t>
            </a:r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 err="1">
                <a:latin typeface="Consolas" panose="020B0609020204030204" pitchFamily="49" charset="0"/>
              </a:rPr>
              <a:t>line_num</a:t>
            </a:r>
            <a:r>
              <a:rPr lang="en-US" sz="2800" dirty="0">
                <a:latin typeface="Consolas" panose="020B0609020204030204" pitchFamily="49" charset="0"/>
              </a:rPr>
              <a:t> += 1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line = </a:t>
            </a:r>
            <a:r>
              <a:rPr lang="en-US" sz="2800" dirty="0" err="1">
                <a:latin typeface="Consolas" panose="020B0609020204030204" pitchFamily="49" charset="0"/>
              </a:rPr>
              <a:t>line.strip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if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len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(line) &gt; 100:</a:t>
            </a:r>
            <a:b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    print(f'{</a:t>
            </a:r>
            <a:r>
              <a:rPr lang="en-US" sz="2800" dirty="0" err="1">
                <a:latin typeface="Consolas" panose="020B0609020204030204" pitchFamily="49" charset="0"/>
              </a:rPr>
              <a:t>line_num</a:t>
            </a:r>
            <a:r>
              <a:rPr lang="en-US" sz="2800" dirty="0">
                <a:latin typeface="Consolas" panose="020B0609020204030204" pitchFamily="49" charset="0"/>
              </a:rPr>
              <a:t>}: ' + line)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3E5D99-CA61-CAF8-43EC-21063BD93A98}"/>
              </a:ext>
            </a:extLst>
          </p:cNvPr>
          <p:cNvSpPr txBox="1"/>
          <p:nvPr/>
        </p:nvSpPr>
        <p:spPr>
          <a:xfrm>
            <a:off x="2197123" y="1886808"/>
            <a:ext cx="219281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read the contents of </a:t>
            </a:r>
            <a:r>
              <a:rPr lang="en-CA" b="1" dirty="0"/>
              <a:t>story.txt</a:t>
            </a:r>
            <a:r>
              <a:rPr lang="en-CA" dirty="0"/>
              <a:t>, we first create file object …</a:t>
            </a:r>
            <a:endParaRPr lang="en-AU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DBAFAE-1449-42AC-524D-DED6AF3A8065}"/>
              </a:ext>
            </a:extLst>
          </p:cNvPr>
          <p:cNvSpPr/>
          <p:nvPr/>
        </p:nvSpPr>
        <p:spPr>
          <a:xfrm>
            <a:off x="8939581" y="2543785"/>
            <a:ext cx="1338952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file_object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88034B-A611-E2BC-6F6D-4BD6282965F2}"/>
              </a:ext>
            </a:extLst>
          </p:cNvPr>
          <p:cNvCxnSpPr>
            <a:stCxn id="11" idx="0"/>
            <a:endCxn id="5" idx="2"/>
          </p:cNvCxnSpPr>
          <p:nvPr/>
        </p:nvCxnSpPr>
        <p:spPr>
          <a:xfrm flipH="1" flipV="1">
            <a:off x="9435744" y="1991221"/>
            <a:ext cx="173313" cy="55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E006313-2B6B-A3E1-D14A-CA6096835D7B}"/>
              </a:ext>
            </a:extLst>
          </p:cNvPr>
          <p:cNvSpPr txBox="1"/>
          <p:nvPr/>
        </p:nvSpPr>
        <p:spPr>
          <a:xfrm>
            <a:off x="7791268" y="4336940"/>
            <a:ext cx="356253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prints just the lines with more than 100 characters in them. This could be useful for checking your homework assignments!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278475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F79ED-BA93-984C-3F89-97C23AD9F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1B43-E915-6F7A-4945-BB0CF5BF2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6380E-91B0-0641-6A3A-09A54C248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54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5F8F35-6907-9A87-317F-0BA911AA4D80}"/>
              </a:ext>
            </a:extLst>
          </p:cNvPr>
          <p:cNvSpPr txBox="1"/>
          <p:nvPr/>
        </p:nvSpPr>
        <p:spPr>
          <a:xfrm>
            <a:off x="1799190" y="2346235"/>
            <a:ext cx="317921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The text file </a:t>
            </a:r>
            <a:r>
              <a:rPr lang="en-CA" b="1" dirty="0"/>
              <a:t>words.txt</a:t>
            </a:r>
            <a:r>
              <a:rPr lang="en-CA" dirty="0"/>
              <a:t> is a list of over 100,000 English words: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one word per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in alphabetical order.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F31DEF6-FF09-548E-8F28-48349860EFB7}"/>
              </a:ext>
            </a:extLst>
          </p:cNvPr>
          <p:cNvGrpSpPr/>
          <p:nvPr/>
        </p:nvGrpSpPr>
        <p:grpSpPr>
          <a:xfrm>
            <a:off x="5765799" y="10745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A627B1F-8E59-25A8-602C-13A9BD936E7F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7050CDB-430D-F1AF-A7E3-5B81487787EE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56D9CE1-09B8-0E9F-AE75-E179FEFE1494}"/>
              </a:ext>
            </a:extLst>
          </p:cNvPr>
          <p:cNvSpPr txBox="1"/>
          <p:nvPr/>
        </p:nvSpPr>
        <p:spPr>
          <a:xfrm>
            <a:off x="2103990" y="4213829"/>
            <a:ext cx="256961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Challenge</a:t>
            </a:r>
            <a:br>
              <a:rPr lang="en-CA" dirty="0"/>
            </a:br>
            <a:r>
              <a:rPr lang="en-CA" dirty="0"/>
              <a:t>What % of English words contain the letter </a:t>
            </a:r>
            <a:r>
              <a:rPr lang="en-CA" b="1" dirty="0"/>
              <a:t>m</a:t>
            </a:r>
            <a:r>
              <a:rPr lang="en-CA" dirty="0"/>
              <a:t> one or more times?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32544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71E20-496B-04CE-78B9-E524BE4E0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3CA1A-131D-9886-5216-81DD9CB00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7CA02-E726-2608-D0D7-AC70AACA4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55</a:t>
            </a:fld>
            <a:endParaRPr lang="en-A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4C75ADD-EF60-2CC0-03DB-62176DE642E7}"/>
              </a:ext>
            </a:extLst>
          </p:cNvPr>
          <p:cNvGrpSpPr/>
          <p:nvPr/>
        </p:nvGrpSpPr>
        <p:grpSpPr>
          <a:xfrm>
            <a:off x="245533" y="16079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F54D4D3-E3B0-6D41-8361-764A474CFDCC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48202E5-A5AC-5563-700B-3483C0EF3A4A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A5AB09A-1BFE-BF7E-D034-8DF0722692EB}"/>
              </a:ext>
            </a:extLst>
          </p:cNvPr>
          <p:cNvSpPr txBox="1"/>
          <p:nvPr/>
        </p:nvSpPr>
        <p:spPr>
          <a:xfrm>
            <a:off x="3318114" y="1792574"/>
            <a:ext cx="783099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 = open('words.txt')</a:t>
            </a:r>
          </a:p>
          <a:p>
            <a:r>
              <a:rPr lang="en-US" sz="2400" dirty="0" err="1">
                <a:latin typeface="Consolas" panose="020B0609020204030204" pitchFamily="49" charset="0"/>
              </a:rPr>
              <a:t>total_words</a:t>
            </a:r>
            <a:r>
              <a:rPr lang="en-US" sz="2400" dirty="0">
                <a:latin typeface="Consolas" panose="020B0609020204030204" pitchFamily="49" charset="0"/>
              </a:rPr>
              <a:t> = 0</a:t>
            </a:r>
          </a:p>
          <a:p>
            <a:r>
              <a:rPr lang="en-US" sz="2400" dirty="0" err="1">
                <a:latin typeface="Consolas" panose="020B0609020204030204" pitchFamily="49" charset="0"/>
              </a:rPr>
              <a:t>total_m_words</a:t>
            </a:r>
            <a:r>
              <a:rPr lang="en-US" sz="2400" dirty="0">
                <a:latin typeface="Consolas" panose="020B0609020204030204" pitchFamily="49" charset="0"/>
              </a:rPr>
              <a:t> = 0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for line in </a:t>
            </a:r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latin typeface="Consolas" panose="020B0609020204030204" pitchFamily="49" charset="0"/>
              </a:rPr>
              <a:t>total_words</a:t>
            </a:r>
            <a:r>
              <a:rPr lang="en-US" sz="2400" dirty="0">
                <a:latin typeface="Consolas" panose="020B0609020204030204" pitchFamily="49" charset="0"/>
              </a:rPr>
              <a:t> += 1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</a:t>
            </a:r>
            <a:r>
              <a:rPr lang="en-US" sz="2400" dirty="0" err="1">
                <a:latin typeface="Consolas" panose="020B0609020204030204" pitchFamily="49" charset="0"/>
              </a:rPr>
              <a:t>has_m</a:t>
            </a:r>
            <a:r>
              <a:rPr lang="en-US" sz="2400" dirty="0">
                <a:latin typeface="Consolas" panose="020B0609020204030204" pitchFamily="49" charset="0"/>
              </a:rPr>
              <a:t>(line):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</a:rPr>
              <a:t>total_m_words</a:t>
            </a:r>
            <a:r>
              <a:rPr lang="en-US" sz="2400" dirty="0">
                <a:latin typeface="Consolas" panose="020B0609020204030204" pitchFamily="49" charset="0"/>
              </a:rPr>
              <a:t> += 1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pct = 100 * </a:t>
            </a:r>
            <a:r>
              <a:rPr lang="en-US" sz="2400" dirty="0" err="1">
                <a:latin typeface="Consolas" panose="020B0609020204030204" pitchFamily="49" charset="0"/>
              </a:rPr>
              <a:t>total_m_words</a:t>
            </a:r>
            <a:r>
              <a:rPr lang="en-US" sz="2400" dirty="0">
                <a:latin typeface="Consolas" panose="020B0609020204030204" pitchFamily="49" charset="0"/>
              </a:rPr>
              <a:t> / </a:t>
            </a:r>
            <a:r>
              <a:rPr lang="en-US" sz="2400" dirty="0" err="1">
                <a:latin typeface="Consolas" panose="020B0609020204030204" pitchFamily="49" charset="0"/>
              </a:rPr>
              <a:t>total_words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print(f'{pct:.1f}% of the words have an "m"')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0A303A-A148-D4E8-2879-BD7D9144993A}"/>
              </a:ext>
            </a:extLst>
          </p:cNvPr>
          <p:cNvSpPr txBox="1"/>
          <p:nvPr/>
        </p:nvSpPr>
        <p:spPr>
          <a:xfrm>
            <a:off x="8118036" y="3392269"/>
            <a:ext cx="3953115" cy="6463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has_m</a:t>
            </a:r>
            <a:r>
              <a:rPr lang="en-US" dirty="0">
                <a:latin typeface="Consolas" panose="020B0609020204030204" pitchFamily="49" charset="0"/>
              </a:rPr>
              <a:t>(word):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'm' in </a:t>
            </a:r>
            <a:r>
              <a:rPr lang="en-US" dirty="0" err="1">
                <a:latin typeface="Consolas" panose="020B0609020204030204" pitchFamily="49" charset="0"/>
              </a:rPr>
              <a:t>word.lower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55F5ED-7FF8-C5F8-78BC-2DC0A6ED5E92}"/>
              </a:ext>
            </a:extLst>
          </p:cNvPr>
          <p:cNvSpPr/>
          <p:nvPr/>
        </p:nvSpPr>
        <p:spPr>
          <a:xfrm>
            <a:off x="4538133" y="3685400"/>
            <a:ext cx="1905000" cy="353200"/>
          </a:xfrm>
          <a:prstGeom prst="rect">
            <a:avLst/>
          </a:prstGeom>
          <a:noFill/>
          <a:ln w="31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B699E73-B45D-E537-8B4C-9FB02571AF13}"/>
              </a:ext>
            </a:extLst>
          </p:cNvPr>
          <p:cNvCxnSpPr/>
          <p:nvPr/>
        </p:nvCxnSpPr>
        <p:spPr>
          <a:xfrm>
            <a:off x="10684933" y="1227667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9B1B82C-E0E5-BD5B-26F3-A607325652F3}"/>
              </a:ext>
            </a:extLst>
          </p:cNvPr>
          <p:cNvCxnSpPr/>
          <p:nvPr/>
        </p:nvCxnSpPr>
        <p:spPr>
          <a:xfrm flipH="1">
            <a:off x="6443133" y="3685400"/>
            <a:ext cx="1674903" cy="82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66F959E-6BEB-952D-56C1-2ED94DF4C0D8}"/>
              </a:ext>
            </a:extLst>
          </p:cNvPr>
          <p:cNvSpPr txBox="1"/>
          <p:nvPr/>
        </p:nvSpPr>
        <p:spPr>
          <a:xfrm>
            <a:off x="5233851" y="5782622"/>
            <a:ext cx="3307444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19.7% of the words have an "m"</a:t>
            </a:r>
          </a:p>
        </p:txBody>
      </p:sp>
    </p:spTree>
    <p:extLst>
      <p:ext uri="{BB962C8B-B14F-4D97-AF65-F5344CB8AC3E}">
        <p14:creationId xmlns:p14="http://schemas.microsoft.com/office/powerpoint/2010/main" val="17438959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E6551-545B-49A8-9DD8-69F4020E2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DFF2-4602-88E9-0708-47609CDF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17641-06C3-957F-B9B9-8C88F35CC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56</a:t>
            </a:fld>
            <a:endParaRPr lang="en-A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E787E20-E1CB-B24C-9C8B-7D6C27AC1B5A}"/>
              </a:ext>
            </a:extLst>
          </p:cNvPr>
          <p:cNvGrpSpPr/>
          <p:nvPr/>
        </p:nvGrpSpPr>
        <p:grpSpPr>
          <a:xfrm>
            <a:off x="245533" y="16079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CF7E510-4687-76C9-76A9-8DF3122E9C85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46CF5C5-C3CD-A1A1-CBA9-D42D56CFBBC8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C71110F-F23D-3BED-E80B-FC1B40DFE4EE}"/>
              </a:ext>
            </a:extLst>
          </p:cNvPr>
          <p:cNvSpPr txBox="1"/>
          <p:nvPr/>
        </p:nvSpPr>
        <p:spPr>
          <a:xfrm>
            <a:off x="9055125" y="1192409"/>
            <a:ext cx="267121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Challenge</a:t>
            </a:r>
            <a:br>
              <a:rPr lang="en-CA" dirty="0"/>
            </a:br>
            <a:r>
              <a:rPr lang="en-CA" dirty="0"/>
              <a:t>How many English words do </a:t>
            </a:r>
            <a:r>
              <a:rPr lang="en-CA" b="1" dirty="0"/>
              <a:t>not</a:t>
            </a:r>
            <a:r>
              <a:rPr lang="en-CA" dirty="0"/>
              <a:t> have one of the vowels </a:t>
            </a:r>
            <a:r>
              <a:rPr lang="en-CA" i="1" dirty="0"/>
              <a:t>a</a:t>
            </a:r>
            <a:r>
              <a:rPr lang="en-CA" dirty="0"/>
              <a:t>, </a:t>
            </a:r>
            <a:r>
              <a:rPr lang="en-CA" i="1" dirty="0"/>
              <a:t>e</a:t>
            </a:r>
            <a:r>
              <a:rPr lang="en-CA" dirty="0"/>
              <a:t>, </a:t>
            </a:r>
            <a:r>
              <a:rPr lang="en-CA" i="1" dirty="0" err="1"/>
              <a:t>i</a:t>
            </a:r>
            <a:r>
              <a:rPr lang="en-CA" dirty="0"/>
              <a:t>, </a:t>
            </a:r>
            <a:r>
              <a:rPr lang="en-CA" i="1" dirty="0"/>
              <a:t>o</a:t>
            </a:r>
            <a:r>
              <a:rPr lang="en-CA" dirty="0"/>
              <a:t>, or </a:t>
            </a:r>
            <a:r>
              <a:rPr lang="en-CA" i="1" dirty="0"/>
              <a:t>u</a:t>
            </a:r>
            <a:r>
              <a:rPr lang="en-CA" dirty="0"/>
              <a:t>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325061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B32AD-E1A1-871C-BCD5-AF483518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65CD-C44C-3169-7ABC-C5ECAE9F5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BF390-C854-D074-67F1-0D09DE2C8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57</a:t>
            </a:fld>
            <a:endParaRPr lang="en-A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BD9E23E-DF10-B106-6E0D-9F23268DE3A4}"/>
              </a:ext>
            </a:extLst>
          </p:cNvPr>
          <p:cNvGrpSpPr/>
          <p:nvPr/>
        </p:nvGrpSpPr>
        <p:grpSpPr>
          <a:xfrm>
            <a:off x="245533" y="16079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2B9A7B0-BA71-6578-5DAB-68BFB7F9ED82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2DF18E2-3626-08BC-1E21-CCABEA1F2EA7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C1274C2-042A-5FD0-9CAD-BFEC52E80E30}"/>
              </a:ext>
            </a:extLst>
          </p:cNvPr>
          <p:cNvSpPr txBox="1"/>
          <p:nvPr/>
        </p:nvSpPr>
        <p:spPr>
          <a:xfrm>
            <a:off x="2995857" y="1699497"/>
            <a:ext cx="5801010" cy="163121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def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has_vowel</a:t>
            </a:r>
            <a:r>
              <a:rPr lang="en-US" sz="2000" dirty="0">
                <a:latin typeface="Consolas" panose="020B0609020204030204" pitchFamily="49" charset="0"/>
              </a:rPr>
              <a:t>(word):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for c in </a:t>
            </a:r>
            <a:r>
              <a:rPr lang="en-US" sz="2000" dirty="0" err="1">
                <a:latin typeface="Consolas" panose="020B0609020204030204" pitchFamily="49" charset="0"/>
              </a:rPr>
              <a:t>word.lower</a:t>
            </a:r>
            <a:r>
              <a:rPr lang="en-US" sz="2000" dirty="0">
                <a:latin typeface="Consolas" panose="020B0609020204030204" pitchFamily="49" charset="0"/>
              </a:rPr>
              <a:t>():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     if c in '</a:t>
            </a:r>
            <a:r>
              <a:rPr lang="en-US" sz="2000" dirty="0" err="1">
                <a:latin typeface="Consolas" panose="020B0609020204030204" pitchFamily="49" charset="0"/>
              </a:rPr>
              <a:t>aeiou</a:t>
            </a:r>
            <a:r>
              <a:rPr lang="en-US" sz="2000" dirty="0">
                <a:latin typeface="Consolas" panose="020B0609020204030204" pitchFamily="49" charset="0"/>
              </a:rPr>
              <a:t>':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            return True # found a vowel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latin typeface="Consolas" panose="020B0609020204030204" pitchFamily="49" charset="0"/>
              </a:rPr>
              <a:t>return False        # no vowel found</a:t>
            </a:r>
            <a:endParaRPr lang="en-AU" sz="2000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BA60F6-CA67-2A06-9975-DEE3561CE1BC}"/>
              </a:ext>
            </a:extLst>
          </p:cNvPr>
          <p:cNvSpPr txBox="1"/>
          <p:nvPr/>
        </p:nvSpPr>
        <p:spPr>
          <a:xfrm>
            <a:off x="9055125" y="1192409"/>
            <a:ext cx="267121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Challenge</a:t>
            </a:r>
            <a:br>
              <a:rPr lang="en-CA" dirty="0"/>
            </a:br>
            <a:r>
              <a:rPr lang="en-CA" dirty="0"/>
              <a:t>How many English words do </a:t>
            </a:r>
            <a:r>
              <a:rPr lang="en-CA" b="1" dirty="0"/>
              <a:t>not</a:t>
            </a:r>
            <a:r>
              <a:rPr lang="en-CA" dirty="0"/>
              <a:t> have one of the vowels </a:t>
            </a:r>
            <a:r>
              <a:rPr lang="en-CA" i="1" dirty="0"/>
              <a:t>a</a:t>
            </a:r>
            <a:r>
              <a:rPr lang="en-CA" dirty="0"/>
              <a:t>, </a:t>
            </a:r>
            <a:r>
              <a:rPr lang="en-CA" i="1" dirty="0"/>
              <a:t>e</a:t>
            </a:r>
            <a:r>
              <a:rPr lang="en-CA" dirty="0"/>
              <a:t>, </a:t>
            </a:r>
            <a:r>
              <a:rPr lang="en-CA" i="1" dirty="0" err="1"/>
              <a:t>i</a:t>
            </a:r>
            <a:r>
              <a:rPr lang="en-CA" dirty="0"/>
              <a:t>, </a:t>
            </a:r>
            <a:r>
              <a:rPr lang="en-CA" i="1" dirty="0"/>
              <a:t>o</a:t>
            </a:r>
            <a:r>
              <a:rPr lang="en-CA" dirty="0"/>
              <a:t>, or </a:t>
            </a:r>
            <a:r>
              <a:rPr lang="en-CA" i="1" dirty="0"/>
              <a:t>u</a:t>
            </a:r>
            <a:r>
              <a:rPr lang="en-CA" dirty="0"/>
              <a:t>?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D8394-EAD2-8EA2-FF7B-42630ECF5EED}"/>
              </a:ext>
            </a:extLst>
          </p:cNvPr>
          <p:cNvSpPr txBox="1"/>
          <p:nvPr/>
        </p:nvSpPr>
        <p:spPr>
          <a:xfrm>
            <a:off x="2885790" y="3962399"/>
            <a:ext cx="5801010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print(</a:t>
            </a:r>
            <a:r>
              <a:rPr lang="en-US" sz="2000" dirty="0" err="1">
                <a:latin typeface="Consolas" panose="020B0609020204030204" pitchFamily="49" charset="0"/>
              </a:rPr>
              <a:t>has_vowel</a:t>
            </a:r>
            <a:r>
              <a:rPr lang="en-US" sz="2000" dirty="0">
                <a:latin typeface="Consolas" panose="020B0609020204030204" pitchFamily="49" charset="0"/>
              </a:rPr>
              <a:t>('cat’))     # True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print(</a:t>
            </a:r>
            <a:r>
              <a:rPr lang="en-US" sz="2000" dirty="0" err="1">
                <a:latin typeface="Consolas" panose="020B0609020204030204" pitchFamily="49" charset="0"/>
              </a:rPr>
              <a:t>has_vowel</a:t>
            </a:r>
            <a:r>
              <a:rPr lang="en-US" sz="2000" dirty="0">
                <a:latin typeface="Consolas" panose="020B0609020204030204" pitchFamily="49" charset="0"/>
              </a:rPr>
              <a:t>('MOOSE!’))  # True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print(</a:t>
            </a:r>
            <a:r>
              <a:rPr lang="en-US" sz="2000" dirty="0" err="1">
                <a:latin typeface="Consolas" panose="020B0609020204030204" pitchFamily="49" charset="0"/>
              </a:rPr>
              <a:t>has_vowel</a:t>
            </a:r>
            <a:r>
              <a:rPr lang="en-US" sz="2000" dirty="0">
                <a:latin typeface="Consolas" panose="020B0609020204030204" pitchFamily="49" charset="0"/>
              </a:rPr>
              <a:t>('.YRV3.'))  # False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</a:rPr>
              <a:t>print(</a:t>
            </a:r>
            <a:r>
              <a:rPr lang="en-US" sz="2000" dirty="0" err="1">
                <a:latin typeface="Consolas" panose="020B0609020204030204" pitchFamily="49" charset="0"/>
              </a:rPr>
              <a:t>has_vowel</a:t>
            </a:r>
            <a:r>
              <a:rPr lang="en-US" sz="2000" dirty="0">
                <a:latin typeface="Consolas" panose="020B0609020204030204" pitchFamily="49" charset="0"/>
              </a:rPr>
              <a:t>(''))        # False</a:t>
            </a:r>
          </a:p>
        </p:txBody>
      </p:sp>
    </p:spTree>
    <p:extLst>
      <p:ext uri="{BB962C8B-B14F-4D97-AF65-F5344CB8AC3E}">
        <p14:creationId xmlns:p14="http://schemas.microsoft.com/office/powerpoint/2010/main" val="4248056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18258-FCBF-3C88-F676-C1D30EA0D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68DED-E97C-5B6B-379F-45268E1A9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091CD-F65F-E003-9CD6-B2E3B778A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58</a:t>
            </a:fld>
            <a:endParaRPr lang="en-A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A135EA9-3CBE-17DB-9D53-45722DAF34D8}"/>
              </a:ext>
            </a:extLst>
          </p:cNvPr>
          <p:cNvGrpSpPr/>
          <p:nvPr/>
        </p:nvGrpSpPr>
        <p:grpSpPr>
          <a:xfrm>
            <a:off x="245533" y="16079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1D4E7AC-03BC-8D29-428C-2CCDB806FE9A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E895E6D-2087-2AC0-F90A-6D56CD06D5A1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A1911D9-9DD9-4D34-2692-1681E5DFB666}"/>
              </a:ext>
            </a:extLst>
          </p:cNvPr>
          <p:cNvSpPr txBox="1"/>
          <p:nvPr/>
        </p:nvSpPr>
        <p:spPr>
          <a:xfrm>
            <a:off x="3445114" y="453746"/>
            <a:ext cx="834074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 = open('words.txt')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= 0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for line in </a:t>
            </a:r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not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has_vowel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(line)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+= 1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print(f'{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} words have no vowels')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B86912-4A1B-E2D1-2204-126B5A5541A9}"/>
              </a:ext>
            </a:extLst>
          </p:cNvPr>
          <p:cNvSpPr txBox="1"/>
          <p:nvPr/>
        </p:nvSpPr>
        <p:spPr>
          <a:xfrm>
            <a:off x="9055125" y="1192409"/>
            <a:ext cx="267121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Challenge</a:t>
            </a:r>
            <a:br>
              <a:rPr lang="en-CA" dirty="0"/>
            </a:br>
            <a:r>
              <a:rPr lang="en-CA" dirty="0"/>
              <a:t>How many English words do </a:t>
            </a:r>
            <a:r>
              <a:rPr lang="en-CA" b="1" dirty="0"/>
              <a:t>not</a:t>
            </a:r>
            <a:r>
              <a:rPr lang="en-CA" dirty="0"/>
              <a:t> have one of the vowels </a:t>
            </a:r>
            <a:r>
              <a:rPr lang="en-CA" i="1" dirty="0"/>
              <a:t>a</a:t>
            </a:r>
            <a:r>
              <a:rPr lang="en-CA" dirty="0"/>
              <a:t>, </a:t>
            </a:r>
            <a:r>
              <a:rPr lang="en-CA" i="1" dirty="0"/>
              <a:t>e</a:t>
            </a:r>
            <a:r>
              <a:rPr lang="en-CA" dirty="0"/>
              <a:t>, </a:t>
            </a:r>
            <a:r>
              <a:rPr lang="en-CA" i="1" dirty="0" err="1"/>
              <a:t>i</a:t>
            </a:r>
            <a:r>
              <a:rPr lang="en-CA" dirty="0"/>
              <a:t>, </a:t>
            </a:r>
            <a:r>
              <a:rPr lang="en-CA" i="1" dirty="0"/>
              <a:t>o</a:t>
            </a:r>
            <a:r>
              <a:rPr lang="en-CA" dirty="0"/>
              <a:t>, or </a:t>
            </a:r>
            <a:r>
              <a:rPr lang="en-CA" i="1" dirty="0"/>
              <a:t>u</a:t>
            </a:r>
            <a:r>
              <a:rPr lang="en-CA" dirty="0"/>
              <a:t>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403147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84EB4-8C96-1FC8-2F28-69BC6EBD0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CCD1E-2989-D4B5-6817-1C8461FAF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20B1D-3BBE-D1FE-A4DA-40E4AED2B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59</a:t>
            </a:fld>
            <a:endParaRPr lang="en-A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67ADA0-6150-A2CF-134F-45B537A162A2}"/>
              </a:ext>
            </a:extLst>
          </p:cNvPr>
          <p:cNvGrpSpPr/>
          <p:nvPr/>
        </p:nvGrpSpPr>
        <p:grpSpPr>
          <a:xfrm>
            <a:off x="245533" y="16079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E2FE1A7-EA45-0D56-2E7E-B7B55F94E224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9C7F3B3-8641-E1DA-6FF4-BC5DD39AA453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E0C15D7-CDA7-22C8-96B1-87E6B11A501F}"/>
              </a:ext>
            </a:extLst>
          </p:cNvPr>
          <p:cNvSpPr txBox="1"/>
          <p:nvPr/>
        </p:nvSpPr>
        <p:spPr>
          <a:xfrm>
            <a:off x="3445114" y="453746"/>
            <a:ext cx="834074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 = open('words.txt')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= 0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for line in </a:t>
            </a:r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not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has_vowel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(line)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+= 1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print(f'{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} words have no vowels')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C0A616-558E-6495-780F-F7C7E0A40087}"/>
              </a:ext>
            </a:extLst>
          </p:cNvPr>
          <p:cNvSpPr txBox="1"/>
          <p:nvPr/>
        </p:nvSpPr>
        <p:spPr>
          <a:xfrm>
            <a:off x="4856589" y="3676590"/>
            <a:ext cx="322395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by</a:t>
            </a:r>
          </a:p>
          <a:p>
            <a:r>
              <a:rPr lang="en-US" dirty="0" err="1">
                <a:latin typeface="Consolas" panose="020B0609020204030204" pitchFamily="49" charset="0"/>
              </a:rPr>
              <a:t>byrl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byrls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bys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...</a:t>
            </a:r>
          </a:p>
          <a:p>
            <a:r>
              <a:rPr lang="en-US" dirty="0">
                <a:latin typeface="Consolas" panose="020B0609020204030204" pitchFamily="49" charset="0"/>
              </a:rPr>
              <a:t>xylyl</a:t>
            </a:r>
          </a:p>
          <a:p>
            <a:r>
              <a:rPr lang="en-US" dirty="0" err="1">
                <a:latin typeface="Consolas" panose="020B0609020204030204" pitchFamily="49" charset="0"/>
              </a:rPr>
              <a:t>xylyls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xyst</a:t>
            </a:r>
          </a:p>
          <a:p>
            <a:r>
              <a:rPr lang="en-US" dirty="0">
                <a:latin typeface="Consolas" panose="020B0609020204030204" pitchFamily="49" charset="0"/>
              </a:rPr>
              <a:t>xysts</a:t>
            </a:r>
          </a:p>
          <a:p>
            <a:r>
              <a:rPr lang="en-US" dirty="0">
                <a:latin typeface="Consolas" panose="020B0609020204030204" pitchFamily="49" charset="0"/>
              </a:rPr>
              <a:t>107 words have no vowels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63B19F-5A29-4CB5-A7E1-E952F4AA73AE}"/>
              </a:ext>
            </a:extLst>
          </p:cNvPr>
          <p:cNvSpPr txBox="1"/>
          <p:nvPr/>
        </p:nvSpPr>
        <p:spPr>
          <a:xfrm>
            <a:off x="9055125" y="1192409"/>
            <a:ext cx="267121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Challenge</a:t>
            </a:r>
            <a:br>
              <a:rPr lang="en-CA" dirty="0"/>
            </a:br>
            <a:r>
              <a:rPr lang="en-CA" dirty="0"/>
              <a:t>How many English words do </a:t>
            </a:r>
            <a:r>
              <a:rPr lang="en-CA" b="1" dirty="0"/>
              <a:t>not</a:t>
            </a:r>
            <a:r>
              <a:rPr lang="en-CA" dirty="0"/>
              <a:t> have one of the vowels </a:t>
            </a:r>
            <a:r>
              <a:rPr lang="en-CA" i="1" dirty="0"/>
              <a:t>a</a:t>
            </a:r>
            <a:r>
              <a:rPr lang="en-CA" dirty="0"/>
              <a:t>, </a:t>
            </a:r>
            <a:r>
              <a:rPr lang="en-CA" i="1" dirty="0"/>
              <a:t>e</a:t>
            </a:r>
            <a:r>
              <a:rPr lang="en-CA" dirty="0"/>
              <a:t>, </a:t>
            </a:r>
            <a:r>
              <a:rPr lang="en-CA" i="1" dirty="0" err="1"/>
              <a:t>i</a:t>
            </a:r>
            <a:r>
              <a:rPr lang="en-CA" dirty="0"/>
              <a:t>, </a:t>
            </a:r>
            <a:r>
              <a:rPr lang="en-CA" i="1" dirty="0"/>
              <a:t>o</a:t>
            </a:r>
            <a:r>
              <a:rPr lang="en-CA" dirty="0"/>
              <a:t>, or </a:t>
            </a:r>
            <a:r>
              <a:rPr lang="en-CA" i="1" dirty="0"/>
              <a:t>u</a:t>
            </a:r>
            <a:r>
              <a:rPr lang="en-CA" dirty="0"/>
              <a:t>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428979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5B710-1EEE-2A87-84EC-F404BCE1D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07586-59A8-1E23-75F1-1171CF572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E0A67-D80A-A49F-E8B5-31FCB0B20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60</a:t>
            </a:fld>
            <a:endParaRPr lang="en-A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BD35E9D-7283-B1CE-6C04-94422BC8168D}"/>
              </a:ext>
            </a:extLst>
          </p:cNvPr>
          <p:cNvGrpSpPr/>
          <p:nvPr/>
        </p:nvGrpSpPr>
        <p:grpSpPr>
          <a:xfrm>
            <a:off x="245533" y="16079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F13F34D-3523-E387-C4D4-D0A33D99EB20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6CEB4FE-28B6-A7BE-8294-30C9528672B6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F8A2E4D-2FDA-E84B-3062-E14D6E2D3D84}"/>
              </a:ext>
            </a:extLst>
          </p:cNvPr>
          <p:cNvSpPr txBox="1"/>
          <p:nvPr/>
        </p:nvSpPr>
        <p:spPr>
          <a:xfrm>
            <a:off x="3445114" y="453746"/>
            <a:ext cx="834074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 = open('words.txt')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= 0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for line in </a:t>
            </a:r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not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has_vowel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(line)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+= 1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print(f'{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} words have no vowels')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9D8E8D-4627-1E24-14E9-52F5B49F0A17}"/>
              </a:ext>
            </a:extLst>
          </p:cNvPr>
          <p:cNvSpPr txBox="1"/>
          <p:nvPr/>
        </p:nvSpPr>
        <p:spPr>
          <a:xfrm>
            <a:off x="4856589" y="3676590"/>
            <a:ext cx="322395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by</a:t>
            </a:r>
          </a:p>
          <a:p>
            <a:r>
              <a:rPr lang="en-US" dirty="0" err="1">
                <a:latin typeface="Consolas" panose="020B0609020204030204" pitchFamily="49" charset="0"/>
              </a:rPr>
              <a:t>byrl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byrls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bys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...</a:t>
            </a:r>
          </a:p>
          <a:p>
            <a:r>
              <a:rPr lang="en-US" dirty="0">
                <a:latin typeface="Consolas" panose="020B0609020204030204" pitchFamily="49" charset="0"/>
              </a:rPr>
              <a:t>xylyl</a:t>
            </a:r>
          </a:p>
          <a:p>
            <a:r>
              <a:rPr lang="en-US" dirty="0" err="1">
                <a:latin typeface="Consolas" panose="020B0609020204030204" pitchFamily="49" charset="0"/>
              </a:rPr>
              <a:t>xylyls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xyst</a:t>
            </a:r>
          </a:p>
          <a:p>
            <a:r>
              <a:rPr lang="en-US" dirty="0">
                <a:latin typeface="Consolas" panose="020B0609020204030204" pitchFamily="49" charset="0"/>
              </a:rPr>
              <a:t>xysts</a:t>
            </a:r>
          </a:p>
          <a:p>
            <a:r>
              <a:rPr lang="en-US" dirty="0">
                <a:latin typeface="Consolas" panose="020B0609020204030204" pitchFamily="49" charset="0"/>
              </a:rPr>
              <a:t>107 words have no vowels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6D9749-AEAA-D3B1-92CB-45EBF0ED7911}"/>
              </a:ext>
            </a:extLst>
          </p:cNvPr>
          <p:cNvSpPr txBox="1"/>
          <p:nvPr/>
        </p:nvSpPr>
        <p:spPr>
          <a:xfrm>
            <a:off x="8877583" y="4470230"/>
            <a:ext cx="267121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Many of the output words have a </a:t>
            </a:r>
            <a:r>
              <a:rPr lang="en-CA" i="1" dirty="0"/>
              <a:t>y</a:t>
            </a:r>
            <a:r>
              <a:rPr lang="en-CA" dirty="0"/>
              <a:t>, which is </a:t>
            </a:r>
            <a:r>
              <a:rPr lang="en-CA" i="1" dirty="0"/>
              <a:t>sometimes</a:t>
            </a:r>
            <a:r>
              <a:rPr lang="en-CA" dirty="0"/>
              <a:t> a vowel. Let’s modify the code to exclude words with a </a:t>
            </a:r>
            <a:r>
              <a:rPr lang="en-CA" i="1" dirty="0"/>
              <a:t>y …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95AF86-EBF4-BA2B-153A-59787DFDBC5F}"/>
              </a:ext>
            </a:extLst>
          </p:cNvPr>
          <p:cNvSpPr txBox="1"/>
          <p:nvPr/>
        </p:nvSpPr>
        <p:spPr>
          <a:xfrm>
            <a:off x="9055125" y="1192409"/>
            <a:ext cx="267121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Challenge</a:t>
            </a:r>
            <a:br>
              <a:rPr lang="en-CA" dirty="0"/>
            </a:br>
            <a:r>
              <a:rPr lang="en-CA" dirty="0"/>
              <a:t>How many English words do </a:t>
            </a:r>
            <a:r>
              <a:rPr lang="en-CA" b="1" dirty="0"/>
              <a:t>not</a:t>
            </a:r>
            <a:r>
              <a:rPr lang="en-CA" dirty="0"/>
              <a:t> have one of the vowels </a:t>
            </a:r>
            <a:r>
              <a:rPr lang="en-CA" i="1" dirty="0"/>
              <a:t>a</a:t>
            </a:r>
            <a:r>
              <a:rPr lang="en-CA" dirty="0"/>
              <a:t>, </a:t>
            </a:r>
            <a:r>
              <a:rPr lang="en-CA" i="1" dirty="0"/>
              <a:t>e</a:t>
            </a:r>
            <a:r>
              <a:rPr lang="en-CA" dirty="0"/>
              <a:t>, </a:t>
            </a:r>
            <a:r>
              <a:rPr lang="en-CA" i="1" dirty="0" err="1"/>
              <a:t>i</a:t>
            </a:r>
            <a:r>
              <a:rPr lang="en-CA" dirty="0"/>
              <a:t>, </a:t>
            </a:r>
            <a:r>
              <a:rPr lang="en-CA" i="1" dirty="0"/>
              <a:t>o</a:t>
            </a:r>
            <a:r>
              <a:rPr lang="en-CA" dirty="0"/>
              <a:t>, or </a:t>
            </a:r>
            <a:r>
              <a:rPr lang="en-CA" i="1" dirty="0"/>
              <a:t>u</a:t>
            </a:r>
            <a:r>
              <a:rPr lang="en-CA" dirty="0"/>
              <a:t>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892896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64EEC-B9CF-4DBF-1141-F446DD325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C420A-D611-5A4A-4CFA-B7227C9B2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7624C-C8FC-EAF4-C512-855EE0449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61</a:t>
            </a:fld>
            <a:endParaRPr lang="en-A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05A1A62-5126-283C-7EC2-1F5F39EEBBC8}"/>
              </a:ext>
            </a:extLst>
          </p:cNvPr>
          <p:cNvGrpSpPr/>
          <p:nvPr/>
        </p:nvGrpSpPr>
        <p:grpSpPr>
          <a:xfrm>
            <a:off x="245533" y="16079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996183D-F817-5263-E5E7-A8193EFB9E7C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B5CCEA0-7725-4E56-9D1A-1BB903834375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3A2B347-EDD2-E307-EC69-E65F84FC2363}"/>
              </a:ext>
            </a:extLst>
          </p:cNvPr>
          <p:cNvSpPr txBox="1"/>
          <p:nvPr/>
        </p:nvSpPr>
        <p:spPr>
          <a:xfrm>
            <a:off x="3445114" y="453746"/>
            <a:ext cx="834074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 = open('words.txt’)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= 0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for line in </a:t>
            </a:r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'y' not in line and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not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has_vowel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(line)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+= 1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print(f'{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} words have no vowels')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33883-68BE-7862-3913-06AFBF15ED2C}"/>
              </a:ext>
            </a:extLst>
          </p:cNvPr>
          <p:cNvSpPr txBox="1"/>
          <p:nvPr/>
        </p:nvSpPr>
        <p:spPr>
          <a:xfrm>
            <a:off x="9114649" y="264449"/>
            <a:ext cx="267121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Many of the output words have a </a:t>
            </a:r>
            <a:r>
              <a:rPr lang="en-CA" i="1" dirty="0"/>
              <a:t>y</a:t>
            </a:r>
            <a:r>
              <a:rPr lang="en-CA" dirty="0"/>
              <a:t>, which is </a:t>
            </a:r>
            <a:r>
              <a:rPr lang="en-CA" i="1" dirty="0"/>
              <a:t>sometimes</a:t>
            </a:r>
            <a:r>
              <a:rPr lang="en-CA" dirty="0"/>
              <a:t> a vowel. Let’s modify the code to exclude words with a </a:t>
            </a:r>
            <a:r>
              <a:rPr lang="en-CA" i="1" dirty="0"/>
              <a:t>y</a:t>
            </a:r>
            <a:r>
              <a:rPr lang="en-CA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821237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44B5A-8D2A-E107-2522-61AA5E29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05584-6F38-C454-07B6-35648E95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Reading a</a:t>
            </a:r>
            <a:br>
              <a:rPr lang="en-CA" dirty="0"/>
            </a:br>
            <a:r>
              <a:rPr lang="en-CA" dirty="0"/>
              <a:t>word list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A8457-6B47-96CC-6893-043E7EC3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62</a:t>
            </a:fld>
            <a:endParaRPr lang="en-A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61E2B14-1FAE-77E0-8FB5-C5B2C0A87C9D}"/>
              </a:ext>
            </a:extLst>
          </p:cNvPr>
          <p:cNvGrpSpPr/>
          <p:nvPr/>
        </p:nvGrpSpPr>
        <p:grpSpPr>
          <a:xfrm>
            <a:off x="245533" y="1607908"/>
            <a:ext cx="2150534" cy="4339650"/>
            <a:chOff x="5765799" y="1074508"/>
            <a:chExt cx="2150534" cy="43396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CC45818-98BE-0346-75B1-95FAF7492392}"/>
                </a:ext>
              </a:extLst>
            </p:cNvPr>
            <p:cNvSpPr txBox="1"/>
            <p:nvPr/>
          </p:nvSpPr>
          <p:spPr>
            <a:xfrm>
              <a:off x="5765799" y="1443840"/>
              <a:ext cx="2150534" cy="39703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aa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aahed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aahing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aahs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aalii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...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 err="1">
                  <a:latin typeface="Consolas" panose="020B0609020204030204" pitchFamily="49" charset="0"/>
                </a:rPr>
                <a:t>zymosis</a:t>
              </a:r>
              <a:endParaRPr lang="en-US" dirty="0">
                <a:latin typeface="Consolas" panose="020B0609020204030204" pitchFamily="49" charset="0"/>
              </a:endParaRPr>
            </a:p>
            <a:p>
              <a:r>
                <a:rPr lang="en-US" dirty="0">
                  <a:latin typeface="Consolas" panose="020B0609020204030204" pitchFamily="49" charset="0"/>
                </a:rPr>
                <a:t>zymotic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zymurgies</a:t>
              </a:r>
            </a:p>
            <a:p>
              <a:r>
                <a:rPr lang="en-US" dirty="0">
                  <a:latin typeface="Consolas" panose="020B0609020204030204" pitchFamily="49" charset="0"/>
                </a:rPr>
                <a:t>zymurgy</a:t>
              </a:r>
              <a:endParaRPr lang="en-AU" dirty="0">
                <a:latin typeface="Consolas" panose="020B0609020204030204" pitchFamily="49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9339F81-62D1-1433-96DF-8521D85A285F}"/>
                </a:ext>
              </a:extLst>
            </p:cNvPr>
            <p:cNvSpPr txBox="1"/>
            <p:nvPr/>
          </p:nvSpPr>
          <p:spPr>
            <a:xfrm>
              <a:off x="6292229" y="1074508"/>
              <a:ext cx="1097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words.txt</a:t>
              </a:r>
              <a:endParaRPr lang="en-AU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7F0B1FC-F355-F902-BEEB-BD80E1B1E143}"/>
              </a:ext>
            </a:extLst>
          </p:cNvPr>
          <p:cNvSpPr txBox="1"/>
          <p:nvPr/>
        </p:nvSpPr>
        <p:spPr>
          <a:xfrm>
            <a:off x="3445114" y="453746"/>
            <a:ext cx="834074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 = open('</a:t>
            </a:r>
            <a:r>
              <a:rPr lang="en-US" sz="2400" dirty="0" err="1">
                <a:latin typeface="Consolas" panose="020B0609020204030204" pitchFamily="49" charset="0"/>
              </a:rPr>
              <a:t>words.txt</a:t>
            </a:r>
            <a:r>
              <a:rPr lang="en-US" sz="2400" dirty="0">
                <a:latin typeface="Consolas" panose="020B0609020204030204" pitchFamily="49" charset="0"/>
              </a:rPr>
              <a:t>')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= 0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for line in </a:t>
            </a:r>
            <a:r>
              <a:rPr lang="en-US" sz="2400" dirty="0" err="1">
                <a:latin typeface="Consolas" panose="020B0609020204030204" pitchFamily="49" charset="0"/>
              </a:rPr>
              <a:t>file_object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if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'y' not in line and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 not </a:t>
            </a:r>
            <a:r>
              <a:rPr lang="en-US" sz="2400" dirty="0" err="1">
                <a:solidFill>
                  <a:srgbClr val="00B050"/>
                </a:solidFill>
                <a:latin typeface="Consolas" panose="020B0609020204030204" pitchFamily="49" charset="0"/>
              </a:rPr>
              <a:t>has_vowel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</a:rPr>
              <a:t>(line)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      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 += 1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print(f'{</a:t>
            </a:r>
            <a:r>
              <a:rPr lang="en-US" sz="2400" dirty="0" err="1">
                <a:latin typeface="Consolas" panose="020B0609020204030204" pitchFamily="49" charset="0"/>
              </a:rPr>
              <a:t>non_vowel_words</a:t>
            </a:r>
            <a:r>
              <a:rPr lang="en-US" sz="2400" dirty="0">
                <a:latin typeface="Consolas" panose="020B0609020204030204" pitchFamily="49" charset="0"/>
              </a:rPr>
              <a:t>} words have no vowels')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167639-D3E4-14C5-7E95-58853E468C76}"/>
              </a:ext>
            </a:extLst>
          </p:cNvPr>
          <p:cNvSpPr txBox="1"/>
          <p:nvPr/>
        </p:nvSpPr>
        <p:spPr>
          <a:xfrm>
            <a:off x="5508523" y="3500734"/>
            <a:ext cx="2470548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crwth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crwths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cwm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cwms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nth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phpht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 err="1">
                <a:latin typeface="Consolas" panose="020B0609020204030204" pitchFamily="49" charset="0"/>
              </a:rPr>
              <a:t>pht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psst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sh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shh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tsk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tsks</a:t>
            </a:r>
          </a:p>
          <a:p>
            <a:r>
              <a:rPr lang="en-US" sz="1400" dirty="0" err="1">
                <a:latin typeface="Consolas" panose="020B0609020204030204" pitchFamily="49" charset="0"/>
              </a:rPr>
              <a:t>tsktsk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 err="1">
                <a:latin typeface="Consolas" panose="020B0609020204030204" pitchFamily="49" charset="0"/>
              </a:rPr>
              <a:t>tsktsks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14 words have no vowels</a:t>
            </a:r>
            <a:endParaRPr lang="en-AU" sz="1400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37F0CD-3BBF-5345-3848-D4091CA4440A}"/>
              </a:ext>
            </a:extLst>
          </p:cNvPr>
          <p:cNvSpPr txBox="1"/>
          <p:nvPr/>
        </p:nvSpPr>
        <p:spPr>
          <a:xfrm>
            <a:off x="9114649" y="264449"/>
            <a:ext cx="267121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Many of the output words have a </a:t>
            </a:r>
            <a:r>
              <a:rPr lang="en-CA" i="1" dirty="0"/>
              <a:t>y</a:t>
            </a:r>
            <a:r>
              <a:rPr lang="en-CA" dirty="0"/>
              <a:t>, which is </a:t>
            </a:r>
            <a:r>
              <a:rPr lang="en-CA" i="1" dirty="0"/>
              <a:t>sometimes</a:t>
            </a:r>
            <a:r>
              <a:rPr lang="en-CA" dirty="0"/>
              <a:t> a vowel. Let’s modify the code to exclude words with a </a:t>
            </a:r>
            <a:r>
              <a:rPr lang="en-CA" i="1" dirty="0"/>
              <a:t>y</a:t>
            </a:r>
            <a:r>
              <a:rPr lang="en-CA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2199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8F64C-53DA-0B51-1930-8EEB8A7DC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92FFC-5CB9-C98A-016B-FE0E459F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63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B40D96-75D6-074D-B316-82A330DB3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471" y="0"/>
            <a:ext cx="2715004" cy="40677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C78C06-CDC5-C135-D51A-3861BF414DFC}"/>
              </a:ext>
            </a:extLst>
          </p:cNvPr>
          <p:cNvSpPr txBox="1"/>
          <p:nvPr/>
        </p:nvSpPr>
        <p:spPr>
          <a:xfrm>
            <a:off x="971705" y="1146719"/>
            <a:ext cx="3304203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Spelling Bee </a:t>
            </a:r>
            <a:r>
              <a:rPr lang="en-US" dirty="0"/>
              <a:t>is a popular word game where you try to find as many words as you can that contain the letter P (and have more than 3 letters).</a:t>
            </a:r>
          </a:p>
        </p:txBody>
      </p:sp>
    </p:spTree>
    <p:extLst>
      <p:ext uri="{BB962C8B-B14F-4D97-AF65-F5344CB8AC3E}">
        <p14:creationId xmlns:p14="http://schemas.microsoft.com/office/powerpoint/2010/main" val="6393538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BC428-5D25-38A8-07A9-CCE5E29DE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64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60047A-A304-87AB-BAE0-7A9C899CF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471" y="0"/>
            <a:ext cx="2715004" cy="40677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B784FE-CE35-2203-2AE3-773A19BAF3BB}"/>
              </a:ext>
            </a:extLst>
          </p:cNvPr>
          <p:cNvSpPr txBox="1"/>
          <p:nvPr/>
        </p:nvSpPr>
        <p:spPr>
          <a:xfrm>
            <a:off x="275447" y="272916"/>
            <a:ext cx="3932485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word must use the center letter, </a:t>
            </a:r>
            <a:r>
              <a:rPr lang="en-CA" b="1" dirty="0"/>
              <a:t>P</a:t>
            </a:r>
            <a:r>
              <a:rPr lang="en-CA" dirty="0"/>
              <a:t> in this case</a:t>
            </a:r>
            <a:br>
              <a:rPr lang="en-CA" dirty="0"/>
            </a:br>
            <a:r>
              <a:rPr lang="en-CA" dirty="0"/>
              <a:t>e.g. </a:t>
            </a:r>
            <a:r>
              <a:rPr lang="en-CA" b="1" dirty="0">
                <a:solidFill>
                  <a:srgbClr val="FF0000"/>
                </a:solidFill>
              </a:rPr>
              <a:t>CHAT</a:t>
            </a:r>
            <a:r>
              <a:rPr lang="en-CA" dirty="0"/>
              <a:t> is invalid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Letters do </a:t>
            </a:r>
            <a:r>
              <a:rPr lang="en-CA" i="1" dirty="0"/>
              <a:t>not</a:t>
            </a:r>
            <a:r>
              <a:rPr lang="en-CA" dirty="0"/>
              <a:t> need to connect, e.g. </a:t>
            </a:r>
            <a:r>
              <a:rPr lang="en-CA" b="1" dirty="0"/>
              <a:t>CHAP</a:t>
            </a:r>
            <a:r>
              <a:rPr lang="en-CA" dirty="0"/>
              <a:t> is valid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Letters can repeat, e.g. </a:t>
            </a:r>
            <a:r>
              <a:rPr lang="en-CA" b="1" dirty="0"/>
              <a:t>TEEPEE</a:t>
            </a:r>
            <a:r>
              <a:rPr lang="en-CA" dirty="0"/>
              <a:t> is valid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AFF7AE-6FFF-20F5-E870-C30C5520DC04}"/>
              </a:ext>
            </a:extLst>
          </p:cNvPr>
          <p:cNvSpPr txBox="1"/>
          <p:nvPr/>
        </p:nvSpPr>
        <p:spPr>
          <a:xfrm>
            <a:off x="275447" y="3582154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Word Scoring</a:t>
            </a:r>
            <a:endParaRPr lang="en-CA" dirty="0"/>
          </a:p>
          <a:p>
            <a:r>
              <a:rPr lang="en-CA" dirty="0"/>
              <a:t>3 or fewer letters: 0 points</a:t>
            </a:r>
          </a:p>
          <a:p>
            <a:r>
              <a:rPr lang="en-CA" dirty="0"/>
              <a:t>4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</p:spTree>
    <p:extLst>
      <p:ext uri="{BB962C8B-B14F-4D97-AF65-F5344CB8AC3E}">
        <p14:creationId xmlns:p14="http://schemas.microsoft.com/office/powerpoint/2010/main" val="5540569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53FE8-72C1-8BCC-8660-BA8FEFB8B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FD436-83DB-0761-B904-FB0AC1D96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65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FEDA9A-967B-C30E-07F9-E338EECFE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471" y="0"/>
            <a:ext cx="2715004" cy="40677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D64FD1-09AE-4E43-3415-AD524177F795}"/>
              </a:ext>
            </a:extLst>
          </p:cNvPr>
          <p:cNvSpPr txBox="1"/>
          <p:nvPr/>
        </p:nvSpPr>
        <p:spPr>
          <a:xfrm>
            <a:off x="275447" y="272916"/>
            <a:ext cx="3932485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word must use the center letter, </a:t>
            </a:r>
            <a:r>
              <a:rPr lang="en-CA" b="1" dirty="0"/>
              <a:t>P</a:t>
            </a:r>
            <a:r>
              <a:rPr lang="en-CA" dirty="0"/>
              <a:t> in this case</a:t>
            </a:r>
            <a:br>
              <a:rPr lang="en-CA" dirty="0"/>
            </a:br>
            <a:r>
              <a:rPr lang="en-CA" dirty="0"/>
              <a:t>e.g. </a:t>
            </a:r>
            <a:r>
              <a:rPr lang="en-CA" b="1" dirty="0">
                <a:solidFill>
                  <a:srgbClr val="FF0000"/>
                </a:solidFill>
              </a:rPr>
              <a:t>CHAT</a:t>
            </a:r>
            <a:r>
              <a:rPr lang="en-CA" dirty="0"/>
              <a:t> is invalid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Letters do </a:t>
            </a:r>
            <a:r>
              <a:rPr lang="en-CA" i="1" dirty="0"/>
              <a:t>not</a:t>
            </a:r>
            <a:r>
              <a:rPr lang="en-CA" dirty="0"/>
              <a:t> need to connect, e.g. </a:t>
            </a:r>
            <a:r>
              <a:rPr lang="en-CA" b="1" dirty="0"/>
              <a:t>CHAP</a:t>
            </a:r>
            <a:r>
              <a:rPr lang="en-CA" dirty="0"/>
              <a:t> is valid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Letters can repeat, e.g. </a:t>
            </a:r>
            <a:r>
              <a:rPr lang="en-CA" b="1" dirty="0"/>
              <a:t>TEEPEE</a:t>
            </a:r>
            <a:r>
              <a:rPr lang="en-CA" dirty="0"/>
              <a:t> is valid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EC8680-9BE8-C661-0A01-5EEA5EF4FFD9}"/>
              </a:ext>
            </a:extLst>
          </p:cNvPr>
          <p:cNvSpPr txBox="1"/>
          <p:nvPr/>
        </p:nvSpPr>
        <p:spPr>
          <a:xfrm>
            <a:off x="9210014" y="136525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FA35C1-C330-2694-3B2C-09F9346EC6EB}"/>
              </a:ext>
            </a:extLst>
          </p:cNvPr>
          <p:cNvSpPr txBox="1"/>
          <p:nvPr/>
        </p:nvSpPr>
        <p:spPr>
          <a:xfrm>
            <a:off x="275447" y="3582154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Word Scoring</a:t>
            </a:r>
            <a:endParaRPr lang="en-CA" dirty="0"/>
          </a:p>
          <a:p>
            <a:r>
              <a:rPr lang="en-CA" dirty="0"/>
              <a:t>3 or fewer letters: 0 points</a:t>
            </a:r>
          </a:p>
          <a:p>
            <a:r>
              <a:rPr lang="en-CA" dirty="0"/>
              <a:t>4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</p:spTree>
    <p:extLst>
      <p:ext uri="{BB962C8B-B14F-4D97-AF65-F5344CB8AC3E}">
        <p14:creationId xmlns:p14="http://schemas.microsoft.com/office/powerpoint/2010/main" val="11536585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0C0DF-391C-FF4D-2746-4A8EA13BE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A7259-C30C-42B6-FC37-CA18BC55A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66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95327E-4043-046E-E4C0-C2B3E8006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34E2B2-4798-5B0E-D023-723599DEB4D0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5E9AE4-A71D-D55A-E235-33328B96C5C6}"/>
              </a:ext>
            </a:extLst>
          </p:cNvPr>
          <p:cNvSpPr txBox="1"/>
          <p:nvPr/>
        </p:nvSpPr>
        <p:spPr>
          <a:xfrm>
            <a:off x="143641" y="136525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Word Scoring</a:t>
            </a:r>
            <a:endParaRPr lang="en-CA" dirty="0"/>
          </a:p>
          <a:p>
            <a:r>
              <a:rPr lang="en-CA" dirty="0"/>
              <a:t>3 or fewer letters: 0 points</a:t>
            </a:r>
          </a:p>
          <a:p>
            <a:r>
              <a:rPr lang="en-CA" dirty="0"/>
              <a:t>4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39832-25B9-B678-FC28-155BA30DF887}"/>
              </a:ext>
            </a:extLst>
          </p:cNvPr>
          <p:cNvSpPr txBox="1"/>
          <p:nvPr/>
        </p:nvSpPr>
        <p:spPr>
          <a:xfrm>
            <a:off x="4718564" y="1688757"/>
            <a:ext cx="61366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word_score</a:t>
            </a:r>
            <a:r>
              <a:rPr lang="en-US" dirty="0">
                <a:latin typeface="Consolas" panose="020B0609020204030204" pitchFamily="49" charset="0"/>
              </a:rPr>
              <a:t>(word, required,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</a:rPr>
              <a:t>    # ...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0EB34F-4A9C-6695-0C13-AF24407D9D68}"/>
              </a:ext>
            </a:extLst>
          </p:cNvPr>
          <p:cNvSpPr txBox="1"/>
          <p:nvPr/>
        </p:nvSpPr>
        <p:spPr>
          <a:xfrm>
            <a:off x="5805421" y="513806"/>
            <a:ext cx="304248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Let’s make a functions that scores a word for a puzzle …</a:t>
            </a:r>
          </a:p>
        </p:txBody>
      </p:sp>
    </p:spTree>
    <p:extLst>
      <p:ext uri="{BB962C8B-B14F-4D97-AF65-F5344CB8AC3E}">
        <p14:creationId xmlns:p14="http://schemas.microsoft.com/office/powerpoint/2010/main" val="40704847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CF6DD-0493-FD18-A39E-AC50D764C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6DF83-B3C6-20CF-A450-02B140E6E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67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278365-A528-1A2B-8A2D-7D6B07EC4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D2C4CE-EF9D-7D7C-F215-DB9BBAA51D94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BE07DC-CE31-C9E2-9195-1C1F6E45EA04}"/>
              </a:ext>
            </a:extLst>
          </p:cNvPr>
          <p:cNvSpPr txBox="1"/>
          <p:nvPr/>
        </p:nvSpPr>
        <p:spPr>
          <a:xfrm>
            <a:off x="143641" y="136525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Word Scoring</a:t>
            </a:r>
            <a:endParaRPr lang="en-CA" dirty="0"/>
          </a:p>
          <a:p>
            <a:r>
              <a:rPr lang="en-CA" dirty="0"/>
              <a:t>3 or fewer letters: 0 points</a:t>
            </a:r>
          </a:p>
          <a:p>
            <a:r>
              <a:rPr lang="en-CA" dirty="0"/>
              <a:t>4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89AB87-3121-23F0-0463-F8C1A29D8FBE}"/>
              </a:ext>
            </a:extLst>
          </p:cNvPr>
          <p:cNvSpPr txBox="1"/>
          <p:nvPr/>
        </p:nvSpPr>
        <p:spPr>
          <a:xfrm>
            <a:off x="4718564" y="1688757"/>
            <a:ext cx="61366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word_score</a:t>
            </a:r>
            <a:r>
              <a:rPr lang="en-US" dirty="0">
                <a:latin typeface="Consolas" panose="020B0609020204030204" pitchFamily="49" charset="0"/>
              </a:rPr>
              <a:t>(word, required,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</a:rPr>
              <a:t>    # ...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1D3AD-C0F4-2F7F-6180-2B2B74CA452B}"/>
              </a:ext>
            </a:extLst>
          </p:cNvPr>
          <p:cNvSpPr txBox="1"/>
          <p:nvPr/>
        </p:nvSpPr>
        <p:spPr>
          <a:xfrm>
            <a:off x="7959605" y="317810"/>
            <a:ext cx="14232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required letter: </a:t>
            </a:r>
            <a:r>
              <a:rPr lang="en-CA" b="1" dirty="0"/>
              <a:t>P</a:t>
            </a:r>
            <a:r>
              <a:rPr lang="en-CA" dirty="0"/>
              <a:t>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8D3CC5-8775-F526-D9D1-11CEB3718C0C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8301253" y="964141"/>
            <a:ext cx="369999" cy="724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12C52C1-AEFB-1DC7-C14A-83EF7C6BBF02}"/>
              </a:ext>
            </a:extLst>
          </p:cNvPr>
          <p:cNvSpPr txBox="1"/>
          <p:nvPr/>
        </p:nvSpPr>
        <p:spPr>
          <a:xfrm>
            <a:off x="10097324" y="247788"/>
            <a:ext cx="142329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All seven letters: </a:t>
            </a:r>
            <a:r>
              <a:rPr lang="en-CA" b="1" dirty="0"/>
              <a:t>CIHPETA</a:t>
            </a:r>
            <a:r>
              <a:rPr lang="en-CA" dirty="0"/>
              <a:t>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AFDCDF-EA77-D50B-5546-F2BF17791BAB}"/>
              </a:ext>
            </a:extLst>
          </p:cNvPr>
          <p:cNvCxnSpPr>
            <a:cxnSpLocks/>
          </p:cNvCxnSpPr>
          <p:nvPr/>
        </p:nvCxnSpPr>
        <p:spPr>
          <a:xfrm flipH="1">
            <a:off x="9646508" y="1171118"/>
            <a:ext cx="448039" cy="517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0412E4F-1C6C-6540-B65A-E12DA0CBC160}"/>
              </a:ext>
            </a:extLst>
          </p:cNvPr>
          <p:cNvSpPr txBox="1"/>
          <p:nvPr/>
        </p:nvSpPr>
        <p:spPr>
          <a:xfrm>
            <a:off x="5031083" y="386287"/>
            <a:ext cx="156599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word we want to score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4A0783D-383D-064E-25B7-12E9207BFC1E}"/>
              </a:ext>
            </a:extLst>
          </p:cNvPr>
          <p:cNvCxnSpPr>
            <a:cxnSpLocks/>
          </p:cNvCxnSpPr>
          <p:nvPr/>
        </p:nvCxnSpPr>
        <p:spPr>
          <a:xfrm>
            <a:off x="6597074" y="1032618"/>
            <a:ext cx="283857" cy="722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7247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C3725-9294-2BA0-EDCF-898B49928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7874A-2A81-94D6-EECC-9BCEF877E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68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CE94B3-E5C9-8A44-51C4-CD2D5F0D7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AB0E38-0978-3089-9D35-9931C0122FA5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66B6E3-4C31-0452-2F0E-A3268EEF8A08}"/>
              </a:ext>
            </a:extLst>
          </p:cNvPr>
          <p:cNvSpPr txBox="1"/>
          <p:nvPr/>
        </p:nvSpPr>
        <p:spPr>
          <a:xfrm>
            <a:off x="143641" y="136525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Word Scoring</a:t>
            </a:r>
            <a:endParaRPr lang="en-CA" dirty="0"/>
          </a:p>
          <a:p>
            <a:r>
              <a:rPr lang="en-CA" dirty="0"/>
              <a:t>3 or fewer letters: 0 points</a:t>
            </a:r>
          </a:p>
          <a:p>
            <a:r>
              <a:rPr lang="en-CA" dirty="0"/>
              <a:t>4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73B17-212E-B453-2887-9DA356577476}"/>
              </a:ext>
            </a:extLst>
          </p:cNvPr>
          <p:cNvSpPr txBox="1"/>
          <p:nvPr/>
        </p:nvSpPr>
        <p:spPr>
          <a:xfrm>
            <a:off x="4718564" y="1688757"/>
            <a:ext cx="752962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word_score</a:t>
            </a:r>
            <a:r>
              <a:rPr lang="en-US" dirty="0">
                <a:latin typeface="Consolas" panose="020B0609020204030204" pitchFamily="49" charset="0"/>
              </a:rPr>
              <a:t>(word, required,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</a:rPr>
              <a:t>    if required not in word or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&lt; 4: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for c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c not in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+ </a:t>
            </a:r>
            <a:r>
              <a:rPr lang="en-US" dirty="0" err="1">
                <a:latin typeface="Consolas" panose="020B0609020204030204" pitchFamily="49" charset="0"/>
              </a:rPr>
              <a:t>pangram_bonus</a:t>
            </a:r>
            <a:r>
              <a:rPr lang="en-US" dirty="0">
                <a:latin typeface="Consolas" panose="020B0609020204030204" pitchFamily="49" charset="0"/>
              </a:rPr>
              <a:t>(word,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787A68-59CA-93DD-DBFA-C9DF5771E6F2}"/>
              </a:ext>
            </a:extLst>
          </p:cNvPr>
          <p:cNvSpPr txBox="1"/>
          <p:nvPr/>
        </p:nvSpPr>
        <p:spPr>
          <a:xfrm>
            <a:off x="7959605" y="317810"/>
            <a:ext cx="14232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required letter: </a:t>
            </a:r>
            <a:r>
              <a:rPr lang="en-CA" b="1" dirty="0"/>
              <a:t>P</a:t>
            </a:r>
            <a:r>
              <a:rPr lang="en-CA" dirty="0"/>
              <a:t>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9565012-8E01-FE4C-B2E2-F7DCDCDACE72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8301253" y="964141"/>
            <a:ext cx="369999" cy="724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E5C70A3-2434-A125-39DF-79F65A2CBF71}"/>
              </a:ext>
            </a:extLst>
          </p:cNvPr>
          <p:cNvSpPr txBox="1"/>
          <p:nvPr/>
        </p:nvSpPr>
        <p:spPr>
          <a:xfrm>
            <a:off x="10097324" y="247788"/>
            <a:ext cx="142329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All seven letters: </a:t>
            </a:r>
            <a:r>
              <a:rPr lang="en-CA" b="1" dirty="0"/>
              <a:t>CIHPETA</a:t>
            </a:r>
            <a:r>
              <a:rPr lang="en-CA" dirty="0"/>
              <a:t>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036FE6-2080-A618-788D-0DDFB927A9B9}"/>
              </a:ext>
            </a:extLst>
          </p:cNvPr>
          <p:cNvCxnSpPr>
            <a:cxnSpLocks/>
          </p:cNvCxnSpPr>
          <p:nvPr/>
        </p:nvCxnSpPr>
        <p:spPr>
          <a:xfrm flipH="1">
            <a:off x="9646508" y="1171118"/>
            <a:ext cx="448039" cy="517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2045CE1-98D1-19B5-0120-2ED6E5EF3C55}"/>
              </a:ext>
            </a:extLst>
          </p:cNvPr>
          <p:cNvSpPr txBox="1"/>
          <p:nvPr/>
        </p:nvSpPr>
        <p:spPr>
          <a:xfrm>
            <a:off x="5031083" y="386287"/>
            <a:ext cx="156599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word we want to score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49F888-4E13-1A6E-5C6A-1DCF6FE9C14B}"/>
              </a:ext>
            </a:extLst>
          </p:cNvPr>
          <p:cNvCxnSpPr>
            <a:cxnSpLocks/>
          </p:cNvCxnSpPr>
          <p:nvPr/>
        </p:nvCxnSpPr>
        <p:spPr>
          <a:xfrm>
            <a:off x="6597074" y="1032618"/>
            <a:ext cx="283857" cy="722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213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81CFF-781E-EFEE-7AE5-B21BFD8B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AC66A44-560B-8BFA-02DA-5682F9C14FCC}"/>
              </a:ext>
            </a:extLst>
          </p:cNvPr>
          <p:cNvSpPr txBox="1"/>
          <p:nvPr/>
        </p:nvSpPr>
        <p:spPr>
          <a:xfrm>
            <a:off x="4718564" y="1688757"/>
            <a:ext cx="752962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word_score</a:t>
            </a:r>
            <a:r>
              <a:rPr lang="en-US" dirty="0">
                <a:latin typeface="Consolas" panose="020B0609020204030204" pitchFamily="49" charset="0"/>
              </a:rPr>
              <a:t>(word, required,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</a:rPr>
              <a:t>    if required not in word or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&lt; 4: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for c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c not in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+ </a:t>
            </a:r>
            <a:r>
              <a:rPr lang="en-US" dirty="0" err="1">
                <a:latin typeface="Consolas" panose="020B0609020204030204" pitchFamily="49" charset="0"/>
              </a:rPr>
              <a:t>pangram_bonus</a:t>
            </a:r>
            <a:r>
              <a:rPr lang="en-US" dirty="0">
                <a:latin typeface="Consolas" panose="020B0609020204030204" pitchFamily="49" charset="0"/>
              </a:rPr>
              <a:t>(word,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80F20-F83B-3C5B-E283-4394EF4AD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69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544BAB-5389-CD0A-CD81-F6D34C069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EFC904-0C5A-2E40-2C5E-3342051E25B3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8030AF-790D-3684-DF4E-062503483DE0}"/>
              </a:ext>
            </a:extLst>
          </p:cNvPr>
          <p:cNvSpPr txBox="1"/>
          <p:nvPr/>
        </p:nvSpPr>
        <p:spPr>
          <a:xfrm>
            <a:off x="143641" y="136525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Word Scoring</a:t>
            </a:r>
            <a:endParaRPr lang="en-CA" dirty="0"/>
          </a:p>
          <a:p>
            <a:r>
              <a:rPr lang="en-CA" dirty="0"/>
              <a:t>3 or fewer letters: 0 points</a:t>
            </a:r>
          </a:p>
          <a:p>
            <a:r>
              <a:rPr lang="en-CA" dirty="0"/>
              <a:t>4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98E940-4951-D9A2-84A7-78769ADB4710}"/>
              </a:ext>
            </a:extLst>
          </p:cNvPr>
          <p:cNvSpPr txBox="1"/>
          <p:nvPr/>
        </p:nvSpPr>
        <p:spPr>
          <a:xfrm>
            <a:off x="9272079" y="2581584"/>
            <a:ext cx="244909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If the word is too short, or does not contain </a:t>
            </a:r>
            <a:r>
              <a:rPr lang="en-CA" b="1" dirty="0"/>
              <a:t>P</a:t>
            </a:r>
            <a:r>
              <a:rPr lang="en-CA" dirty="0"/>
              <a:t>, the score is 0.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272470-CA87-89FE-B3B5-6B4118379D1C}"/>
              </a:ext>
            </a:extLst>
          </p:cNvPr>
          <p:cNvSpPr/>
          <p:nvPr/>
        </p:nvSpPr>
        <p:spPr>
          <a:xfrm>
            <a:off x="5298552" y="2019335"/>
            <a:ext cx="5198076" cy="5176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4E586D-12EB-413A-80A3-8CB44A6F0F3E}"/>
              </a:ext>
            </a:extLst>
          </p:cNvPr>
          <p:cNvSpPr txBox="1"/>
          <p:nvPr/>
        </p:nvSpPr>
        <p:spPr>
          <a:xfrm>
            <a:off x="7959605" y="317810"/>
            <a:ext cx="14232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required letter: </a:t>
            </a:r>
            <a:r>
              <a:rPr lang="en-CA" b="1" dirty="0"/>
              <a:t>P</a:t>
            </a:r>
            <a:r>
              <a:rPr lang="en-CA" dirty="0"/>
              <a:t>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A55F8F-98FB-C936-4C9C-BB21CA369EB0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8301253" y="964141"/>
            <a:ext cx="369999" cy="724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0C96747-79A2-7849-1169-3000FE289C41}"/>
              </a:ext>
            </a:extLst>
          </p:cNvPr>
          <p:cNvSpPr txBox="1"/>
          <p:nvPr/>
        </p:nvSpPr>
        <p:spPr>
          <a:xfrm>
            <a:off x="10097324" y="247788"/>
            <a:ext cx="142329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All seven letters: </a:t>
            </a:r>
            <a:r>
              <a:rPr lang="en-CA" b="1" dirty="0"/>
              <a:t>CIHPETA</a:t>
            </a:r>
            <a:r>
              <a:rPr lang="en-CA" dirty="0"/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9CEFFF-BA04-71D5-29F1-C5CF480C7084}"/>
              </a:ext>
            </a:extLst>
          </p:cNvPr>
          <p:cNvCxnSpPr>
            <a:cxnSpLocks/>
          </p:cNvCxnSpPr>
          <p:nvPr/>
        </p:nvCxnSpPr>
        <p:spPr>
          <a:xfrm flipH="1">
            <a:off x="9646508" y="1171118"/>
            <a:ext cx="448039" cy="517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EBC4A0B-E1A3-2BA8-94CD-A78E294D68F3}"/>
              </a:ext>
            </a:extLst>
          </p:cNvPr>
          <p:cNvSpPr txBox="1"/>
          <p:nvPr/>
        </p:nvSpPr>
        <p:spPr>
          <a:xfrm>
            <a:off x="5031083" y="386287"/>
            <a:ext cx="156599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word we want to score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362BEB2-D4E5-5134-B259-D0FB53B7FDD3}"/>
              </a:ext>
            </a:extLst>
          </p:cNvPr>
          <p:cNvCxnSpPr>
            <a:cxnSpLocks/>
          </p:cNvCxnSpPr>
          <p:nvPr/>
        </p:nvCxnSpPr>
        <p:spPr>
          <a:xfrm>
            <a:off x="6597074" y="1032618"/>
            <a:ext cx="283857" cy="722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7559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D992F-9296-3F98-F403-A5D07A2A8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1006462-9941-5204-4860-72F9C8680662}"/>
              </a:ext>
            </a:extLst>
          </p:cNvPr>
          <p:cNvSpPr txBox="1"/>
          <p:nvPr/>
        </p:nvSpPr>
        <p:spPr>
          <a:xfrm>
            <a:off x="4718564" y="1688757"/>
            <a:ext cx="752962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word_score</a:t>
            </a:r>
            <a:r>
              <a:rPr lang="en-US" dirty="0">
                <a:latin typeface="Consolas" panose="020B0609020204030204" pitchFamily="49" charset="0"/>
              </a:rPr>
              <a:t>(word, required,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</a:rPr>
              <a:t>    if required not in word or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&lt; 4: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for c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c not in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+ </a:t>
            </a:r>
            <a:r>
              <a:rPr lang="en-US" dirty="0" err="1">
                <a:latin typeface="Consolas" panose="020B0609020204030204" pitchFamily="49" charset="0"/>
              </a:rPr>
              <a:t>pangram_bonus</a:t>
            </a:r>
            <a:r>
              <a:rPr lang="en-US" dirty="0">
                <a:latin typeface="Consolas" panose="020B0609020204030204" pitchFamily="49" charset="0"/>
              </a:rPr>
              <a:t>(word,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FBC6D-5E6E-846D-5C64-8366DC1C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70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6EC55B-910F-1B08-1C8D-E4E8A02BE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71D6ED-5B86-AA30-55D2-C50B8288CAF4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1C8DF3-2971-622F-9543-527C2EBB5F0E}"/>
              </a:ext>
            </a:extLst>
          </p:cNvPr>
          <p:cNvSpPr txBox="1"/>
          <p:nvPr/>
        </p:nvSpPr>
        <p:spPr>
          <a:xfrm>
            <a:off x="143641" y="136525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Word Scoring</a:t>
            </a:r>
            <a:endParaRPr lang="en-CA" dirty="0"/>
          </a:p>
          <a:p>
            <a:r>
              <a:rPr lang="en-CA" dirty="0"/>
              <a:t>3 or fewer letters: 0 points</a:t>
            </a:r>
          </a:p>
          <a:p>
            <a:r>
              <a:rPr lang="en-CA" dirty="0"/>
              <a:t>4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B688F5-CBE0-8FBD-B6C7-6B21664493F1}"/>
              </a:ext>
            </a:extLst>
          </p:cNvPr>
          <p:cNvSpPr txBox="1"/>
          <p:nvPr/>
        </p:nvSpPr>
        <p:spPr>
          <a:xfrm>
            <a:off x="9752664" y="2537182"/>
            <a:ext cx="211261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If the word has letters not in the puzzle, it gets 0.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BBBC06-819D-D710-12A4-73A5BFFCF9E2}"/>
              </a:ext>
            </a:extLst>
          </p:cNvPr>
          <p:cNvSpPr/>
          <p:nvPr/>
        </p:nvSpPr>
        <p:spPr>
          <a:xfrm>
            <a:off x="5240077" y="2748265"/>
            <a:ext cx="4008700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4AAE55-5405-EFFC-E1B6-EEDE8DCD3E8D}"/>
              </a:ext>
            </a:extLst>
          </p:cNvPr>
          <p:cNvSpPr txBox="1"/>
          <p:nvPr/>
        </p:nvSpPr>
        <p:spPr>
          <a:xfrm>
            <a:off x="7959605" y="317810"/>
            <a:ext cx="14232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required letter: </a:t>
            </a:r>
            <a:r>
              <a:rPr lang="en-CA" b="1" dirty="0"/>
              <a:t>P</a:t>
            </a:r>
            <a:r>
              <a:rPr lang="en-CA" dirty="0"/>
              <a:t>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B54C31D-C47A-5BE0-5F8D-77BD00EFEAAB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8301253" y="964141"/>
            <a:ext cx="369999" cy="724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38FEFBE-E8F5-6212-3680-0C60E1086252}"/>
              </a:ext>
            </a:extLst>
          </p:cNvPr>
          <p:cNvSpPr txBox="1"/>
          <p:nvPr/>
        </p:nvSpPr>
        <p:spPr>
          <a:xfrm>
            <a:off x="10097324" y="247788"/>
            <a:ext cx="142329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All seven letters: </a:t>
            </a:r>
            <a:r>
              <a:rPr lang="en-CA" b="1" dirty="0"/>
              <a:t>CIHPETA</a:t>
            </a:r>
            <a:r>
              <a:rPr lang="en-CA" dirty="0"/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3345EA4-DE84-FF1F-2A55-5D3B139D7971}"/>
              </a:ext>
            </a:extLst>
          </p:cNvPr>
          <p:cNvCxnSpPr>
            <a:cxnSpLocks/>
          </p:cNvCxnSpPr>
          <p:nvPr/>
        </p:nvCxnSpPr>
        <p:spPr>
          <a:xfrm flipH="1">
            <a:off x="9646508" y="1171118"/>
            <a:ext cx="448039" cy="517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F2B426C-4B5F-B6BE-0013-944ECFAEFB56}"/>
              </a:ext>
            </a:extLst>
          </p:cNvPr>
          <p:cNvSpPr txBox="1"/>
          <p:nvPr/>
        </p:nvSpPr>
        <p:spPr>
          <a:xfrm>
            <a:off x="5031083" y="386287"/>
            <a:ext cx="156599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word we want to score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09DA0BF-EC22-E636-78D5-24E7FF0A1B5F}"/>
              </a:ext>
            </a:extLst>
          </p:cNvPr>
          <p:cNvCxnSpPr>
            <a:cxnSpLocks/>
          </p:cNvCxnSpPr>
          <p:nvPr/>
        </p:nvCxnSpPr>
        <p:spPr>
          <a:xfrm>
            <a:off x="6597074" y="1032618"/>
            <a:ext cx="283857" cy="722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8058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56D79-6529-FDAD-CB6F-15260D624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3F4B653-A754-C226-69EF-14B44F8FF672}"/>
              </a:ext>
            </a:extLst>
          </p:cNvPr>
          <p:cNvSpPr txBox="1"/>
          <p:nvPr/>
        </p:nvSpPr>
        <p:spPr>
          <a:xfrm>
            <a:off x="4718564" y="1688757"/>
            <a:ext cx="752962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word_score</a:t>
            </a:r>
            <a:r>
              <a:rPr lang="en-US" dirty="0">
                <a:latin typeface="Consolas" panose="020B0609020204030204" pitchFamily="49" charset="0"/>
              </a:rPr>
              <a:t>(word, required,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</a:rPr>
              <a:t>    if required not in word or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&lt; 4: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for c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c not in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+ </a:t>
            </a:r>
            <a:r>
              <a:rPr lang="en-US" dirty="0" err="1">
                <a:latin typeface="Consolas" panose="020B0609020204030204" pitchFamily="49" charset="0"/>
              </a:rPr>
              <a:t>pangram_bonus</a:t>
            </a:r>
            <a:r>
              <a:rPr lang="en-US" dirty="0">
                <a:latin typeface="Consolas" panose="020B0609020204030204" pitchFamily="49" charset="0"/>
              </a:rPr>
              <a:t>(word,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A84F9-3F1F-203B-38AF-A06D63E9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71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23068E-7150-258B-A077-E819ECB84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86945A-0C24-BC56-D418-E2C0A501C7CB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2D6FC1-4595-2ED0-305A-9CAD4AC0995D}"/>
              </a:ext>
            </a:extLst>
          </p:cNvPr>
          <p:cNvSpPr txBox="1"/>
          <p:nvPr/>
        </p:nvSpPr>
        <p:spPr>
          <a:xfrm>
            <a:off x="143641" y="136525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Word Scoring</a:t>
            </a:r>
            <a:endParaRPr lang="en-CA" dirty="0"/>
          </a:p>
          <a:p>
            <a:r>
              <a:rPr lang="en-CA" dirty="0"/>
              <a:t>3 or fewer letters: 0 points</a:t>
            </a:r>
          </a:p>
          <a:p>
            <a:r>
              <a:rPr lang="en-CA" dirty="0"/>
              <a:t>4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AD8FBE-0821-ADF3-3C3E-D20D83F36C86}"/>
              </a:ext>
            </a:extLst>
          </p:cNvPr>
          <p:cNvSpPr txBox="1"/>
          <p:nvPr/>
        </p:nvSpPr>
        <p:spPr>
          <a:xfrm>
            <a:off x="6597074" y="4468554"/>
            <a:ext cx="352839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If the code gets to this point, the score is the number of letters plus the pangram bonus 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2F2F70-61F3-6D30-823C-4300AB1FE4D1}"/>
              </a:ext>
            </a:extLst>
          </p:cNvPr>
          <p:cNvSpPr/>
          <p:nvPr/>
        </p:nvSpPr>
        <p:spPr>
          <a:xfrm>
            <a:off x="5231839" y="3868389"/>
            <a:ext cx="6886019" cy="405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789CFE-BEA0-18AF-8E67-657595B572D8}"/>
              </a:ext>
            </a:extLst>
          </p:cNvPr>
          <p:cNvSpPr txBox="1"/>
          <p:nvPr/>
        </p:nvSpPr>
        <p:spPr>
          <a:xfrm>
            <a:off x="7959605" y="317810"/>
            <a:ext cx="14232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required letter: </a:t>
            </a:r>
            <a:r>
              <a:rPr lang="en-CA" b="1" dirty="0"/>
              <a:t>P</a:t>
            </a:r>
            <a:r>
              <a:rPr lang="en-CA" dirty="0"/>
              <a:t>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74FDA1-CE14-CD61-AC2D-B3266E283D80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8301253" y="964141"/>
            <a:ext cx="369999" cy="724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4DB4B91-4213-FFD8-A270-45DBFE17565C}"/>
              </a:ext>
            </a:extLst>
          </p:cNvPr>
          <p:cNvSpPr txBox="1"/>
          <p:nvPr/>
        </p:nvSpPr>
        <p:spPr>
          <a:xfrm>
            <a:off x="10097324" y="247788"/>
            <a:ext cx="142329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All seven letters: </a:t>
            </a:r>
            <a:r>
              <a:rPr lang="en-CA" b="1" dirty="0"/>
              <a:t>CIHPETA</a:t>
            </a:r>
            <a:r>
              <a:rPr lang="en-CA" dirty="0"/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5304F35-F512-8548-58C8-EEBBC4457707}"/>
              </a:ext>
            </a:extLst>
          </p:cNvPr>
          <p:cNvCxnSpPr>
            <a:cxnSpLocks/>
          </p:cNvCxnSpPr>
          <p:nvPr/>
        </p:nvCxnSpPr>
        <p:spPr>
          <a:xfrm flipH="1">
            <a:off x="9646508" y="1171118"/>
            <a:ext cx="448039" cy="517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A09B79E-4F53-9E36-9F37-E71ABF8E9E1D}"/>
              </a:ext>
            </a:extLst>
          </p:cNvPr>
          <p:cNvSpPr txBox="1"/>
          <p:nvPr/>
        </p:nvSpPr>
        <p:spPr>
          <a:xfrm>
            <a:off x="5031083" y="386287"/>
            <a:ext cx="156599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word we want to score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58D74C-BED5-53CF-6051-CC97DDED459B}"/>
              </a:ext>
            </a:extLst>
          </p:cNvPr>
          <p:cNvCxnSpPr>
            <a:cxnSpLocks/>
          </p:cNvCxnSpPr>
          <p:nvPr/>
        </p:nvCxnSpPr>
        <p:spPr>
          <a:xfrm>
            <a:off x="6597074" y="1032618"/>
            <a:ext cx="283857" cy="722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71990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65B75-91D5-ECAC-003D-8F1A33B9D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E7B6826-0853-7587-6564-CFAF19DAA755}"/>
              </a:ext>
            </a:extLst>
          </p:cNvPr>
          <p:cNvSpPr txBox="1"/>
          <p:nvPr/>
        </p:nvSpPr>
        <p:spPr>
          <a:xfrm>
            <a:off x="4718564" y="1688757"/>
            <a:ext cx="752962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latin typeface="Consolas" panose="020B0609020204030204" pitchFamily="49" charset="0"/>
              </a:rPr>
              <a:t>word_score</a:t>
            </a:r>
            <a:r>
              <a:rPr lang="en-US" dirty="0">
                <a:latin typeface="Consolas" panose="020B0609020204030204" pitchFamily="49" charset="0"/>
              </a:rPr>
              <a:t>(word, required,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</a:rPr>
              <a:t>    if required not in word or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&lt; 4:</a:t>
            </a:r>
          </a:p>
          <a:p>
            <a:r>
              <a:rPr lang="en-US" dirty="0">
                <a:latin typeface="Consolas" panose="020B0609020204030204" pitchFamily="49" charset="0"/>
              </a:rPr>
              <a:t>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for c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c not in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</a:t>
            </a:r>
            <a:r>
              <a:rPr lang="en-US" dirty="0" err="1">
                <a:latin typeface="Consolas" panose="020B0609020204030204" pitchFamily="49" charset="0"/>
              </a:rPr>
              <a:t>len</a:t>
            </a:r>
            <a:r>
              <a:rPr lang="en-US" dirty="0">
                <a:latin typeface="Consolas" panose="020B0609020204030204" pitchFamily="49" charset="0"/>
              </a:rPr>
              <a:t>(word) +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pangram_bonus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latin typeface="Consolas" panose="020B0609020204030204" pitchFamily="49" charset="0"/>
              </a:rPr>
              <a:t>word,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BE611-13AC-253A-2167-44FB4C747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72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B5B573-6575-B53B-5505-BABD27DD4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C977BE-A9AC-271D-ED5B-98BB4E407FB7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959C8C-DF63-0C8D-7AB6-B7F27BAC9135}"/>
              </a:ext>
            </a:extLst>
          </p:cNvPr>
          <p:cNvSpPr txBox="1"/>
          <p:nvPr/>
        </p:nvSpPr>
        <p:spPr>
          <a:xfrm>
            <a:off x="143641" y="136525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Word Scoring</a:t>
            </a:r>
            <a:endParaRPr lang="en-CA" dirty="0"/>
          </a:p>
          <a:p>
            <a:r>
              <a:rPr lang="en-CA" dirty="0"/>
              <a:t>3 or fewer letters: 0 points</a:t>
            </a:r>
          </a:p>
          <a:p>
            <a:r>
              <a:rPr lang="en-CA" dirty="0"/>
              <a:t>4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CB5DA9-59DE-4210-7C00-F1ACE396232D}"/>
              </a:ext>
            </a:extLst>
          </p:cNvPr>
          <p:cNvSpPr/>
          <p:nvPr/>
        </p:nvSpPr>
        <p:spPr>
          <a:xfrm>
            <a:off x="5231839" y="3868389"/>
            <a:ext cx="6886019" cy="405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138AB1-5DEA-264C-5302-9F5B1EC9D93B}"/>
              </a:ext>
            </a:extLst>
          </p:cNvPr>
          <p:cNvSpPr txBox="1"/>
          <p:nvPr/>
        </p:nvSpPr>
        <p:spPr>
          <a:xfrm>
            <a:off x="7959605" y="317810"/>
            <a:ext cx="14232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required letter: </a:t>
            </a:r>
            <a:r>
              <a:rPr lang="en-CA" b="1" dirty="0"/>
              <a:t>P</a:t>
            </a:r>
            <a:r>
              <a:rPr lang="en-CA" dirty="0"/>
              <a:t>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3841280-C96C-862D-C412-7732DD54195D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8301253" y="964141"/>
            <a:ext cx="369999" cy="724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3AF6012-3D35-32D8-A561-A631544857A1}"/>
              </a:ext>
            </a:extLst>
          </p:cNvPr>
          <p:cNvSpPr txBox="1"/>
          <p:nvPr/>
        </p:nvSpPr>
        <p:spPr>
          <a:xfrm>
            <a:off x="10097324" y="247788"/>
            <a:ext cx="142329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All seven letters: </a:t>
            </a:r>
            <a:r>
              <a:rPr lang="en-CA" b="1" dirty="0"/>
              <a:t>CIHPETA</a:t>
            </a:r>
            <a:r>
              <a:rPr lang="en-CA" dirty="0"/>
              <a:t>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9FE185-3249-E92B-9E41-A340F4CFE674}"/>
              </a:ext>
            </a:extLst>
          </p:cNvPr>
          <p:cNvCxnSpPr>
            <a:cxnSpLocks/>
          </p:cNvCxnSpPr>
          <p:nvPr/>
        </p:nvCxnSpPr>
        <p:spPr>
          <a:xfrm flipH="1">
            <a:off x="9646508" y="1171118"/>
            <a:ext cx="448039" cy="517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482EFD5-34E4-62C4-9632-22A8EE725429}"/>
              </a:ext>
            </a:extLst>
          </p:cNvPr>
          <p:cNvSpPr txBox="1"/>
          <p:nvPr/>
        </p:nvSpPr>
        <p:spPr>
          <a:xfrm>
            <a:off x="5031083" y="386287"/>
            <a:ext cx="156599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word we want to score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52F50B-71E9-0080-0FF2-99FD269F3EAE}"/>
              </a:ext>
            </a:extLst>
          </p:cNvPr>
          <p:cNvCxnSpPr>
            <a:cxnSpLocks/>
          </p:cNvCxnSpPr>
          <p:nvPr/>
        </p:nvCxnSpPr>
        <p:spPr>
          <a:xfrm>
            <a:off x="6597074" y="1032618"/>
            <a:ext cx="283857" cy="722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746548D-4ABA-E7FA-38EE-76DEC52242C3}"/>
              </a:ext>
            </a:extLst>
          </p:cNvPr>
          <p:cNvSpPr txBox="1"/>
          <p:nvPr/>
        </p:nvSpPr>
        <p:spPr>
          <a:xfrm>
            <a:off x="4718564" y="4688626"/>
            <a:ext cx="525015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def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pangram_bonus</a:t>
            </a:r>
            <a:r>
              <a:rPr lang="en-US" dirty="0">
                <a:latin typeface="Consolas" panose="020B0609020204030204" pitchFamily="49" charset="0"/>
              </a:rPr>
              <a:t>(word,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latin typeface="Consolas" panose="020B0609020204030204" pitchFamily="49" charset="0"/>
              </a:rPr>
              <a:t>    for c in </a:t>
            </a:r>
            <a:r>
              <a:rPr lang="en-US" dirty="0" err="1">
                <a:latin typeface="Consolas" panose="020B0609020204030204" pitchFamily="49" charset="0"/>
              </a:rPr>
              <a:t>puzzle_letters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  if c not in word: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return 0</a:t>
            </a:r>
          </a:p>
          <a:p>
            <a:r>
              <a:rPr lang="en-US" dirty="0">
                <a:latin typeface="Consolas" panose="020B0609020204030204" pitchFamily="49" charset="0"/>
              </a:rPr>
              <a:t>    return 7</a:t>
            </a:r>
            <a:endParaRPr lang="en-A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0790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ED214-52ED-EE26-2180-3B5F53EC0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4EBD9-3980-291E-A0C4-084B1529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73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1E546A-7957-3A35-4DBA-8B0CD1616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9858A1-7327-13CC-9023-7C3C615F6C1D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E7BA90-93D3-3F19-8ECB-2E7DA69BDCEE}"/>
              </a:ext>
            </a:extLst>
          </p:cNvPr>
          <p:cNvSpPr txBox="1"/>
          <p:nvPr/>
        </p:nvSpPr>
        <p:spPr>
          <a:xfrm>
            <a:off x="143641" y="136525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Word Scoring</a:t>
            </a:r>
            <a:endParaRPr lang="en-CA" dirty="0"/>
          </a:p>
          <a:p>
            <a:r>
              <a:rPr lang="en-CA" dirty="0"/>
              <a:t>3 or fewer letters: 0 points</a:t>
            </a:r>
          </a:p>
          <a:p>
            <a:r>
              <a:rPr lang="en-CA" dirty="0"/>
              <a:t>4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32F2AD-5609-7C67-8159-11510EC2111D}"/>
              </a:ext>
            </a:extLst>
          </p:cNvPr>
          <p:cNvSpPr txBox="1"/>
          <p:nvPr/>
        </p:nvSpPr>
        <p:spPr>
          <a:xfrm>
            <a:off x="4857612" y="2484149"/>
            <a:ext cx="664316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Consolas" panose="020B0609020204030204" pitchFamily="49" charset="0"/>
              </a:rPr>
              <a:t>print(</a:t>
            </a:r>
            <a:r>
              <a:rPr lang="en-AU" dirty="0" err="1">
                <a:latin typeface="Consolas" panose="020B0609020204030204" pitchFamily="49" charset="0"/>
              </a:rPr>
              <a:t>word_score</a:t>
            </a:r>
            <a:r>
              <a:rPr lang="en-AU" dirty="0">
                <a:latin typeface="Consolas" panose="020B0609020204030204" pitchFamily="49" charset="0"/>
              </a:rPr>
              <a:t>('TAPE', 'P', 'CIHPETA'))      # 4</a:t>
            </a:r>
          </a:p>
          <a:p>
            <a:r>
              <a:rPr lang="en-AU" dirty="0">
                <a:latin typeface="Consolas" panose="020B0609020204030204" pitchFamily="49" charset="0"/>
              </a:rPr>
              <a:t>print(</a:t>
            </a:r>
            <a:r>
              <a:rPr lang="en-AU" dirty="0" err="1">
                <a:latin typeface="Consolas" panose="020B0609020204030204" pitchFamily="49" charset="0"/>
              </a:rPr>
              <a:t>word_score</a:t>
            </a:r>
            <a:r>
              <a:rPr lang="en-AU" dirty="0">
                <a:latin typeface="Consolas" panose="020B0609020204030204" pitchFamily="49" charset="0"/>
              </a:rPr>
              <a:t>('PATH', 'P', 'CIHPETA'))      # 4</a:t>
            </a:r>
          </a:p>
          <a:p>
            <a:r>
              <a:rPr lang="en-AU" dirty="0">
                <a:latin typeface="Consolas" panose="020B0609020204030204" pitchFamily="49" charset="0"/>
              </a:rPr>
              <a:t>print(</a:t>
            </a:r>
            <a:r>
              <a:rPr lang="en-AU" dirty="0" err="1">
                <a:latin typeface="Consolas" panose="020B0609020204030204" pitchFamily="49" charset="0"/>
              </a:rPr>
              <a:t>word_score</a:t>
            </a:r>
            <a:r>
              <a:rPr lang="en-AU" dirty="0">
                <a:latin typeface="Consolas" panose="020B0609020204030204" pitchFamily="49" charset="0"/>
              </a:rPr>
              <a:t>('CHEAP', 'P', 'CIHPETA'))     # 5</a:t>
            </a:r>
          </a:p>
          <a:p>
            <a:r>
              <a:rPr lang="en-AU" dirty="0">
                <a:latin typeface="Consolas" panose="020B0609020204030204" pitchFamily="49" charset="0"/>
              </a:rPr>
              <a:t>print(</a:t>
            </a:r>
            <a:r>
              <a:rPr lang="en-AU" dirty="0" err="1">
                <a:latin typeface="Consolas" panose="020B0609020204030204" pitchFamily="49" charset="0"/>
              </a:rPr>
              <a:t>word_score</a:t>
            </a:r>
            <a:r>
              <a:rPr lang="en-AU" dirty="0">
                <a:latin typeface="Consolas" panose="020B0609020204030204" pitchFamily="49" charset="0"/>
              </a:rPr>
              <a:t>('PATCH', 'P', 'CIHPETA'))     # 5</a:t>
            </a:r>
          </a:p>
          <a:p>
            <a:r>
              <a:rPr lang="en-AU" dirty="0">
                <a:latin typeface="Consolas" panose="020B0609020204030204" pitchFamily="49" charset="0"/>
              </a:rPr>
              <a:t>print(</a:t>
            </a:r>
            <a:r>
              <a:rPr lang="en-AU" dirty="0" err="1">
                <a:latin typeface="Consolas" panose="020B0609020204030204" pitchFamily="49" charset="0"/>
              </a:rPr>
              <a:t>word_score</a:t>
            </a:r>
            <a:r>
              <a:rPr lang="en-AU" dirty="0">
                <a:latin typeface="Consolas" panose="020B0609020204030204" pitchFamily="49" charset="0"/>
              </a:rPr>
              <a:t>('APPETITE', 'P', 'CIHPETA'))  # 8</a:t>
            </a:r>
          </a:p>
          <a:p>
            <a:r>
              <a:rPr lang="en-AU" dirty="0">
                <a:latin typeface="Consolas" panose="020B0609020204030204" pitchFamily="49" charset="0"/>
              </a:rPr>
              <a:t>print(</a:t>
            </a:r>
            <a:r>
              <a:rPr lang="en-AU" dirty="0" err="1">
                <a:latin typeface="Consolas" panose="020B0609020204030204" pitchFamily="49" charset="0"/>
              </a:rPr>
              <a:t>word_score</a:t>
            </a:r>
            <a:r>
              <a:rPr lang="en-AU" dirty="0">
                <a:latin typeface="Consolas" panose="020B0609020204030204" pitchFamily="49" charset="0"/>
              </a:rPr>
              <a:t>('PATHETIC', 'P', 'CIHPETA'))  # 15</a:t>
            </a:r>
          </a:p>
        </p:txBody>
      </p:sp>
    </p:spTree>
    <p:extLst>
      <p:ext uri="{BB962C8B-B14F-4D97-AF65-F5344CB8AC3E}">
        <p14:creationId xmlns:p14="http://schemas.microsoft.com/office/powerpoint/2010/main" val="41265143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DD00C-3D17-5583-4950-4230272F0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00E6D-5091-1E38-E4A4-7EA5CDDA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74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D9D6D9-161A-A041-CCD8-DF98CC164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D8F761-8EEA-FBDD-80F4-E8AD9E5C339C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8023B5-8E01-1026-4932-2979AF8F2DE0}"/>
              </a:ext>
            </a:extLst>
          </p:cNvPr>
          <p:cNvSpPr txBox="1"/>
          <p:nvPr/>
        </p:nvSpPr>
        <p:spPr>
          <a:xfrm>
            <a:off x="143641" y="136525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Word Scoring</a:t>
            </a:r>
            <a:endParaRPr lang="en-CA" dirty="0"/>
          </a:p>
          <a:p>
            <a:r>
              <a:rPr lang="en-CA" dirty="0"/>
              <a:t>3 or fewer letters: 0 points</a:t>
            </a:r>
          </a:p>
          <a:p>
            <a:r>
              <a:rPr lang="en-CA" dirty="0"/>
              <a:t>4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A7E02D-F94E-03EF-BB37-95D82E705B72}"/>
              </a:ext>
            </a:extLst>
          </p:cNvPr>
          <p:cNvSpPr txBox="1"/>
          <p:nvPr/>
        </p:nvSpPr>
        <p:spPr>
          <a:xfrm>
            <a:off x="6246734" y="518984"/>
            <a:ext cx="33668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can use the </a:t>
            </a:r>
            <a:r>
              <a:rPr lang="en-CA" dirty="0" err="1">
                <a:latin typeface="Consolas" panose="020B0609020204030204" pitchFamily="49" charset="0"/>
              </a:rPr>
              <a:t>word_score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function to find </a:t>
            </a:r>
            <a:r>
              <a:rPr lang="en-CA" b="1" dirty="0"/>
              <a:t>all</a:t>
            </a:r>
            <a:r>
              <a:rPr lang="en-CA" dirty="0"/>
              <a:t> the valid words in Spelling Bee puzzle?</a:t>
            </a:r>
          </a:p>
        </p:txBody>
      </p:sp>
    </p:spTree>
    <p:extLst>
      <p:ext uri="{BB962C8B-B14F-4D97-AF65-F5344CB8AC3E}">
        <p14:creationId xmlns:p14="http://schemas.microsoft.com/office/powerpoint/2010/main" val="129344847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B987-8E8A-9945-0810-26C3E0859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2A123-8F8E-214E-7062-508054CB2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75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13C0BE-8559-3EB1-7785-FAF6DC549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A658DB-51D0-037D-1028-BFEFC2EA4C55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94123-D430-E060-427E-15EE3DD852C2}"/>
              </a:ext>
            </a:extLst>
          </p:cNvPr>
          <p:cNvSpPr txBox="1"/>
          <p:nvPr/>
        </p:nvSpPr>
        <p:spPr>
          <a:xfrm>
            <a:off x="143641" y="136525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Word Scoring</a:t>
            </a:r>
            <a:endParaRPr lang="en-CA" dirty="0"/>
          </a:p>
          <a:p>
            <a:r>
              <a:rPr lang="en-CA" dirty="0"/>
              <a:t>3 or fewer letters: 0 points</a:t>
            </a:r>
          </a:p>
          <a:p>
            <a:r>
              <a:rPr lang="en-CA" dirty="0"/>
              <a:t>4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AC7D00-8FA8-8E6A-F822-4F5436216ACD}"/>
              </a:ext>
            </a:extLst>
          </p:cNvPr>
          <p:cNvSpPr txBox="1"/>
          <p:nvPr/>
        </p:nvSpPr>
        <p:spPr>
          <a:xfrm>
            <a:off x="6246734" y="518984"/>
            <a:ext cx="33668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can use the </a:t>
            </a:r>
            <a:r>
              <a:rPr lang="en-CA" dirty="0" err="1">
                <a:latin typeface="Consolas" panose="020B0609020204030204" pitchFamily="49" charset="0"/>
              </a:rPr>
              <a:t>word_score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function to find </a:t>
            </a:r>
            <a:r>
              <a:rPr lang="en-CA" b="1" dirty="0"/>
              <a:t>all</a:t>
            </a:r>
            <a:r>
              <a:rPr lang="en-CA" dirty="0"/>
              <a:t> the valid words in Spelling Bee puzzle?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FCCC38-741F-1EFA-71D0-132B48B6DB66}"/>
              </a:ext>
            </a:extLst>
          </p:cNvPr>
          <p:cNvSpPr txBox="1"/>
          <p:nvPr/>
        </p:nvSpPr>
        <p:spPr>
          <a:xfrm>
            <a:off x="6096000" y="1886465"/>
            <a:ext cx="567206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For each </a:t>
            </a:r>
            <a:r>
              <a:rPr lang="en-CA" b="1" dirty="0"/>
              <a:t>word</a:t>
            </a:r>
            <a:r>
              <a:rPr lang="en-CA" dirty="0"/>
              <a:t> in </a:t>
            </a:r>
            <a:r>
              <a:rPr lang="en-CA" b="1" dirty="0"/>
              <a:t>words.txt </a:t>
            </a:r>
            <a:r>
              <a:rPr lang="en-CA" dirty="0"/>
              <a:t>do the following: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If the Spelling Bee score of </a:t>
            </a:r>
            <a:r>
              <a:rPr lang="en-CA" b="1" dirty="0"/>
              <a:t>word</a:t>
            </a:r>
            <a:r>
              <a:rPr lang="en-CA" dirty="0"/>
              <a:t> is non-zero,</a:t>
            </a:r>
            <a:br>
              <a:rPr lang="en-CA" dirty="0"/>
            </a:br>
            <a:r>
              <a:rPr lang="en-CA" dirty="0"/>
              <a:t>print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r>
              <a:rPr lang="en-CA" dirty="0"/>
              <a:t>When done, print a count of many words were found,</a:t>
            </a:r>
          </a:p>
          <a:p>
            <a:r>
              <a:rPr lang="en-CA" dirty="0"/>
              <a:t>and the sum of all scores (which is the highest possible </a:t>
            </a:r>
          </a:p>
          <a:p>
            <a:r>
              <a:rPr lang="en-CA" dirty="0"/>
              <a:t>score for the puzzle).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162230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D4AB-ED99-0AB7-A82B-5E4D559FA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2201F-FAA4-C9E5-896F-49B7FCC3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76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5A0BEA-9C66-D235-B5F1-313684E7A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159D6F-F38F-B5C3-FD13-A1BCA4F33725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9DBD87-F576-6EE2-374A-F38781E8C895}"/>
              </a:ext>
            </a:extLst>
          </p:cNvPr>
          <p:cNvSpPr txBox="1"/>
          <p:nvPr/>
        </p:nvSpPr>
        <p:spPr>
          <a:xfrm>
            <a:off x="143641" y="136525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Word Scoring</a:t>
            </a:r>
            <a:endParaRPr lang="en-CA" dirty="0"/>
          </a:p>
          <a:p>
            <a:r>
              <a:rPr lang="en-CA" dirty="0"/>
              <a:t>3 or fewer letters: 0 points</a:t>
            </a:r>
          </a:p>
          <a:p>
            <a:r>
              <a:rPr lang="en-CA" dirty="0"/>
              <a:t>4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02DE20-4740-E599-D8A9-90E09B216072}"/>
              </a:ext>
            </a:extLst>
          </p:cNvPr>
          <p:cNvSpPr txBox="1"/>
          <p:nvPr/>
        </p:nvSpPr>
        <p:spPr>
          <a:xfrm>
            <a:off x="6246734" y="518984"/>
            <a:ext cx="33668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can use the </a:t>
            </a:r>
            <a:r>
              <a:rPr lang="en-CA" dirty="0" err="1">
                <a:latin typeface="Consolas" panose="020B0609020204030204" pitchFamily="49" charset="0"/>
              </a:rPr>
              <a:t>word_score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function to find </a:t>
            </a:r>
            <a:r>
              <a:rPr lang="en-CA" b="1" dirty="0"/>
              <a:t>all</a:t>
            </a:r>
            <a:r>
              <a:rPr lang="en-CA" dirty="0"/>
              <a:t> the valid words in Spelling Bee puzzle?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00349-6A04-0D1E-FD63-9FD1660106DF}"/>
              </a:ext>
            </a:extLst>
          </p:cNvPr>
          <p:cNvSpPr txBox="1"/>
          <p:nvPr/>
        </p:nvSpPr>
        <p:spPr>
          <a:xfrm>
            <a:off x="4794423" y="1567686"/>
            <a:ext cx="79744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>
                <a:latin typeface="Consolas" panose="020B0609020204030204" pitchFamily="49" charset="0"/>
              </a:rPr>
              <a:t>puzzle_letters</a:t>
            </a:r>
            <a:r>
              <a:rPr lang="en-CA" dirty="0">
                <a:latin typeface="Consolas" panose="020B0609020204030204" pitchFamily="49" charset="0"/>
              </a:rPr>
              <a:t> = ‘CIHPETA'</a:t>
            </a:r>
          </a:p>
          <a:p>
            <a:r>
              <a:rPr lang="en-CA" dirty="0" err="1">
                <a:latin typeface="Consolas" panose="020B0609020204030204" pitchFamily="49" charset="0"/>
              </a:rPr>
              <a:t>required_letter</a:t>
            </a:r>
            <a:r>
              <a:rPr lang="en-CA" dirty="0">
                <a:latin typeface="Consolas" panose="020B0609020204030204" pitchFamily="49" charset="0"/>
              </a:rPr>
              <a:t> = 'P'</a:t>
            </a:r>
          </a:p>
          <a:p>
            <a:endParaRPr lang="en-CA" dirty="0">
              <a:latin typeface="Consolas" panose="020B0609020204030204" pitchFamily="49" charset="0"/>
            </a:endParaRPr>
          </a:p>
          <a:p>
            <a:r>
              <a:rPr lang="en-CA" dirty="0" err="1">
                <a:latin typeface="Consolas" panose="020B0609020204030204" pitchFamily="49" charset="0"/>
              </a:rPr>
              <a:t>total_score</a:t>
            </a:r>
            <a:r>
              <a:rPr lang="en-CA" dirty="0">
                <a:latin typeface="Consolas" panose="020B0609020204030204" pitchFamily="49" charset="0"/>
              </a:rPr>
              <a:t> = 0</a:t>
            </a:r>
            <a:br>
              <a:rPr lang="en-CA" dirty="0">
                <a:latin typeface="Consolas" panose="020B0609020204030204" pitchFamily="49" charset="0"/>
              </a:rPr>
            </a:br>
            <a:r>
              <a:rPr lang="en-CA" dirty="0" err="1">
                <a:latin typeface="Consolas" panose="020B0609020204030204" pitchFamily="49" charset="0"/>
              </a:rPr>
              <a:t>scoring_words</a:t>
            </a:r>
            <a:r>
              <a:rPr lang="en-CA" dirty="0">
                <a:latin typeface="Consolas" panose="020B0609020204030204" pitchFamily="49" charset="0"/>
              </a:rPr>
              <a:t> = 0</a:t>
            </a:r>
          </a:p>
          <a:p>
            <a:r>
              <a:rPr lang="en-CA" dirty="0" err="1">
                <a:latin typeface="Consolas" panose="020B0609020204030204" pitchFamily="49" charset="0"/>
              </a:rPr>
              <a:t>file_object</a:t>
            </a:r>
            <a:r>
              <a:rPr lang="en-CA" dirty="0">
                <a:latin typeface="Consolas" panose="020B0609020204030204" pitchFamily="49" charset="0"/>
              </a:rPr>
              <a:t> = open('words.txt')</a:t>
            </a:r>
          </a:p>
          <a:p>
            <a:r>
              <a:rPr lang="en-CA" dirty="0">
                <a:latin typeface="Consolas" panose="020B0609020204030204" pitchFamily="49" charset="0"/>
              </a:rPr>
              <a:t>for w in </a:t>
            </a:r>
            <a:r>
              <a:rPr lang="en-CA" dirty="0" err="1">
                <a:latin typeface="Consolas" panose="020B0609020204030204" pitchFamily="49" charset="0"/>
              </a:rPr>
              <a:t>file_object</a:t>
            </a:r>
            <a:r>
              <a:rPr lang="en-CA" dirty="0">
                <a:latin typeface="Consolas" panose="020B0609020204030204" pitchFamily="49" charset="0"/>
              </a:rPr>
              <a:t>:</a:t>
            </a:r>
          </a:p>
          <a:p>
            <a:r>
              <a:rPr lang="en-CA" dirty="0">
                <a:latin typeface="Consolas" panose="020B0609020204030204" pitchFamily="49" charset="0"/>
              </a:rPr>
              <a:t>    w = </a:t>
            </a:r>
            <a:r>
              <a:rPr lang="en-CA" dirty="0" err="1">
                <a:latin typeface="Consolas" panose="020B0609020204030204" pitchFamily="49" charset="0"/>
              </a:rPr>
              <a:t>w.strip</a:t>
            </a:r>
            <a:r>
              <a:rPr lang="en-CA" dirty="0">
                <a:latin typeface="Consolas" panose="020B0609020204030204" pitchFamily="49" charset="0"/>
              </a:rPr>
              <a:t>().upper()</a:t>
            </a:r>
          </a:p>
          <a:p>
            <a:r>
              <a:rPr lang="en-CA" dirty="0">
                <a:latin typeface="Consolas" panose="020B0609020204030204" pitchFamily="49" charset="0"/>
              </a:rPr>
              <a:t>    </a:t>
            </a:r>
          </a:p>
          <a:p>
            <a:r>
              <a:rPr lang="en-CA" dirty="0">
                <a:latin typeface="Consolas" panose="020B0609020204030204" pitchFamily="49" charset="0"/>
              </a:rPr>
              <a:t>    score = </a:t>
            </a:r>
            <a:r>
              <a:rPr lang="en-CA" dirty="0" err="1">
                <a:latin typeface="Consolas" panose="020B0609020204030204" pitchFamily="49" charset="0"/>
              </a:rPr>
              <a:t>word_score</a:t>
            </a:r>
            <a:r>
              <a:rPr lang="en-CA" dirty="0">
                <a:latin typeface="Consolas" panose="020B0609020204030204" pitchFamily="49" charset="0"/>
              </a:rPr>
              <a:t>(w, </a:t>
            </a:r>
            <a:r>
              <a:rPr lang="en-CA" dirty="0" err="1">
                <a:latin typeface="Consolas" panose="020B0609020204030204" pitchFamily="49" charset="0"/>
              </a:rPr>
              <a:t>required_letter</a:t>
            </a:r>
            <a:r>
              <a:rPr lang="en-CA" dirty="0">
                <a:latin typeface="Consolas" panose="020B0609020204030204" pitchFamily="49" charset="0"/>
              </a:rPr>
              <a:t>, </a:t>
            </a:r>
            <a:r>
              <a:rPr lang="en-CA" dirty="0" err="1">
                <a:latin typeface="Consolas" panose="020B0609020204030204" pitchFamily="49" charset="0"/>
              </a:rPr>
              <a:t>puzzle_letters</a:t>
            </a:r>
            <a:r>
              <a:rPr lang="en-CA" dirty="0">
                <a:latin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</a:rPr>
              <a:t>total_score</a:t>
            </a:r>
            <a:r>
              <a:rPr lang="en-CA" dirty="0">
                <a:latin typeface="Consolas" panose="020B0609020204030204" pitchFamily="49" charset="0"/>
              </a:rPr>
              <a:t> += score</a:t>
            </a:r>
          </a:p>
          <a:p>
            <a:r>
              <a:rPr lang="en-CA" dirty="0">
                <a:latin typeface="Consolas" panose="020B0609020204030204" pitchFamily="49" charset="0"/>
              </a:rPr>
              <a:t>    if score &gt; 0:</a:t>
            </a:r>
          </a:p>
          <a:p>
            <a:r>
              <a:rPr lang="en-CA" dirty="0">
                <a:latin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</a:rPr>
              <a:t>scoring_words</a:t>
            </a:r>
            <a:r>
              <a:rPr lang="en-CA" dirty="0">
                <a:latin typeface="Consolas" panose="020B0609020204030204" pitchFamily="49" charset="0"/>
              </a:rPr>
              <a:t> += 1</a:t>
            </a:r>
          </a:p>
          <a:p>
            <a:r>
              <a:rPr lang="en-CA" dirty="0">
                <a:latin typeface="Consolas" panose="020B0609020204030204" pitchFamily="49" charset="0"/>
              </a:rPr>
              <a:t>        print(f'{w}, {score} points')</a:t>
            </a:r>
          </a:p>
          <a:p>
            <a:endParaRPr lang="en-CA" dirty="0">
              <a:latin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</a:rPr>
              <a:t>print()</a:t>
            </a:r>
          </a:p>
          <a:p>
            <a:r>
              <a:rPr lang="en-CA" dirty="0">
                <a:latin typeface="Consolas" panose="020B0609020204030204" pitchFamily="49" charset="0"/>
              </a:rPr>
              <a:t>print(</a:t>
            </a:r>
            <a:r>
              <a:rPr lang="en-CA" dirty="0" err="1">
                <a:latin typeface="Consolas" panose="020B0609020204030204" pitchFamily="49" charset="0"/>
              </a:rPr>
              <a:t>f'Total</a:t>
            </a:r>
            <a:r>
              <a:rPr lang="en-CA" dirty="0">
                <a:latin typeface="Consolas" panose="020B0609020204030204" pitchFamily="49" charset="0"/>
              </a:rPr>
              <a:t> score: {</a:t>
            </a:r>
            <a:r>
              <a:rPr lang="en-CA" dirty="0" err="1">
                <a:latin typeface="Consolas" panose="020B0609020204030204" pitchFamily="49" charset="0"/>
              </a:rPr>
              <a:t>total_score</a:t>
            </a:r>
            <a:r>
              <a:rPr lang="en-CA" dirty="0">
                <a:latin typeface="Consolas" panose="020B0609020204030204" pitchFamily="49" charset="0"/>
              </a:rPr>
              <a:t>}')</a:t>
            </a:r>
          </a:p>
          <a:p>
            <a:r>
              <a:rPr lang="en-CA" dirty="0">
                <a:latin typeface="Consolas" panose="020B0609020204030204" pitchFamily="49" charset="0"/>
              </a:rPr>
              <a:t>print(</a:t>
            </a:r>
            <a:r>
              <a:rPr lang="en-CA" dirty="0" err="1">
                <a:latin typeface="Consolas" panose="020B0609020204030204" pitchFamily="49" charset="0"/>
              </a:rPr>
              <a:t>f'Total</a:t>
            </a:r>
            <a:r>
              <a:rPr lang="en-CA" dirty="0">
                <a:latin typeface="Consolas" panose="020B0609020204030204" pitchFamily="49" charset="0"/>
              </a:rPr>
              <a:t> scoring words: {</a:t>
            </a:r>
            <a:r>
              <a:rPr lang="en-CA" dirty="0" err="1">
                <a:latin typeface="Consolas" panose="020B0609020204030204" pitchFamily="49" charset="0"/>
              </a:rPr>
              <a:t>scoring_words</a:t>
            </a:r>
            <a:r>
              <a:rPr lang="en-CA" dirty="0">
                <a:latin typeface="Consolas" panose="020B0609020204030204" pitchFamily="49" charset="0"/>
              </a:rPr>
              <a:t>}')</a:t>
            </a:r>
            <a:endParaRPr lang="en-A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0561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D9A2E-EF78-6CDD-95EC-1A8166AFB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130C4-5906-7724-CFF0-B54001908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77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70FFB2-C0CD-A903-C69F-0D0C8FE43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D865B0-76AB-E215-49BB-67091B9EB008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CC3F08-505C-0466-33F3-58C6FA026FCC}"/>
              </a:ext>
            </a:extLst>
          </p:cNvPr>
          <p:cNvSpPr txBox="1"/>
          <p:nvPr/>
        </p:nvSpPr>
        <p:spPr>
          <a:xfrm>
            <a:off x="143641" y="136525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Word Scoring</a:t>
            </a:r>
            <a:endParaRPr lang="en-CA" dirty="0"/>
          </a:p>
          <a:p>
            <a:r>
              <a:rPr lang="en-CA" dirty="0"/>
              <a:t>3 or fewer letters: 0 points</a:t>
            </a:r>
          </a:p>
          <a:p>
            <a:r>
              <a:rPr lang="en-CA" dirty="0"/>
              <a:t>4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0C2437-B506-EEDF-8039-3D041AFBF699}"/>
              </a:ext>
            </a:extLst>
          </p:cNvPr>
          <p:cNvSpPr txBox="1"/>
          <p:nvPr/>
        </p:nvSpPr>
        <p:spPr>
          <a:xfrm>
            <a:off x="6246734" y="518984"/>
            <a:ext cx="33668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can use the </a:t>
            </a:r>
            <a:r>
              <a:rPr lang="en-CA" dirty="0" err="1">
                <a:latin typeface="Consolas" panose="020B0609020204030204" pitchFamily="49" charset="0"/>
              </a:rPr>
              <a:t>word_score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function to find </a:t>
            </a:r>
            <a:r>
              <a:rPr lang="en-CA" b="1" dirty="0"/>
              <a:t>all</a:t>
            </a:r>
            <a:r>
              <a:rPr lang="en-CA" dirty="0"/>
              <a:t> the valid words in Spelling Bee puzzle?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3E71ED-3E6E-4891-EC34-E9120BA46C87}"/>
              </a:ext>
            </a:extLst>
          </p:cNvPr>
          <p:cNvSpPr txBox="1"/>
          <p:nvPr/>
        </p:nvSpPr>
        <p:spPr>
          <a:xfrm>
            <a:off x="4794423" y="1567686"/>
            <a:ext cx="79744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onsolas" panose="020B0609020204030204" pitchFamily="49" charset="0"/>
              </a:rPr>
              <a:t>ACCEPT, 6 points</a:t>
            </a:r>
          </a:p>
          <a:p>
            <a:r>
              <a:rPr lang="fr-FR" dirty="0">
                <a:latin typeface="Consolas" panose="020B0609020204030204" pitchFamily="49" charset="0"/>
              </a:rPr>
              <a:t>ACCEPTEE, 8 points</a:t>
            </a:r>
          </a:p>
          <a:p>
            <a:r>
              <a:rPr lang="fr-FR" dirty="0">
                <a:latin typeface="Consolas" panose="020B0609020204030204" pitchFamily="49" charset="0"/>
              </a:rPr>
              <a:t>APACE, 5 points</a:t>
            </a:r>
          </a:p>
          <a:p>
            <a:r>
              <a:rPr lang="fr-FR" dirty="0">
                <a:latin typeface="Consolas" panose="020B0609020204030204" pitchFamily="49" charset="0"/>
              </a:rPr>
              <a:t>APACHE, 6 points</a:t>
            </a:r>
          </a:p>
          <a:p>
            <a:r>
              <a:rPr lang="fr-FR" dirty="0">
                <a:latin typeface="Consolas" panose="020B0609020204030204" pitchFamily="49" charset="0"/>
              </a:rPr>
              <a:t>...</a:t>
            </a:r>
          </a:p>
          <a:p>
            <a:r>
              <a:rPr lang="en-US" dirty="0">
                <a:latin typeface="Consolas" panose="020B0609020204030204" pitchFamily="49" charset="0"/>
              </a:rPr>
              <a:t>TIPCAT, 6 points</a:t>
            </a:r>
          </a:p>
          <a:p>
            <a:r>
              <a:rPr lang="en-US" dirty="0">
                <a:latin typeface="Consolas" panose="020B0609020204030204" pitchFamily="49" charset="0"/>
              </a:rPr>
              <a:t>TIPI, 4 points</a:t>
            </a:r>
          </a:p>
          <a:p>
            <a:r>
              <a:rPr lang="en-US" dirty="0">
                <a:latin typeface="Consolas" panose="020B0609020204030204" pitchFamily="49" charset="0"/>
              </a:rPr>
              <a:t>TIPPET, 6 points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Total score: 566</a:t>
            </a:r>
          </a:p>
          <a:p>
            <a:r>
              <a:rPr lang="en-US" dirty="0">
                <a:latin typeface="Consolas" panose="020B0609020204030204" pitchFamily="49" charset="0"/>
              </a:rPr>
              <a:t>Total scoring words: 92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BE6071-8F04-B4E8-794B-DBCC72027577}"/>
              </a:ext>
            </a:extLst>
          </p:cNvPr>
          <p:cNvSpPr txBox="1"/>
          <p:nvPr/>
        </p:nvSpPr>
        <p:spPr>
          <a:xfrm>
            <a:off x="8781657" y="2768491"/>
            <a:ext cx="231597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runs in less than a tenth of a second on my computer!</a:t>
            </a:r>
          </a:p>
        </p:txBody>
      </p:sp>
    </p:spTree>
    <p:extLst>
      <p:ext uri="{BB962C8B-B14F-4D97-AF65-F5344CB8AC3E}">
        <p14:creationId xmlns:p14="http://schemas.microsoft.com/office/powerpoint/2010/main" val="23173031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425FE-2AC5-37D5-E5D9-2F9EE6C4A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483A4-DCDD-53EC-DC52-04F4DAF38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78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E70738-5593-1BE6-6224-D8B9DAF27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" y="3150700"/>
            <a:ext cx="2201093" cy="329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4E7215-9D6D-E4EC-A459-038194FE416E}"/>
              </a:ext>
            </a:extLst>
          </p:cNvPr>
          <p:cNvSpPr txBox="1"/>
          <p:nvPr/>
        </p:nvSpPr>
        <p:spPr>
          <a:xfrm>
            <a:off x="2387307" y="3455773"/>
            <a:ext cx="1688819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Some words:</a:t>
            </a:r>
          </a:p>
          <a:p>
            <a:r>
              <a:rPr lang="en-CA" dirty="0"/>
              <a:t>TA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E,  4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ATH, 4</a:t>
            </a:r>
          </a:p>
          <a:p>
            <a:r>
              <a:rPr lang="en-CA" dirty="0"/>
              <a:t>CHEA</a:t>
            </a:r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, 5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ATCH, 5</a:t>
            </a:r>
          </a:p>
          <a:p>
            <a:r>
              <a:rPr lang="en-CA" dirty="0"/>
              <a:t>A</a:t>
            </a:r>
            <a:r>
              <a:rPr lang="en-CA" dirty="0">
                <a:solidFill>
                  <a:srgbClr val="00B050"/>
                </a:solidFill>
              </a:rPr>
              <a:t>PP</a:t>
            </a:r>
            <a:r>
              <a:rPr lang="en-CA" dirty="0"/>
              <a:t>ETITE, 8</a:t>
            </a:r>
          </a:p>
          <a:p>
            <a:r>
              <a:rPr lang="en-CA" dirty="0">
                <a:solidFill>
                  <a:srgbClr val="00B050"/>
                </a:solidFill>
              </a:rPr>
              <a:t>P</a:t>
            </a:r>
            <a:r>
              <a:rPr lang="en-CA" dirty="0"/>
              <a:t>ATHETIC, 15</a:t>
            </a:r>
          </a:p>
          <a:p>
            <a:r>
              <a:rPr lang="en-CA" dirty="0"/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59986C-907D-6665-29FE-4520A6EB225C}"/>
              </a:ext>
            </a:extLst>
          </p:cNvPr>
          <p:cNvSpPr txBox="1"/>
          <p:nvPr/>
        </p:nvSpPr>
        <p:spPr>
          <a:xfrm>
            <a:off x="143641" y="136525"/>
            <a:ext cx="3932485" cy="28623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Word Scoring</a:t>
            </a:r>
            <a:endParaRPr lang="en-CA" dirty="0"/>
          </a:p>
          <a:p>
            <a:r>
              <a:rPr lang="en-CA" dirty="0"/>
              <a:t>3 or fewer letters: 0 points</a:t>
            </a:r>
          </a:p>
          <a:p>
            <a:r>
              <a:rPr lang="en-CA" dirty="0"/>
              <a:t>4 or more letters: 1 point per letter</a:t>
            </a:r>
          </a:p>
          <a:p>
            <a:endParaRPr lang="en-CA" dirty="0"/>
          </a:p>
          <a:p>
            <a:r>
              <a:rPr lang="en-CA" b="1" dirty="0"/>
              <a:t>Pangram bonus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7 bonus points if all 7 different letters are used (plus you still get 1 point per letter)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Each puzzle is guaranteed to have at least one pangram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006AC6-C208-FA92-7F61-FEDC4D4C3D7A}"/>
              </a:ext>
            </a:extLst>
          </p:cNvPr>
          <p:cNvSpPr txBox="1"/>
          <p:nvPr/>
        </p:nvSpPr>
        <p:spPr>
          <a:xfrm>
            <a:off x="6246734" y="518984"/>
            <a:ext cx="33668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can use the </a:t>
            </a:r>
            <a:r>
              <a:rPr lang="en-CA" dirty="0" err="1">
                <a:latin typeface="Consolas" panose="020B0609020204030204" pitchFamily="49" charset="0"/>
              </a:rPr>
              <a:t>word_score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function to find </a:t>
            </a:r>
            <a:r>
              <a:rPr lang="en-CA" b="1" dirty="0"/>
              <a:t>all</a:t>
            </a:r>
            <a:r>
              <a:rPr lang="en-CA" dirty="0"/>
              <a:t> the valid words in Spelling Bee puzzle?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4C86CB-11A0-D5A4-B9F6-1961C208F04E}"/>
              </a:ext>
            </a:extLst>
          </p:cNvPr>
          <p:cNvSpPr txBox="1"/>
          <p:nvPr/>
        </p:nvSpPr>
        <p:spPr>
          <a:xfrm>
            <a:off x="4794423" y="1567686"/>
            <a:ext cx="79744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onsolas" panose="020B0609020204030204" pitchFamily="49" charset="0"/>
              </a:rPr>
              <a:t>ACCEPT, 6 points</a:t>
            </a:r>
          </a:p>
          <a:p>
            <a:r>
              <a:rPr lang="fr-FR" dirty="0">
                <a:latin typeface="Consolas" panose="020B0609020204030204" pitchFamily="49" charset="0"/>
              </a:rPr>
              <a:t>ACCEPTEE, 8 points</a:t>
            </a:r>
          </a:p>
          <a:p>
            <a:r>
              <a:rPr lang="fr-FR" dirty="0">
                <a:latin typeface="Consolas" panose="020B0609020204030204" pitchFamily="49" charset="0"/>
              </a:rPr>
              <a:t>APACE, 5 points</a:t>
            </a:r>
          </a:p>
          <a:p>
            <a:r>
              <a:rPr lang="fr-FR" dirty="0">
                <a:latin typeface="Consolas" panose="020B0609020204030204" pitchFamily="49" charset="0"/>
              </a:rPr>
              <a:t>APACHE, 6 points</a:t>
            </a:r>
          </a:p>
          <a:p>
            <a:r>
              <a:rPr lang="fr-FR" dirty="0">
                <a:latin typeface="Consolas" panose="020B0609020204030204" pitchFamily="49" charset="0"/>
              </a:rPr>
              <a:t>...</a:t>
            </a:r>
          </a:p>
          <a:p>
            <a:r>
              <a:rPr lang="en-US" dirty="0">
                <a:latin typeface="Consolas" panose="020B0609020204030204" pitchFamily="49" charset="0"/>
              </a:rPr>
              <a:t>TIPCAT, 6 points</a:t>
            </a:r>
          </a:p>
          <a:p>
            <a:r>
              <a:rPr lang="en-US" dirty="0">
                <a:latin typeface="Consolas" panose="020B0609020204030204" pitchFamily="49" charset="0"/>
              </a:rPr>
              <a:t>TIPI, 4 points</a:t>
            </a:r>
          </a:p>
          <a:p>
            <a:r>
              <a:rPr lang="en-US" dirty="0">
                <a:latin typeface="Consolas" panose="020B0609020204030204" pitchFamily="49" charset="0"/>
              </a:rPr>
              <a:t>TIPPET, 6 points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Total score: 566</a:t>
            </a:r>
          </a:p>
          <a:p>
            <a:r>
              <a:rPr lang="en-US" dirty="0">
                <a:latin typeface="Consolas" panose="020B0609020204030204" pitchFamily="49" charset="0"/>
              </a:rPr>
              <a:t>Total scoring words: 92</a:t>
            </a:r>
            <a:endParaRPr lang="en-AU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1FD90-ED7D-9210-FE80-023045036278}"/>
              </a:ext>
            </a:extLst>
          </p:cNvPr>
          <p:cNvSpPr txBox="1"/>
          <p:nvPr/>
        </p:nvSpPr>
        <p:spPr>
          <a:xfrm>
            <a:off x="8781657" y="2768491"/>
            <a:ext cx="231597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runs in less than a tenth of a second on my computer!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16990B-4AF3-DD0B-9C3A-C6E4BF6C45FA}"/>
              </a:ext>
            </a:extLst>
          </p:cNvPr>
          <p:cNvSpPr txBox="1"/>
          <p:nvPr/>
        </p:nvSpPr>
        <p:spPr>
          <a:xfrm>
            <a:off x="8674851" y="4198938"/>
            <a:ext cx="2529589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not how humans would solve this puzzle!</a:t>
            </a:r>
          </a:p>
          <a:p>
            <a:pPr algn="ctr"/>
            <a:r>
              <a:rPr lang="en-CA"/>
              <a:t>But </a:t>
            </a:r>
            <a:r>
              <a:rPr lang="en-CA" dirty="0"/>
              <a:t>computers are so fast that checking all possible words is a reasonable method.</a:t>
            </a:r>
          </a:p>
        </p:txBody>
      </p:sp>
    </p:spTree>
    <p:extLst>
      <p:ext uri="{BB962C8B-B14F-4D97-AF65-F5344CB8AC3E}">
        <p14:creationId xmlns:p14="http://schemas.microsoft.com/office/powerpoint/2010/main" val="1183669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7575</Words>
  <Application>Microsoft Macintosh PowerPoint</Application>
  <PresentationFormat>Widescreen</PresentationFormat>
  <Paragraphs>1301</Paragraphs>
  <Slides>78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3" baseType="lpstr">
      <vt:lpstr>Aptos</vt:lpstr>
      <vt:lpstr>Aptos Display</vt:lpstr>
      <vt:lpstr>Arial</vt:lpstr>
      <vt:lpstr>Consolas</vt:lpstr>
      <vt:lpstr>Office Theme</vt:lpstr>
      <vt:lpstr>Chapter 7: More Loops, and Reading Files</vt:lpstr>
      <vt:lpstr>Topics</vt:lpstr>
      <vt:lpstr>While-loops</vt:lpstr>
      <vt:lpstr>While-loops</vt:lpstr>
      <vt:lpstr>While-loops</vt:lpstr>
      <vt:lpstr>While-loops</vt:lpstr>
      <vt:lpstr>While-loops</vt:lpstr>
      <vt:lpstr>While-loops</vt:lpstr>
      <vt:lpstr>While-loops</vt:lpstr>
      <vt:lpstr>While-loops</vt:lpstr>
      <vt:lpstr>While-loops</vt:lpstr>
      <vt:lpstr>While-loops</vt:lpstr>
      <vt:lpstr>While-loops</vt:lpstr>
      <vt:lpstr>While-loops</vt:lpstr>
      <vt:lpstr>While-loops</vt:lpstr>
      <vt:lpstr>While-loops</vt:lpstr>
      <vt:lpstr>While-loops</vt:lpstr>
      <vt:lpstr>While-loops</vt:lpstr>
      <vt:lpstr>While-loops</vt:lpstr>
      <vt:lpstr>While-loops</vt:lpstr>
      <vt:lpstr>While-loops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Looping Over Strings</vt:lpstr>
      <vt:lpstr>Reading Text Files</vt:lpstr>
      <vt:lpstr>Reading Text Files</vt:lpstr>
      <vt:lpstr>Reading Text Files</vt:lpstr>
      <vt:lpstr>Reading Text Files</vt:lpstr>
      <vt:lpstr>Reading Text Files</vt:lpstr>
      <vt:lpstr>Reading Text Files</vt:lpstr>
      <vt:lpstr>Reading Text Files</vt:lpstr>
      <vt:lpstr>Reading Text Files</vt:lpstr>
      <vt:lpstr>Reading Text Files</vt:lpstr>
      <vt:lpstr>Reading Text Files</vt:lpstr>
      <vt:lpstr>Reading Text Files</vt:lpstr>
      <vt:lpstr>Reading Text Files</vt:lpstr>
      <vt:lpstr>Reading Text Files</vt:lpstr>
      <vt:lpstr>Reading a word list</vt:lpstr>
      <vt:lpstr>Reading a word list</vt:lpstr>
      <vt:lpstr>Reading a word list</vt:lpstr>
      <vt:lpstr>Reading a word list</vt:lpstr>
      <vt:lpstr>Reading a word list</vt:lpstr>
      <vt:lpstr>Reading a word list</vt:lpstr>
      <vt:lpstr>Reading a word list</vt:lpstr>
      <vt:lpstr>Reading a word list</vt:lpstr>
      <vt:lpstr>Reading a word list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2</cp:revision>
  <cp:lastPrinted>2024-10-16T20:08:28Z</cp:lastPrinted>
  <dcterms:created xsi:type="dcterms:W3CDTF">2024-09-15T21:36:40Z</dcterms:created>
  <dcterms:modified xsi:type="dcterms:W3CDTF">2026-02-16T07:52:07Z</dcterms:modified>
</cp:coreProperties>
</file>